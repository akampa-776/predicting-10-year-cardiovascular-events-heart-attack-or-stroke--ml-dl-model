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0"/>
  </p:notesMasterIdLst>
  <p:sldIdLst>
    <p:sldId id="278" r:id="rId3"/>
    <p:sldId id="256" r:id="rId4"/>
    <p:sldId id="274" r:id="rId5"/>
    <p:sldId id="257" r:id="rId6"/>
    <p:sldId id="258" r:id="rId7"/>
    <p:sldId id="271" r:id="rId8"/>
    <p:sldId id="260" r:id="rId9"/>
    <p:sldId id="272" r:id="rId10"/>
    <p:sldId id="273" r:id="rId11"/>
    <p:sldId id="277" r:id="rId12"/>
    <p:sldId id="268" r:id="rId13"/>
    <p:sldId id="275" r:id="rId14"/>
    <p:sldId id="279" r:id="rId15"/>
    <p:sldId id="276" r:id="rId16"/>
    <p:sldId id="280" r:id="rId17"/>
    <p:sldId id="281" r:id="rId18"/>
    <p:sldId id="259"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D58D23-56E9-4E0E-837F-A16C460C428A}" v="403" dt="2025-11-27T14:00:02.971"/>
  </p1510:revLst>
</p1510:revInfo>
</file>

<file path=ppt/tableStyles.xml><?xml version="1.0" encoding="utf-8"?>
<a:tblStyleLst xmlns:a="http://schemas.openxmlformats.org/drawingml/2006/main" def="{5C22544A-7EE6-4342-B048-85BDC9FD1C3A}">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89150" autoAdjust="0"/>
  </p:normalViewPr>
  <p:slideViewPr>
    <p:cSldViewPr snapToGrid="0" snapToObjects="1">
      <p:cViewPr varScale="1">
        <p:scale>
          <a:sx n="54" d="100"/>
          <a:sy n="54" d="100"/>
        </p:scale>
        <p:origin x="174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F400BD-8112-44CB-B171-B8ABF36AEA18}" type="doc">
      <dgm:prSet loTypeId="urn:microsoft.com/office/officeart/2005/8/layout/cycle8" loCatId="cycle" qsTypeId="urn:microsoft.com/office/officeart/2005/8/quickstyle/simple1" qsCatId="simple" csTypeId="urn:microsoft.com/office/officeart/2005/8/colors/colorful2" csCatId="colorful" phldr="1"/>
      <dgm:spPr/>
      <dgm:t>
        <a:bodyPr/>
        <a:lstStyle/>
        <a:p>
          <a:endParaRPr lang="en-UG"/>
        </a:p>
      </dgm:t>
    </dgm:pt>
    <dgm:pt modelId="{15A11893-07C2-476A-803E-346D04358236}">
      <dgm:prSet phldrT="[Text]" custT="1"/>
      <dgm:spPr/>
      <dgm:t>
        <a:bodyPr/>
        <a:lstStyle/>
        <a:p>
          <a:pPr algn="ctr">
            <a:buNone/>
          </a:pPr>
          <a:r>
            <a:rPr lang="en-US" sz="1400" b="1" dirty="0">
              <a:solidFill>
                <a:schemeClr val="tx1">
                  <a:lumMod val="95000"/>
                  <a:lumOff val="5000"/>
                </a:schemeClr>
              </a:solidFill>
            </a:rPr>
            <a:t>A. Exploratory Data Analysis (EDA)</a:t>
          </a:r>
          <a:endParaRPr lang="en-UG" sz="1400" b="1" dirty="0">
            <a:solidFill>
              <a:schemeClr val="tx1">
                <a:lumMod val="95000"/>
                <a:lumOff val="5000"/>
              </a:schemeClr>
            </a:solidFill>
          </a:endParaRPr>
        </a:p>
      </dgm:t>
    </dgm:pt>
    <dgm:pt modelId="{B3802ACB-B7DF-4A09-9069-8A8EFC7E3F14}" type="parTrans" cxnId="{3649ED8E-8F0C-4B78-87A0-C0AF022763B9}">
      <dgm:prSet/>
      <dgm:spPr/>
      <dgm:t>
        <a:bodyPr/>
        <a:lstStyle/>
        <a:p>
          <a:endParaRPr lang="en-UG"/>
        </a:p>
      </dgm:t>
    </dgm:pt>
    <dgm:pt modelId="{35649D3C-C01C-4D0E-A128-F6512C4543B6}" type="sibTrans" cxnId="{3649ED8E-8F0C-4B78-87A0-C0AF022763B9}">
      <dgm:prSet/>
      <dgm:spPr/>
      <dgm:t>
        <a:bodyPr/>
        <a:lstStyle/>
        <a:p>
          <a:endParaRPr lang="en-UG"/>
        </a:p>
      </dgm:t>
    </dgm:pt>
    <dgm:pt modelId="{4295EA9C-7E72-4905-8C4D-30FC35260D9B}">
      <dgm:prSet phldrT="[Text]" custT="1"/>
      <dgm:spPr/>
      <dgm:t>
        <a:bodyPr/>
        <a:lstStyle/>
        <a:p>
          <a:pPr algn="ctr">
            <a:buNone/>
          </a:pPr>
          <a:r>
            <a:rPr lang="en-US" sz="1400" b="1" dirty="0">
              <a:solidFill>
                <a:schemeClr val="tx1">
                  <a:lumMod val="95000"/>
                  <a:lumOff val="5000"/>
                </a:schemeClr>
              </a:solidFill>
            </a:rPr>
            <a:t>B. Classical Machine Learning</a:t>
          </a:r>
          <a:endParaRPr lang="en-UG" sz="1400" b="1" dirty="0">
            <a:solidFill>
              <a:schemeClr val="tx1">
                <a:lumMod val="95000"/>
                <a:lumOff val="5000"/>
              </a:schemeClr>
            </a:solidFill>
          </a:endParaRPr>
        </a:p>
      </dgm:t>
    </dgm:pt>
    <dgm:pt modelId="{52A4DE5E-724D-4FE9-AD9B-8730F0990617}" type="parTrans" cxnId="{DDC0DC20-0F40-4EA6-ABCF-A0A5CC8C058A}">
      <dgm:prSet/>
      <dgm:spPr/>
      <dgm:t>
        <a:bodyPr/>
        <a:lstStyle/>
        <a:p>
          <a:endParaRPr lang="en-UG"/>
        </a:p>
      </dgm:t>
    </dgm:pt>
    <dgm:pt modelId="{0C872AFA-FADF-4B7B-98F2-48C31EE4AD13}" type="sibTrans" cxnId="{DDC0DC20-0F40-4EA6-ABCF-A0A5CC8C058A}">
      <dgm:prSet/>
      <dgm:spPr/>
      <dgm:t>
        <a:bodyPr/>
        <a:lstStyle/>
        <a:p>
          <a:endParaRPr lang="en-UG"/>
        </a:p>
      </dgm:t>
    </dgm:pt>
    <dgm:pt modelId="{C22FA823-8DF4-4310-9006-D58893FC6F55}">
      <dgm:prSet phldrT="[Text]" custT="1"/>
      <dgm:spPr/>
      <dgm:t>
        <a:bodyPr/>
        <a:lstStyle/>
        <a:p>
          <a:pPr algn="ctr">
            <a:buNone/>
          </a:pPr>
          <a:r>
            <a:rPr lang="en-US" sz="1400" b="1" dirty="0">
              <a:solidFill>
                <a:schemeClr val="tx1">
                  <a:lumMod val="95000"/>
                  <a:lumOff val="5000"/>
                </a:schemeClr>
              </a:solidFill>
            </a:rPr>
            <a:t>C. Deep Learning Approach</a:t>
          </a:r>
          <a:endParaRPr lang="en-UG" sz="1400" b="1" dirty="0">
            <a:solidFill>
              <a:schemeClr val="tx1">
                <a:lumMod val="95000"/>
                <a:lumOff val="5000"/>
              </a:schemeClr>
            </a:solidFill>
          </a:endParaRPr>
        </a:p>
      </dgm:t>
    </dgm:pt>
    <dgm:pt modelId="{2A66DD27-BAD2-4A25-8FAA-54749EF1B3F5}" type="parTrans" cxnId="{A90B074F-D055-4375-9BAB-0BF42B678A98}">
      <dgm:prSet/>
      <dgm:spPr/>
      <dgm:t>
        <a:bodyPr/>
        <a:lstStyle/>
        <a:p>
          <a:endParaRPr lang="en-UG"/>
        </a:p>
      </dgm:t>
    </dgm:pt>
    <dgm:pt modelId="{C5B1BB2D-F0A3-49CC-8D5A-81BC69DCEFE7}" type="sibTrans" cxnId="{A90B074F-D055-4375-9BAB-0BF42B678A98}">
      <dgm:prSet/>
      <dgm:spPr/>
      <dgm:t>
        <a:bodyPr/>
        <a:lstStyle/>
        <a:p>
          <a:endParaRPr lang="en-UG"/>
        </a:p>
      </dgm:t>
    </dgm:pt>
    <dgm:pt modelId="{13AC5608-EE9D-4993-8BFF-1922DBF95718}">
      <dgm:prSet phldrT="[Text]" custT="1"/>
      <dgm:spPr/>
      <dgm:t>
        <a:bodyPr/>
        <a:lstStyle/>
        <a:p>
          <a:pPr algn="ctr">
            <a:buNone/>
          </a:pPr>
          <a:r>
            <a:rPr lang="en-US" sz="1400" b="1" dirty="0">
              <a:solidFill>
                <a:schemeClr val="tx1">
                  <a:lumMod val="95000"/>
                  <a:lumOff val="5000"/>
                </a:schemeClr>
              </a:solidFill>
            </a:rPr>
            <a:t>D. Model Deployment</a:t>
          </a:r>
          <a:endParaRPr lang="en-UG" sz="1400" b="1" dirty="0">
            <a:solidFill>
              <a:schemeClr val="tx1">
                <a:lumMod val="95000"/>
                <a:lumOff val="5000"/>
              </a:schemeClr>
            </a:solidFill>
          </a:endParaRPr>
        </a:p>
      </dgm:t>
    </dgm:pt>
    <dgm:pt modelId="{714F6705-40E5-4EE6-BC9E-F4F0D3B0A790}" type="parTrans" cxnId="{A8FF47FA-8C1A-4800-A91A-E84B0C805D81}">
      <dgm:prSet/>
      <dgm:spPr/>
      <dgm:t>
        <a:bodyPr/>
        <a:lstStyle/>
        <a:p>
          <a:endParaRPr lang="en-UG"/>
        </a:p>
      </dgm:t>
    </dgm:pt>
    <dgm:pt modelId="{2ACCEADC-1D00-4610-94EB-BEB06146A698}" type="sibTrans" cxnId="{A8FF47FA-8C1A-4800-A91A-E84B0C805D81}">
      <dgm:prSet/>
      <dgm:spPr/>
      <dgm:t>
        <a:bodyPr/>
        <a:lstStyle/>
        <a:p>
          <a:endParaRPr lang="en-UG"/>
        </a:p>
      </dgm:t>
    </dgm:pt>
    <dgm:pt modelId="{CA87FB92-99EE-473A-A2C6-F983B934A89B}">
      <dgm:prSet phldrT="[Text]" custT="1"/>
      <dgm:spPr/>
      <dgm:t>
        <a:bodyPr/>
        <a:lstStyle/>
        <a:p>
          <a:pPr algn="ctr">
            <a:buNone/>
          </a:pPr>
          <a:r>
            <a:rPr lang="en-US" sz="1400" b="1" dirty="0">
              <a:solidFill>
                <a:schemeClr val="tx1">
                  <a:lumMod val="95000"/>
                  <a:lumOff val="5000"/>
                </a:schemeClr>
              </a:solidFill>
            </a:rPr>
            <a:t>E. Conclusions &amp; Recommendations</a:t>
          </a:r>
          <a:endParaRPr lang="en-UG" sz="1400" b="1" dirty="0">
            <a:solidFill>
              <a:schemeClr val="tx1">
                <a:lumMod val="95000"/>
                <a:lumOff val="5000"/>
              </a:schemeClr>
            </a:solidFill>
          </a:endParaRPr>
        </a:p>
      </dgm:t>
    </dgm:pt>
    <dgm:pt modelId="{5E2F86CD-259D-4E20-89B3-FB1A91BED362}" type="parTrans" cxnId="{B8EFBF24-C7D3-43A8-8B54-9FCFBF5B1A4C}">
      <dgm:prSet/>
      <dgm:spPr/>
      <dgm:t>
        <a:bodyPr/>
        <a:lstStyle/>
        <a:p>
          <a:endParaRPr lang="en-UG"/>
        </a:p>
      </dgm:t>
    </dgm:pt>
    <dgm:pt modelId="{63B9DAB0-52DC-4018-A623-D6B1667CF877}" type="sibTrans" cxnId="{B8EFBF24-C7D3-43A8-8B54-9FCFBF5B1A4C}">
      <dgm:prSet/>
      <dgm:spPr/>
      <dgm:t>
        <a:bodyPr/>
        <a:lstStyle/>
        <a:p>
          <a:endParaRPr lang="en-UG"/>
        </a:p>
      </dgm:t>
    </dgm:pt>
    <dgm:pt modelId="{198C8963-6776-4B27-ABC2-C2A34577E82E}" type="pres">
      <dgm:prSet presAssocID="{0DF400BD-8112-44CB-B171-B8ABF36AEA18}" presName="compositeShape" presStyleCnt="0">
        <dgm:presLayoutVars>
          <dgm:chMax val="7"/>
          <dgm:dir/>
          <dgm:resizeHandles val="exact"/>
        </dgm:presLayoutVars>
      </dgm:prSet>
      <dgm:spPr/>
    </dgm:pt>
    <dgm:pt modelId="{01F87424-61A9-4A09-BDC5-7E24368DCC69}" type="pres">
      <dgm:prSet presAssocID="{0DF400BD-8112-44CB-B171-B8ABF36AEA18}" presName="wedge1" presStyleLbl="node1" presStyleIdx="0" presStyleCnt="5"/>
      <dgm:spPr/>
    </dgm:pt>
    <dgm:pt modelId="{883EA7DA-5EB3-45D5-BC9D-C0FC74520F6A}" type="pres">
      <dgm:prSet presAssocID="{0DF400BD-8112-44CB-B171-B8ABF36AEA18}" presName="dummy1a" presStyleCnt="0"/>
      <dgm:spPr/>
    </dgm:pt>
    <dgm:pt modelId="{85FC9625-B3C2-4E73-B770-608178608A11}" type="pres">
      <dgm:prSet presAssocID="{0DF400BD-8112-44CB-B171-B8ABF36AEA18}" presName="dummy1b" presStyleCnt="0"/>
      <dgm:spPr/>
    </dgm:pt>
    <dgm:pt modelId="{A86BA007-77C2-49BD-AD9A-638E90CA1D2D}" type="pres">
      <dgm:prSet presAssocID="{0DF400BD-8112-44CB-B171-B8ABF36AEA18}" presName="wedge1Tx" presStyleLbl="node1" presStyleIdx="0" presStyleCnt="5">
        <dgm:presLayoutVars>
          <dgm:chMax val="0"/>
          <dgm:chPref val="0"/>
          <dgm:bulletEnabled val="1"/>
        </dgm:presLayoutVars>
      </dgm:prSet>
      <dgm:spPr/>
    </dgm:pt>
    <dgm:pt modelId="{6983FBDE-F7DB-4C18-A282-EC7EB674F74C}" type="pres">
      <dgm:prSet presAssocID="{0DF400BD-8112-44CB-B171-B8ABF36AEA18}" presName="wedge2" presStyleLbl="node1" presStyleIdx="1" presStyleCnt="5"/>
      <dgm:spPr/>
    </dgm:pt>
    <dgm:pt modelId="{157AAAF4-28FE-45C7-B601-57FFDF512F54}" type="pres">
      <dgm:prSet presAssocID="{0DF400BD-8112-44CB-B171-B8ABF36AEA18}" presName="dummy2a" presStyleCnt="0"/>
      <dgm:spPr/>
    </dgm:pt>
    <dgm:pt modelId="{6FF409D5-CD42-42A9-A269-635741E35A30}" type="pres">
      <dgm:prSet presAssocID="{0DF400BD-8112-44CB-B171-B8ABF36AEA18}" presName="dummy2b" presStyleCnt="0"/>
      <dgm:spPr/>
    </dgm:pt>
    <dgm:pt modelId="{6149508E-C834-4C7E-90AE-4613B2B4F6CB}" type="pres">
      <dgm:prSet presAssocID="{0DF400BD-8112-44CB-B171-B8ABF36AEA18}" presName="wedge2Tx" presStyleLbl="node1" presStyleIdx="1" presStyleCnt="5">
        <dgm:presLayoutVars>
          <dgm:chMax val="0"/>
          <dgm:chPref val="0"/>
          <dgm:bulletEnabled val="1"/>
        </dgm:presLayoutVars>
      </dgm:prSet>
      <dgm:spPr/>
    </dgm:pt>
    <dgm:pt modelId="{C8C117BB-89EE-4EA1-8D32-B0BBABFA4B69}" type="pres">
      <dgm:prSet presAssocID="{0DF400BD-8112-44CB-B171-B8ABF36AEA18}" presName="wedge3" presStyleLbl="node1" presStyleIdx="2" presStyleCnt="5"/>
      <dgm:spPr/>
    </dgm:pt>
    <dgm:pt modelId="{0A845856-4FEC-4ABB-84A1-D733B6AEECFF}" type="pres">
      <dgm:prSet presAssocID="{0DF400BD-8112-44CB-B171-B8ABF36AEA18}" presName="dummy3a" presStyleCnt="0"/>
      <dgm:spPr/>
    </dgm:pt>
    <dgm:pt modelId="{612B2841-AE9D-4FB9-8721-6307E37828A7}" type="pres">
      <dgm:prSet presAssocID="{0DF400BD-8112-44CB-B171-B8ABF36AEA18}" presName="dummy3b" presStyleCnt="0"/>
      <dgm:spPr/>
    </dgm:pt>
    <dgm:pt modelId="{37F11C3A-C138-4516-9E33-F6EB1FC4E0EE}" type="pres">
      <dgm:prSet presAssocID="{0DF400BD-8112-44CB-B171-B8ABF36AEA18}" presName="wedge3Tx" presStyleLbl="node1" presStyleIdx="2" presStyleCnt="5">
        <dgm:presLayoutVars>
          <dgm:chMax val="0"/>
          <dgm:chPref val="0"/>
          <dgm:bulletEnabled val="1"/>
        </dgm:presLayoutVars>
      </dgm:prSet>
      <dgm:spPr/>
    </dgm:pt>
    <dgm:pt modelId="{A51D1BB4-0427-41DB-9D8B-E5DE9F1D20F7}" type="pres">
      <dgm:prSet presAssocID="{0DF400BD-8112-44CB-B171-B8ABF36AEA18}" presName="wedge4" presStyleLbl="node1" presStyleIdx="3" presStyleCnt="5"/>
      <dgm:spPr/>
    </dgm:pt>
    <dgm:pt modelId="{63E2D87C-C50F-4113-BF73-9780CD1A6CB7}" type="pres">
      <dgm:prSet presAssocID="{0DF400BD-8112-44CB-B171-B8ABF36AEA18}" presName="dummy4a" presStyleCnt="0"/>
      <dgm:spPr/>
    </dgm:pt>
    <dgm:pt modelId="{F33FF055-F50B-46AB-802D-142E95994A56}" type="pres">
      <dgm:prSet presAssocID="{0DF400BD-8112-44CB-B171-B8ABF36AEA18}" presName="dummy4b" presStyleCnt="0"/>
      <dgm:spPr/>
    </dgm:pt>
    <dgm:pt modelId="{299181AD-AC43-4E03-8A27-D9E5DA376BB3}" type="pres">
      <dgm:prSet presAssocID="{0DF400BD-8112-44CB-B171-B8ABF36AEA18}" presName="wedge4Tx" presStyleLbl="node1" presStyleIdx="3" presStyleCnt="5">
        <dgm:presLayoutVars>
          <dgm:chMax val="0"/>
          <dgm:chPref val="0"/>
          <dgm:bulletEnabled val="1"/>
        </dgm:presLayoutVars>
      </dgm:prSet>
      <dgm:spPr/>
    </dgm:pt>
    <dgm:pt modelId="{3AEEBE60-5884-4305-BDD8-11AE280D526B}" type="pres">
      <dgm:prSet presAssocID="{0DF400BD-8112-44CB-B171-B8ABF36AEA18}" presName="wedge5" presStyleLbl="node1" presStyleIdx="4" presStyleCnt="5"/>
      <dgm:spPr/>
    </dgm:pt>
    <dgm:pt modelId="{C81FF5C3-BC0E-4074-B933-15226083F21E}" type="pres">
      <dgm:prSet presAssocID="{0DF400BD-8112-44CB-B171-B8ABF36AEA18}" presName="dummy5a" presStyleCnt="0"/>
      <dgm:spPr/>
    </dgm:pt>
    <dgm:pt modelId="{17A2EF29-4D35-4734-B0DA-36656A1E0F89}" type="pres">
      <dgm:prSet presAssocID="{0DF400BD-8112-44CB-B171-B8ABF36AEA18}" presName="dummy5b" presStyleCnt="0"/>
      <dgm:spPr/>
    </dgm:pt>
    <dgm:pt modelId="{8FBCEE9B-6F23-4909-B9FD-4275C131F513}" type="pres">
      <dgm:prSet presAssocID="{0DF400BD-8112-44CB-B171-B8ABF36AEA18}" presName="wedge5Tx" presStyleLbl="node1" presStyleIdx="4" presStyleCnt="5">
        <dgm:presLayoutVars>
          <dgm:chMax val="0"/>
          <dgm:chPref val="0"/>
          <dgm:bulletEnabled val="1"/>
        </dgm:presLayoutVars>
      </dgm:prSet>
      <dgm:spPr/>
    </dgm:pt>
    <dgm:pt modelId="{49BC529F-B51A-4DB9-87AB-60AEBE43B56A}" type="pres">
      <dgm:prSet presAssocID="{35649D3C-C01C-4D0E-A128-F6512C4543B6}" presName="arrowWedge1" presStyleLbl="fgSibTrans2D1" presStyleIdx="0" presStyleCnt="5"/>
      <dgm:spPr/>
    </dgm:pt>
    <dgm:pt modelId="{07D53EBE-7559-4B94-9252-FF1095E290FB}" type="pres">
      <dgm:prSet presAssocID="{0C872AFA-FADF-4B7B-98F2-48C31EE4AD13}" presName="arrowWedge2" presStyleLbl="fgSibTrans2D1" presStyleIdx="1" presStyleCnt="5"/>
      <dgm:spPr/>
    </dgm:pt>
    <dgm:pt modelId="{B9A7D4B8-72C2-4BD1-BD6F-7F57C09A97A7}" type="pres">
      <dgm:prSet presAssocID="{C5B1BB2D-F0A3-49CC-8D5A-81BC69DCEFE7}" presName="arrowWedge3" presStyleLbl="fgSibTrans2D1" presStyleIdx="2" presStyleCnt="5"/>
      <dgm:spPr/>
    </dgm:pt>
    <dgm:pt modelId="{28CAEB7A-8F5C-419A-8DF7-30B74E0D70F4}" type="pres">
      <dgm:prSet presAssocID="{2ACCEADC-1D00-4610-94EB-BEB06146A698}" presName="arrowWedge4" presStyleLbl="fgSibTrans2D1" presStyleIdx="3" presStyleCnt="5"/>
      <dgm:spPr/>
    </dgm:pt>
    <dgm:pt modelId="{EFA46614-A426-4DB3-8CF8-90215F9A3C44}" type="pres">
      <dgm:prSet presAssocID="{63B9DAB0-52DC-4018-A623-D6B1667CF877}" presName="arrowWedge5" presStyleLbl="fgSibTrans2D1" presStyleIdx="4" presStyleCnt="5"/>
      <dgm:spPr/>
    </dgm:pt>
  </dgm:ptLst>
  <dgm:cxnLst>
    <dgm:cxn modelId="{408C7C04-16EB-412E-8F70-5FF84DF092F4}" type="presOf" srcId="{13AC5608-EE9D-4993-8BFF-1922DBF95718}" destId="{A51D1BB4-0427-41DB-9D8B-E5DE9F1D20F7}" srcOrd="0" destOrd="0" presId="urn:microsoft.com/office/officeart/2005/8/layout/cycle8"/>
    <dgm:cxn modelId="{7D3C4E19-9A12-432B-A193-9633A7A9880C}" type="presOf" srcId="{15A11893-07C2-476A-803E-346D04358236}" destId="{A86BA007-77C2-49BD-AD9A-638E90CA1D2D}" srcOrd="1" destOrd="0" presId="urn:microsoft.com/office/officeart/2005/8/layout/cycle8"/>
    <dgm:cxn modelId="{DDC0DC20-0F40-4EA6-ABCF-A0A5CC8C058A}" srcId="{0DF400BD-8112-44CB-B171-B8ABF36AEA18}" destId="{4295EA9C-7E72-4905-8C4D-30FC35260D9B}" srcOrd="1" destOrd="0" parTransId="{52A4DE5E-724D-4FE9-AD9B-8730F0990617}" sibTransId="{0C872AFA-FADF-4B7B-98F2-48C31EE4AD13}"/>
    <dgm:cxn modelId="{B8EFBF24-C7D3-43A8-8B54-9FCFBF5B1A4C}" srcId="{0DF400BD-8112-44CB-B171-B8ABF36AEA18}" destId="{CA87FB92-99EE-473A-A2C6-F983B934A89B}" srcOrd="4" destOrd="0" parTransId="{5E2F86CD-259D-4E20-89B3-FB1A91BED362}" sibTransId="{63B9DAB0-52DC-4018-A623-D6B1667CF877}"/>
    <dgm:cxn modelId="{78F8832A-A780-4A4D-8CDF-146C9E37700E}" type="presOf" srcId="{4295EA9C-7E72-4905-8C4D-30FC35260D9B}" destId="{6149508E-C834-4C7E-90AE-4613B2B4F6CB}" srcOrd="1" destOrd="0" presId="urn:microsoft.com/office/officeart/2005/8/layout/cycle8"/>
    <dgm:cxn modelId="{E5BF1964-35D7-4265-99D5-D7A8EE8BFC31}" type="presOf" srcId="{0DF400BD-8112-44CB-B171-B8ABF36AEA18}" destId="{198C8963-6776-4B27-ABC2-C2A34577E82E}" srcOrd="0" destOrd="0" presId="urn:microsoft.com/office/officeart/2005/8/layout/cycle8"/>
    <dgm:cxn modelId="{3FF9296C-A016-4DE6-A484-00C3F00A7CE0}" type="presOf" srcId="{13AC5608-EE9D-4993-8BFF-1922DBF95718}" destId="{299181AD-AC43-4E03-8A27-D9E5DA376BB3}" srcOrd="1" destOrd="0" presId="urn:microsoft.com/office/officeart/2005/8/layout/cycle8"/>
    <dgm:cxn modelId="{A90B074F-D055-4375-9BAB-0BF42B678A98}" srcId="{0DF400BD-8112-44CB-B171-B8ABF36AEA18}" destId="{C22FA823-8DF4-4310-9006-D58893FC6F55}" srcOrd="2" destOrd="0" parTransId="{2A66DD27-BAD2-4A25-8FAA-54749EF1B3F5}" sibTransId="{C5B1BB2D-F0A3-49CC-8D5A-81BC69DCEFE7}"/>
    <dgm:cxn modelId="{85B8F050-E002-42E7-B66F-5BC0C2617FD1}" type="presOf" srcId="{4295EA9C-7E72-4905-8C4D-30FC35260D9B}" destId="{6983FBDE-F7DB-4C18-A282-EC7EB674F74C}" srcOrd="0" destOrd="0" presId="urn:microsoft.com/office/officeart/2005/8/layout/cycle8"/>
    <dgm:cxn modelId="{03827079-C755-4582-A7A3-86B708795C09}" type="presOf" srcId="{CA87FB92-99EE-473A-A2C6-F983B934A89B}" destId="{3AEEBE60-5884-4305-BDD8-11AE280D526B}" srcOrd="0" destOrd="0" presId="urn:microsoft.com/office/officeart/2005/8/layout/cycle8"/>
    <dgm:cxn modelId="{B7648785-E708-47F0-87B9-D0C1F668F5B4}" type="presOf" srcId="{15A11893-07C2-476A-803E-346D04358236}" destId="{01F87424-61A9-4A09-BDC5-7E24368DCC69}" srcOrd="0" destOrd="0" presId="urn:microsoft.com/office/officeart/2005/8/layout/cycle8"/>
    <dgm:cxn modelId="{3649ED8E-8F0C-4B78-87A0-C0AF022763B9}" srcId="{0DF400BD-8112-44CB-B171-B8ABF36AEA18}" destId="{15A11893-07C2-476A-803E-346D04358236}" srcOrd="0" destOrd="0" parTransId="{B3802ACB-B7DF-4A09-9069-8A8EFC7E3F14}" sibTransId="{35649D3C-C01C-4D0E-A128-F6512C4543B6}"/>
    <dgm:cxn modelId="{7A3078B1-0D42-43CB-A572-A8614A6844B9}" type="presOf" srcId="{CA87FB92-99EE-473A-A2C6-F983B934A89B}" destId="{8FBCEE9B-6F23-4909-B9FD-4275C131F513}" srcOrd="1" destOrd="0" presId="urn:microsoft.com/office/officeart/2005/8/layout/cycle8"/>
    <dgm:cxn modelId="{F8EC95D7-3518-4D2A-B1BA-66F0B0E82849}" type="presOf" srcId="{C22FA823-8DF4-4310-9006-D58893FC6F55}" destId="{C8C117BB-89EE-4EA1-8D32-B0BBABFA4B69}" srcOrd="0" destOrd="0" presId="urn:microsoft.com/office/officeart/2005/8/layout/cycle8"/>
    <dgm:cxn modelId="{59A0BBD9-3764-4C83-8799-3A26E647DD68}" type="presOf" srcId="{C22FA823-8DF4-4310-9006-D58893FC6F55}" destId="{37F11C3A-C138-4516-9E33-F6EB1FC4E0EE}" srcOrd="1" destOrd="0" presId="urn:microsoft.com/office/officeart/2005/8/layout/cycle8"/>
    <dgm:cxn modelId="{A8FF47FA-8C1A-4800-A91A-E84B0C805D81}" srcId="{0DF400BD-8112-44CB-B171-B8ABF36AEA18}" destId="{13AC5608-EE9D-4993-8BFF-1922DBF95718}" srcOrd="3" destOrd="0" parTransId="{714F6705-40E5-4EE6-BC9E-F4F0D3B0A790}" sibTransId="{2ACCEADC-1D00-4610-94EB-BEB06146A698}"/>
    <dgm:cxn modelId="{377FC382-82F9-444A-8B18-0C5785611056}" type="presParOf" srcId="{198C8963-6776-4B27-ABC2-C2A34577E82E}" destId="{01F87424-61A9-4A09-BDC5-7E24368DCC69}" srcOrd="0" destOrd="0" presId="urn:microsoft.com/office/officeart/2005/8/layout/cycle8"/>
    <dgm:cxn modelId="{EE45BCA4-30E1-4922-B48A-E98E3DAB295D}" type="presParOf" srcId="{198C8963-6776-4B27-ABC2-C2A34577E82E}" destId="{883EA7DA-5EB3-45D5-BC9D-C0FC74520F6A}" srcOrd="1" destOrd="0" presId="urn:microsoft.com/office/officeart/2005/8/layout/cycle8"/>
    <dgm:cxn modelId="{2B812B69-9FEF-4B22-B2D6-3B6AF7FB64EC}" type="presParOf" srcId="{198C8963-6776-4B27-ABC2-C2A34577E82E}" destId="{85FC9625-B3C2-4E73-B770-608178608A11}" srcOrd="2" destOrd="0" presId="urn:microsoft.com/office/officeart/2005/8/layout/cycle8"/>
    <dgm:cxn modelId="{1C4E28F4-C6BB-4071-BE2C-ADBE2A7D4F80}" type="presParOf" srcId="{198C8963-6776-4B27-ABC2-C2A34577E82E}" destId="{A86BA007-77C2-49BD-AD9A-638E90CA1D2D}" srcOrd="3" destOrd="0" presId="urn:microsoft.com/office/officeart/2005/8/layout/cycle8"/>
    <dgm:cxn modelId="{11459D01-C1EE-4230-AF69-E40D58D4A976}" type="presParOf" srcId="{198C8963-6776-4B27-ABC2-C2A34577E82E}" destId="{6983FBDE-F7DB-4C18-A282-EC7EB674F74C}" srcOrd="4" destOrd="0" presId="urn:microsoft.com/office/officeart/2005/8/layout/cycle8"/>
    <dgm:cxn modelId="{46E1F3A8-E93E-48AC-B60F-86F257C626AE}" type="presParOf" srcId="{198C8963-6776-4B27-ABC2-C2A34577E82E}" destId="{157AAAF4-28FE-45C7-B601-57FFDF512F54}" srcOrd="5" destOrd="0" presId="urn:microsoft.com/office/officeart/2005/8/layout/cycle8"/>
    <dgm:cxn modelId="{85BAF93A-CF4D-4509-9761-CA0AA1E881DA}" type="presParOf" srcId="{198C8963-6776-4B27-ABC2-C2A34577E82E}" destId="{6FF409D5-CD42-42A9-A269-635741E35A30}" srcOrd="6" destOrd="0" presId="urn:microsoft.com/office/officeart/2005/8/layout/cycle8"/>
    <dgm:cxn modelId="{A477F28B-B02A-47ED-914D-9329E6C995BF}" type="presParOf" srcId="{198C8963-6776-4B27-ABC2-C2A34577E82E}" destId="{6149508E-C834-4C7E-90AE-4613B2B4F6CB}" srcOrd="7" destOrd="0" presId="urn:microsoft.com/office/officeart/2005/8/layout/cycle8"/>
    <dgm:cxn modelId="{27406C07-7C7A-4FA0-A3F7-010AC262D1D6}" type="presParOf" srcId="{198C8963-6776-4B27-ABC2-C2A34577E82E}" destId="{C8C117BB-89EE-4EA1-8D32-B0BBABFA4B69}" srcOrd="8" destOrd="0" presId="urn:microsoft.com/office/officeart/2005/8/layout/cycle8"/>
    <dgm:cxn modelId="{2BE1B75B-ECCD-477A-A8E0-D21448AE11F0}" type="presParOf" srcId="{198C8963-6776-4B27-ABC2-C2A34577E82E}" destId="{0A845856-4FEC-4ABB-84A1-D733B6AEECFF}" srcOrd="9" destOrd="0" presId="urn:microsoft.com/office/officeart/2005/8/layout/cycle8"/>
    <dgm:cxn modelId="{C04D724B-E80F-4BFB-9133-5A935C756280}" type="presParOf" srcId="{198C8963-6776-4B27-ABC2-C2A34577E82E}" destId="{612B2841-AE9D-4FB9-8721-6307E37828A7}" srcOrd="10" destOrd="0" presId="urn:microsoft.com/office/officeart/2005/8/layout/cycle8"/>
    <dgm:cxn modelId="{F77D62AE-5FBC-4220-BA48-2C0936B5D94B}" type="presParOf" srcId="{198C8963-6776-4B27-ABC2-C2A34577E82E}" destId="{37F11C3A-C138-4516-9E33-F6EB1FC4E0EE}" srcOrd="11" destOrd="0" presId="urn:microsoft.com/office/officeart/2005/8/layout/cycle8"/>
    <dgm:cxn modelId="{9E020037-B880-40BC-AD0C-E14D0CCE26CD}" type="presParOf" srcId="{198C8963-6776-4B27-ABC2-C2A34577E82E}" destId="{A51D1BB4-0427-41DB-9D8B-E5DE9F1D20F7}" srcOrd="12" destOrd="0" presId="urn:microsoft.com/office/officeart/2005/8/layout/cycle8"/>
    <dgm:cxn modelId="{FDFDCBB0-9532-4495-8509-5B430C6692EB}" type="presParOf" srcId="{198C8963-6776-4B27-ABC2-C2A34577E82E}" destId="{63E2D87C-C50F-4113-BF73-9780CD1A6CB7}" srcOrd="13" destOrd="0" presId="urn:microsoft.com/office/officeart/2005/8/layout/cycle8"/>
    <dgm:cxn modelId="{15044B94-6473-44DA-95C4-DAC347CC54C3}" type="presParOf" srcId="{198C8963-6776-4B27-ABC2-C2A34577E82E}" destId="{F33FF055-F50B-46AB-802D-142E95994A56}" srcOrd="14" destOrd="0" presId="urn:microsoft.com/office/officeart/2005/8/layout/cycle8"/>
    <dgm:cxn modelId="{F995B20C-BCED-4918-B14A-308C2459A75C}" type="presParOf" srcId="{198C8963-6776-4B27-ABC2-C2A34577E82E}" destId="{299181AD-AC43-4E03-8A27-D9E5DA376BB3}" srcOrd="15" destOrd="0" presId="urn:microsoft.com/office/officeart/2005/8/layout/cycle8"/>
    <dgm:cxn modelId="{3584F67B-8611-4F0C-B984-7253845E90C0}" type="presParOf" srcId="{198C8963-6776-4B27-ABC2-C2A34577E82E}" destId="{3AEEBE60-5884-4305-BDD8-11AE280D526B}" srcOrd="16" destOrd="0" presId="urn:microsoft.com/office/officeart/2005/8/layout/cycle8"/>
    <dgm:cxn modelId="{A422777C-B856-4A05-84E7-0880540F4EA7}" type="presParOf" srcId="{198C8963-6776-4B27-ABC2-C2A34577E82E}" destId="{C81FF5C3-BC0E-4074-B933-15226083F21E}" srcOrd="17" destOrd="0" presId="urn:microsoft.com/office/officeart/2005/8/layout/cycle8"/>
    <dgm:cxn modelId="{1C1613BD-A588-405E-BA8A-D2DD8E298E11}" type="presParOf" srcId="{198C8963-6776-4B27-ABC2-C2A34577E82E}" destId="{17A2EF29-4D35-4734-B0DA-36656A1E0F89}" srcOrd="18" destOrd="0" presId="urn:microsoft.com/office/officeart/2005/8/layout/cycle8"/>
    <dgm:cxn modelId="{180C1FD6-C84D-419F-B4DE-079B158A5F50}" type="presParOf" srcId="{198C8963-6776-4B27-ABC2-C2A34577E82E}" destId="{8FBCEE9B-6F23-4909-B9FD-4275C131F513}" srcOrd="19" destOrd="0" presId="urn:microsoft.com/office/officeart/2005/8/layout/cycle8"/>
    <dgm:cxn modelId="{C6AF4AA8-6E90-472F-B29D-2DEC5AB11941}" type="presParOf" srcId="{198C8963-6776-4B27-ABC2-C2A34577E82E}" destId="{49BC529F-B51A-4DB9-87AB-60AEBE43B56A}" srcOrd="20" destOrd="0" presId="urn:microsoft.com/office/officeart/2005/8/layout/cycle8"/>
    <dgm:cxn modelId="{64486C16-8529-44A7-8CAD-28D8B03472AD}" type="presParOf" srcId="{198C8963-6776-4B27-ABC2-C2A34577E82E}" destId="{07D53EBE-7559-4B94-9252-FF1095E290FB}" srcOrd="21" destOrd="0" presId="urn:microsoft.com/office/officeart/2005/8/layout/cycle8"/>
    <dgm:cxn modelId="{713A80CA-E245-43BB-A2A8-869DF4D4AE16}" type="presParOf" srcId="{198C8963-6776-4B27-ABC2-C2A34577E82E}" destId="{B9A7D4B8-72C2-4BD1-BD6F-7F57C09A97A7}" srcOrd="22" destOrd="0" presId="urn:microsoft.com/office/officeart/2005/8/layout/cycle8"/>
    <dgm:cxn modelId="{3683913D-17BE-449F-B612-7B78C4BFF967}" type="presParOf" srcId="{198C8963-6776-4B27-ABC2-C2A34577E82E}" destId="{28CAEB7A-8F5C-419A-8DF7-30B74E0D70F4}" srcOrd="23" destOrd="0" presId="urn:microsoft.com/office/officeart/2005/8/layout/cycle8"/>
    <dgm:cxn modelId="{61E5A105-2306-40D9-9B00-6F384FB7E36F}" type="presParOf" srcId="{198C8963-6776-4B27-ABC2-C2A34577E82E}" destId="{EFA46614-A426-4DB3-8CF8-90215F9A3C44}" srcOrd="24"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F87424-61A9-4A09-BDC5-7E24368DCC69}">
      <dsp:nvSpPr>
        <dsp:cNvPr id="0" name=""/>
        <dsp:cNvSpPr/>
      </dsp:nvSpPr>
      <dsp:spPr>
        <a:xfrm>
          <a:off x="2488252" y="273489"/>
          <a:ext cx="3711326" cy="3711326"/>
        </a:xfrm>
        <a:prstGeom prst="pie">
          <a:avLst>
            <a:gd name="adj1" fmla="val 16200000"/>
            <a:gd name="adj2" fmla="val 2052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tx1">
                  <a:lumMod val="95000"/>
                  <a:lumOff val="5000"/>
                </a:schemeClr>
              </a:solidFill>
            </a:rPr>
            <a:t>A. Exploratory Data Analysis (EDA)</a:t>
          </a:r>
          <a:endParaRPr lang="en-UG" sz="1400" b="1" kern="1200" dirty="0">
            <a:solidFill>
              <a:schemeClr val="tx1">
                <a:lumMod val="95000"/>
                <a:lumOff val="5000"/>
              </a:schemeClr>
            </a:solidFill>
          </a:endParaRPr>
        </a:p>
      </dsp:txBody>
      <dsp:txXfrm>
        <a:off x="4424327" y="897345"/>
        <a:ext cx="1192926" cy="795284"/>
      </dsp:txXfrm>
    </dsp:sp>
    <dsp:sp modelId="{6983FBDE-F7DB-4C18-A282-EC7EB674F74C}">
      <dsp:nvSpPr>
        <dsp:cNvPr id="0" name=""/>
        <dsp:cNvSpPr/>
      </dsp:nvSpPr>
      <dsp:spPr>
        <a:xfrm>
          <a:off x="2520063" y="372458"/>
          <a:ext cx="3711326" cy="3711326"/>
        </a:xfrm>
        <a:prstGeom prst="pie">
          <a:avLst>
            <a:gd name="adj1" fmla="val 20520000"/>
            <a:gd name="adj2" fmla="val 3240000"/>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tx1">
                  <a:lumMod val="95000"/>
                  <a:lumOff val="5000"/>
                </a:schemeClr>
              </a:solidFill>
            </a:rPr>
            <a:t>B. Classical Machine Learning</a:t>
          </a:r>
          <a:endParaRPr lang="en-UG" sz="1400" b="1" kern="1200" dirty="0">
            <a:solidFill>
              <a:schemeClr val="tx1">
                <a:lumMod val="95000"/>
                <a:lumOff val="5000"/>
              </a:schemeClr>
            </a:solidFill>
          </a:endParaRPr>
        </a:p>
      </dsp:txBody>
      <dsp:txXfrm>
        <a:off x="4910334" y="2068180"/>
        <a:ext cx="1104561" cy="883649"/>
      </dsp:txXfrm>
    </dsp:sp>
    <dsp:sp modelId="{C8C117BB-89EE-4EA1-8D32-B0BBABFA4B69}">
      <dsp:nvSpPr>
        <dsp:cNvPr id="0" name=""/>
        <dsp:cNvSpPr/>
      </dsp:nvSpPr>
      <dsp:spPr>
        <a:xfrm>
          <a:off x="2436117" y="433429"/>
          <a:ext cx="3711326" cy="3711326"/>
        </a:xfrm>
        <a:prstGeom prst="pie">
          <a:avLst>
            <a:gd name="adj1" fmla="val 3240000"/>
            <a:gd name="adj2" fmla="val 7560000"/>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tx1">
                  <a:lumMod val="95000"/>
                  <a:lumOff val="5000"/>
                </a:schemeClr>
              </a:solidFill>
            </a:rPr>
            <a:t>C. Deep Learning Approach</a:t>
          </a:r>
          <a:endParaRPr lang="en-UG" sz="1400" b="1" kern="1200" dirty="0">
            <a:solidFill>
              <a:schemeClr val="tx1">
                <a:lumMod val="95000"/>
                <a:lumOff val="5000"/>
              </a:schemeClr>
            </a:solidFill>
          </a:endParaRPr>
        </a:p>
      </dsp:txBody>
      <dsp:txXfrm>
        <a:off x="3761590" y="3040195"/>
        <a:ext cx="1060379" cy="972014"/>
      </dsp:txXfrm>
    </dsp:sp>
    <dsp:sp modelId="{A51D1BB4-0427-41DB-9D8B-E5DE9F1D20F7}">
      <dsp:nvSpPr>
        <dsp:cNvPr id="0" name=""/>
        <dsp:cNvSpPr/>
      </dsp:nvSpPr>
      <dsp:spPr>
        <a:xfrm>
          <a:off x="2352170" y="372458"/>
          <a:ext cx="3711326" cy="3711326"/>
        </a:xfrm>
        <a:prstGeom prst="pie">
          <a:avLst>
            <a:gd name="adj1" fmla="val 7560000"/>
            <a:gd name="adj2" fmla="val 11880000"/>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tx1">
                  <a:lumMod val="95000"/>
                  <a:lumOff val="5000"/>
                </a:schemeClr>
              </a:solidFill>
            </a:rPr>
            <a:t>D. Model Deployment</a:t>
          </a:r>
          <a:endParaRPr lang="en-UG" sz="1400" b="1" kern="1200" dirty="0">
            <a:solidFill>
              <a:schemeClr val="tx1">
                <a:lumMod val="95000"/>
                <a:lumOff val="5000"/>
              </a:schemeClr>
            </a:solidFill>
          </a:endParaRPr>
        </a:p>
      </dsp:txBody>
      <dsp:txXfrm>
        <a:off x="2568664" y="2068180"/>
        <a:ext cx="1104561" cy="883649"/>
      </dsp:txXfrm>
    </dsp:sp>
    <dsp:sp modelId="{3AEEBE60-5884-4305-BDD8-11AE280D526B}">
      <dsp:nvSpPr>
        <dsp:cNvPr id="0" name=""/>
        <dsp:cNvSpPr/>
      </dsp:nvSpPr>
      <dsp:spPr>
        <a:xfrm>
          <a:off x="2383981" y="273489"/>
          <a:ext cx="3711326" cy="3711326"/>
        </a:xfrm>
        <a:prstGeom prst="pie">
          <a:avLst>
            <a:gd name="adj1" fmla="val 11880000"/>
            <a:gd name="adj2" fmla="val 16200000"/>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tx1">
                  <a:lumMod val="95000"/>
                  <a:lumOff val="5000"/>
                </a:schemeClr>
              </a:solidFill>
            </a:rPr>
            <a:t>E. Conclusions &amp; Recommendations</a:t>
          </a:r>
          <a:endParaRPr lang="en-UG" sz="1400" b="1" kern="1200" dirty="0">
            <a:solidFill>
              <a:schemeClr val="tx1">
                <a:lumMod val="95000"/>
                <a:lumOff val="5000"/>
              </a:schemeClr>
            </a:solidFill>
          </a:endParaRPr>
        </a:p>
      </dsp:txBody>
      <dsp:txXfrm>
        <a:off x="2966306" y="897345"/>
        <a:ext cx="1192926" cy="795284"/>
      </dsp:txXfrm>
    </dsp:sp>
    <dsp:sp modelId="{49BC529F-B51A-4DB9-87AB-60AEBE43B56A}">
      <dsp:nvSpPr>
        <dsp:cNvPr id="0" name=""/>
        <dsp:cNvSpPr/>
      </dsp:nvSpPr>
      <dsp:spPr>
        <a:xfrm>
          <a:off x="2258328" y="43740"/>
          <a:ext cx="4170824" cy="4170824"/>
        </a:xfrm>
        <a:prstGeom prst="circularArrow">
          <a:avLst>
            <a:gd name="adj1" fmla="val 5085"/>
            <a:gd name="adj2" fmla="val 327528"/>
            <a:gd name="adj3" fmla="val 20192361"/>
            <a:gd name="adj4" fmla="val 16200324"/>
            <a:gd name="adj5" fmla="val 5932"/>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7D53EBE-7559-4B94-9252-FF1095E290FB}">
      <dsp:nvSpPr>
        <dsp:cNvPr id="0" name=""/>
        <dsp:cNvSpPr/>
      </dsp:nvSpPr>
      <dsp:spPr>
        <a:xfrm>
          <a:off x="2290571" y="142676"/>
          <a:ext cx="4170824" cy="4170824"/>
        </a:xfrm>
        <a:prstGeom prst="circularArrow">
          <a:avLst>
            <a:gd name="adj1" fmla="val 5085"/>
            <a:gd name="adj2" fmla="val 327528"/>
            <a:gd name="adj3" fmla="val 2912753"/>
            <a:gd name="adj4" fmla="val 20519953"/>
            <a:gd name="adj5" fmla="val 5932"/>
          </a:avLst>
        </a:prstGeom>
        <a:solidFill>
          <a:schemeClr val="accent2">
            <a:hueOff val="1170380"/>
            <a:satOff val="-1460"/>
            <a:lumOff val="343"/>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9A7D4B8-72C2-4BD1-BD6F-7F57C09A97A7}">
      <dsp:nvSpPr>
        <dsp:cNvPr id="0" name=""/>
        <dsp:cNvSpPr/>
      </dsp:nvSpPr>
      <dsp:spPr>
        <a:xfrm>
          <a:off x="2206368" y="203834"/>
          <a:ext cx="4170824" cy="4170824"/>
        </a:xfrm>
        <a:prstGeom prst="circularArrow">
          <a:avLst>
            <a:gd name="adj1" fmla="val 5085"/>
            <a:gd name="adj2" fmla="val 327528"/>
            <a:gd name="adj3" fmla="val 7232777"/>
            <a:gd name="adj4" fmla="val 3239695"/>
            <a:gd name="adj5" fmla="val 5932"/>
          </a:avLst>
        </a:prstGeom>
        <a:solidFill>
          <a:schemeClr val="accent2">
            <a:hueOff val="2340759"/>
            <a:satOff val="-2919"/>
            <a:lumOff val="686"/>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8CAEB7A-8F5C-419A-8DF7-30B74E0D70F4}">
      <dsp:nvSpPr>
        <dsp:cNvPr id="0" name=""/>
        <dsp:cNvSpPr/>
      </dsp:nvSpPr>
      <dsp:spPr>
        <a:xfrm>
          <a:off x="2122165" y="142676"/>
          <a:ext cx="4170824" cy="4170824"/>
        </a:xfrm>
        <a:prstGeom prst="circularArrow">
          <a:avLst>
            <a:gd name="adj1" fmla="val 5085"/>
            <a:gd name="adj2" fmla="val 327528"/>
            <a:gd name="adj3" fmla="val 11552519"/>
            <a:gd name="adj4" fmla="val 7559718"/>
            <a:gd name="adj5" fmla="val 5932"/>
          </a:avLst>
        </a:prstGeom>
        <a:solidFill>
          <a:schemeClr val="accent2">
            <a:hueOff val="3511139"/>
            <a:satOff val="-4379"/>
            <a:lumOff val="103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FA46614-A426-4DB3-8CF8-90215F9A3C44}">
      <dsp:nvSpPr>
        <dsp:cNvPr id="0" name=""/>
        <dsp:cNvSpPr/>
      </dsp:nvSpPr>
      <dsp:spPr>
        <a:xfrm>
          <a:off x="2154407" y="43740"/>
          <a:ext cx="4170824" cy="4170824"/>
        </a:xfrm>
        <a:prstGeom prst="circularArrow">
          <a:avLst>
            <a:gd name="adj1" fmla="val 5085"/>
            <a:gd name="adj2" fmla="val 327528"/>
            <a:gd name="adj3" fmla="val 15872148"/>
            <a:gd name="adj4" fmla="val 11880111"/>
            <a:gd name="adj5" fmla="val 5932"/>
          </a:avLst>
        </a:prstGeom>
        <a:solidFill>
          <a:schemeClr val="accent2">
            <a:hueOff val="4681519"/>
            <a:satOff val="-5839"/>
            <a:lumOff val="1373"/>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413E20-F447-438A-A118-7BA20702CCAC}" type="datetimeFigureOut">
              <a:rPr lang="en-UG" smtClean="0"/>
              <a:t>27/11/2025</a:t>
            </a:fld>
            <a:endParaRPr lang="en-UG"/>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739007-72D4-4633-94D9-971C01022C51}" type="slidenum">
              <a:rPr lang="en-UG" smtClean="0"/>
              <a:t>‹#›</a:t>
            </a:fld>
            <a:endParaRPr lang="en-UG"/>
          </a:p>
        </p:txBody>
      </p:sp>
    </p:spTree>
    <p:extLst>
      <p:ext uri="{BB962C8B-B14F-4D97-AF65-F5344CB8AC3E}">
        <p14:creationId xmlns:p14="http://schemas.microsoft.com/office/powerpoint/2010/main" val="3003739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G"/>
          </a:p>
        </p:txBody>
      </p:sp>
      <p:sp>
        <p:nvSpPr>
          <p:cNvPr id="3" name="Notes Placeholder 2"/>
          <p:cNvSpPr>
            <a:spLocks noGrp="1"/>
          </p:cNvSpPr>
          <p:nvPr>
            <p:ph type="body" idx="1"/>
          </p:nvPr>
        </p:nvSpPr>
        <p:spPr/>
        <p:txBody>
          <a:bodyPr/>
          <a:lstStyle/>
          <a:p>
            <a:endParaRPr lang="en-UG" dirty="0"/>
          </a:p>
        </p:txBody>
      </p:sp>
      <p:sp>
        <p:nvSpPr>
          <p:cNvPr id="4" name="Slide Number Placeholder 3"/>
          <p:cNvSpPr>
            <a:spLocks noGrp="1"/>
          </p:cNvSpPr>
          <p:nvPr>
            <p:ph type="sldNum" sz="quarter" idx="5"/>
          </p:nvPr>
        </p:nvSpPr>
        <p:spPr/>
        <p:txBody>
          <a:bodyPr/>
          <a:lstStyle/>
          <a:p>
            <a:fld id="{CC739007-72D4-4633-94D9-971C01022C51}" type="slidenum">
              <a:rPr lang="en-UG" smtClean="0"/>
              <a:t>2</a:t>
            </a:fld>
            <a:endParaRPr lang="en-UG"/>
          </a:p>
        </p:txBody>
      </p:sp>
    </p:spTree>
    <p:extLst>
      <p:ext uri="{BB962C8B-B14F-4D97-AF65-F5344CB8AC3E}">
        <p14:creationId xmlns:p14="http://schemas.microsoft.com/office/powerpoint/2010/main" val="1544771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G"/>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World Health Organization. (2024, June 11). Cardiovascular diseases (CVDs) [Fact sheet]. https://www.who.int/news-room/fact-sheets/detail/cardiovascular-diseases-(cvds)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Okello, E., </a:t>
            </a:r>
            <a:r>
              <a:rPr lang="en-US" dirty="0" err="1">
                <a:effectLst/>
              </a:rPr>
              <a:t>Omagino</a:t>
            </a:r>
            <a:r>
              <a:rPr lang="en-US" dirty="0">
                <a:effectLst/>
              </a:rPr>
              <a:t>, J., Fourie, J. M., Scholtz, W., Nel, G., </a:t>
            </a:r>
            <a:r>
              <a:rPr lang="en-US" dirty="0" err="1">
                <a:effectLst/>
              </a:rPr>
              <a:t>Scarlatescu</a:t>
            </a:r>
            <a:r>
              <a:rPr lang="en-US" dirty="0">
                <a:effectLst/>
              </a:rPr>
              <a:t>, O., &amp; </a:t>
            </a:r>
            <a:r>
              <a:rPr lang="en-US" dirty="0" err="1">
                <a:effectLst/>
              </a:rPr>
              <a:t>Lwabi</a:t>
            </a:r>
            <a:r>
              <a:rPr lang="en-US" dirty="0">
                <a:effectLst/>
              </a:rPr>
              <a:t>, P. (2020). Uganda country report. Cardiovascular Journal of Africa, 31(4 Suppl 1), S42–S48. https://doi.org/10.5830/CVJA-2020-037</a:t>
            </a:r>
          </a:p>
          <a:p>
            <a:endParaRPr lang="en-UG" dirty="0"/>
          </a:p>
        </p:txBody>
      </p:sp>
      <p:sp>
        <p:nvSpPr>
          <p:cNvPr id="4" name="Slide Number Placeholder 3"/>
          <p:cNvSpPr>
            <a:spLocks noGrp="1"/>
          </p:cNvSpPr>
          <p:nvPr>
            <p:ph type="sldNum" sz="quarter" idx="5"/>
          </p:nvPr>
        </p:nvSpPr>
        <p:spPr/>
        <p:txBody>
          <a:bodyPr/>
          <a:lstStyle/>
          <a:p>
            <a:fld id="{CC739007-72D4-4633-94D9-971C01022C51}" type="slidenum">
              <a:rPr lang="en-UG" smtClean="0"/>
              <a:t>4</a:t>
            </a:fld>
            <a:endParaRPr lang="en-UG"/>
          </a:p>
        </p:txBody>
      </p:sp>
    </p:spTree>
    <p:extLst>
      <p:ext uri="{BB962C8B-B14F-4D97-AF65-F5344CB8AC3E}">
        <p14:creationId xmlns:p14="http://schemas.microsoft.com/office/powerpoint/2010/main" val="2817688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G"/>
          </a:p>
        </p:txBody>
      </p:sp>
      <p:sp>
        <p:nvSpPr>
          <p:cNvPr id="3" name="Notes Placeholder 2"/>
          <p:cNvSpPr>
            <a:spLocks noGrp="1"/>
          </p:cNvSpPr>
          <p:nvPr>
            <p:ph type="body" idx="1"/>
          </p:nvPr>
        </p:nvSpPr>
        <p:spPr/>
        <p:txBody>
          <a:bodyPr/>
          <a:lstStyle/>
          <a:p>
            <a:r>
              <a:rPr lang="en-US" dirty="0"/>
              <a:t>A </a:t>
            </a:r>
            <a:r>
              <a:rPr lang="en-US" sz="1200" b="1" i="0" kern="1200" dirty="0">
                <a:solidFill>
                  <a:schemeClr val="tx1"/>
                </a:solidFill>
                <a:effectLst/>
                <a:latin typeface="+mn-lt"/>
                <a:ea typeface="+mn-ea"/>
                <a:cs typeface="+mn-cs"/>
              </a:rPr>
              <a:t>clear dose-response relationship</a:t>
            </a:r>
            <a:r>
              <a:rPr lang="en-US" sz="1200" b="0" i="0" kern="1200" dirty="0">
                <a:solidFill>
                  <a:schemeClr val="tx1"/>
                </a:solidFill>
                <a:effectLst/>
                <a:latin typeface="+mn-lt"/>
                <a:ea typeface="+mn-ea"/>
                <a:cs typeface="+mn-cs"/>
              </a:rPr>
              <a:t> describes a connection where the magnitude of an effect (the response) in an organism or population changes in a predictable, consistent, and often proportional way with changes in the amount of exposure to a substance (the dose). </a:t>
            </a:r>
            <a:endParaRPr lang="en-UG" dirty="0"/>
          </a:p>
        </p:txBody>
      </p:sp>
      <p:sp>
        <p:nvSpPr>
          <p:cNvPr id="4" name="Slide Number Placeholder 3"/>
          <p:cNvSpPr>
            <a:spLocks noGrp="1"/>
          </p:cNvSpPr>
          <p:nvPr>
            <p:ph type="sldNum" sz="quarter" idx="5"/>
          </p:nvPr>
        </p:nvSpPr>
        <p:spPr/>
        <p:txBody>
          <a:bodyPr/>
          <a:lstStyle/>
          <a:p>
            <a:fld id="{CC739007-72D4-4633-94D9-971C01022C51}" type="slidenum">
              <a:rPr lang="en-UG" smtClean="0"/>
              <a:t>8</a:t>
            </a:fld>
            <a:endParaRPr lang="en-UG"/>
          </a:p>
        </p:txBody>
      </p:sp>
    </p:spTree>
    <p:extLst>
      <p:ext uri="{BB962C8B-B14F-4D97-AF65-F5344CB8AC3E}">
        <p14:creationId xmlns:p14="http://schemas.microsoft.com/office/powerpoint/2010/main" val="1848427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dirty="0"/>
          </a:p>
        </p:txBody>
      </p:sp>
      <p:sp>
        <p:nvSpPr>
          <p:cNvPr id="4" name="Slide Number Placeholder 3"/>
          <p:cNvSpPr>
            <a:spLocks noGrp="1"/>
          </p:cNvSpPr>
          <p:nvPr>
            <p:ph type="sldNum" sz="quarter" idx="5"/>
          </p:nvPr>
        </p:nvSpPr>
        <p:spPr/>
        <p:txBody>
          <a:bodyPr/>
          <a:lstStyle/>
          <a:p>
            <a:fld id="{CC739007-72D4-4633-94D9-971C01022C51}" type="slidenum">
              <a:rPr lang="en-UG" smtClean="0"/>
              <a:t>17</a:t>
            </a:fld>
            <a:endParaRPr lang="en-UG"/>
          </a:p>
        </p:txBody>
      </p:sp>
    </p:spTree>
    <p:extLst>
      <p:ext uri="{BB962C8B-B14F-4D97-AF65-F5344CB8AC3E}">
        <p14:creationId xmlns:p14="http://schemas.microsoft.com/office/powerpoint/2010/main" val="39192512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313259" y="1300786"/>
            <a:ext cx="6517482"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228696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777287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656349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828564"/>
            <a:ext cx="7763814"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518274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382952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4629150" y="2367093"/>
            <a:ext cx="382905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44598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59746" y="2371018"/>
            <a:ext cx="3655106"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331" y="3051013"/>
            <a:ext cx="3829520"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97317" y="2371018"/>
            <a:ext cx="3661353"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4629150" y="3051013"/>
            <a:ext cx="382905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428764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03172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fld id="{5BCAD085-E8A6-8845-BD4E-CB4CCA059FC4}" type="datetimeFigureOut">
              <a:rPr lang="en-US" smtClean="0"/>
              <a:t>11/27/2025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794777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2951766"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3808547" y="609601"/>
            <a:ext cx="4650122"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020998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2" y="609600"/>
            <a:ext cx="4129618"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04270" y="609601"/>
            <a:ext cx="3005851"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2632853"/>
            <a:ext cx="4129604"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413831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46" y="4289374"/>
            <a:ext cx="7773324"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452152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7773339"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879656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084659" y="872588"/>
            <a:ext cx="6977064" cy="2729915"/>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11" name="TextBox 10"/>
          <p:cNvSpPr txBox="1"/>
          <p:nvPr/>
        </p:nvSpPr>
        <p:spPr>
          <a:xfrm>
            <a:off x="737626" y="887859"/>
            <a:ext cx="546888"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850130" y="3120015"/>
            <a:ext cx="553641"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8025174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2138722"/>
            <a:ext cx="7773339"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599628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Title 1"/>
          <p:cNvSpPr>
            <a:spLocks noGrp="1"/>
          </p:cNvSpPr>
          <p:nvPr>
            <p:ph type="title"/>
          </p:nvPr>
        </p:nvSpPr>
        <p:spPr>
          <a:xfrm>
            <a:off x="685331" y="609600"/>
            <a:ext cx="7773339"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31" y="2367093"/>
            <a:ext cx="2474232"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9292" y="2367093"/>
            <a:ext cx="2468641"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73161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itle 1"/>
          <p:cNvSpPr>
            <a:spLocks noGrp="1"/>
          </p:cNvSpPr>
          <p:nvPr>
            <p:ph type="title"/>
          </p:nvPr>
        </p:nvSpPr>
        <p:spPr>
          <a:xfrm>
            <a:off x="685331" y="610772"/>
            <a:ext cx="7773339"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31" y="4204820"/>
            <a:ext cx="2472307"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69" y="4204820"/>
            <a:ext cx="247637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550598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331" y="2367094"/>
            <a:ext cx="7773339"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740881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Vertical Title 1"/>
          <p:cNvSpPr>
            <a:spLocks noGrp="1"/>
          </p:cNvSpPr>
          <p:nvPr>
            <p:ph type="title" orient="vert"/>
          </p:nvPr>
        </p:nvSpPr>
        <p:spPr>
          <a:xfrm>
            <a:off x="6543675" y="609602"/>
            <a:ext cx="1914995"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331" y="609602"/>
            <a:ext cx="5744043"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59449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1.pn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fld id="{5BCAD085-E8A6-8845-BD4E-CB4CCA059FC4}" type="datetimeFigureOut">
              <a:rPr lang="en-US" smtClean="0"/>
              <a:t>11/27/2025</a:t>
            </a:fld>
            <a:endParaRPr lang="en-US"/>
          </a:p>
        </p:txBody>
      </p:sp>
      <p:sp>
        <p:nvSpPr>
          <p:cNvPr id="5"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4189468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github.com/akampa-776/Predicting-10-year-Cardiovascular-Event-using-Machine-Learning-Heart-attack-or-Stroke-Model" TargetMode="Externa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zenodo.org/records/12567416" TargetMode="External"/><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hyperlink" Target="http://192.168.137.169:8501/" TargetMode="External"/><Relationship Id="rId2" Type="http://schemas.openxmlformats.org/officeDocument/2006/relationships/hyperlink" Target="http://localhost:8501/"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39245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tethoscope next to a keyboard&#10;&#10;AI-generated content may be incorrect.">
            <a:extLst>
              <a:ext uri="{FF2B5EF4-FFF2-40B4-BE49-F238E27FC236}">
                <a16:creationId xmlns:a16="http://schemas.microsoft.com/office/drawing/2014/main" id="{44B4C19B-114C-8A94-B82B-56B238F3758C}"/>
              </a:ext>
            </a:extLst>
          </p:cNvPr>
          <p:cNvPicPr>
            <a:picLocks noChangeAspect="1"/>
          </p:cNvPicPr>
          <p:nvPr/>
        </p:nvPicPr>
        <p:blipFill>
          <a:blip r:embed="rId3"/>
          <a:srcRect l="26276" t="6484" r="14548" b="-1"/>
          <a:stretch>
            <a:fillRect/>
          </a:stretch>
        </p:blipFill>
        <p:spPr>
          <a:xfrm>
            <a:off x="2642616" y="0"/>
            <a:ext cx="6501384" cy="6857990"/>
          </a:xfrm>
          <a:prstGeom prst="rect">
            <a:avLst/>
          </a:prstGeom>
        </p:spPr>
      </p:pic>
      <p:sp>
        <p:nvSpPr>
          <p:cNvPr id="49" name="Rectangle 48">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317450"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358485" y="1122363"/>
            <a:ext cx="5530923" cy="2198773"/>
          </a:xfrm>
        </p:spPr>
        <p:txBody>
          <a:bodyPr vert="horz" lIns="91440" tIns="45720" rIns="91440" bIns="45720" rtlCol="0" anchor="b">
            <a:normAutofit/>
          </a:bodyPr>
          <a:lstStyle/>
          <a:p>
            <a:pPr algn="just" defTabSz="914400">
              <a:lnSpc>
                <a:spcPct val="90000"/>
              </a:lnSpc>
            </a:pPr>
            <a:r>
              <a:rPr lang="en-US" sz="2900" dirty="0"/>
              <a:t>Predicting 10-Year Cardiovascular Events using Machine Learning &amp; Deep Learning: Heart Attack or Stroke Model</a:t>
            </a:r>
            <a:endParaRPr lang="en-US" dirty="0"/>
          </a:p>
        </p:txBody>
      </p:sp>
      <p:sp>
        <p:nvSpPr>
          <p:cNvPr id="3" name="Subtitle 2"/>
          <p:cNvSpPr>
            <a:spLocks noGrp="1"/>
          </p:cNvSpPr>
          <p:nvPr>
            <p:ph type="subTitle" idx="1"/>
          </p:nvPr>
        </p:nvSpPr>
        <p:spPr>
          <a:xfrm>
            <a:off x="358485" y="3783783"/>
            <a:ext cx="5949822" cy="2907678"/>
          </a:xfrm>
        </p:spPr>
        <p:txBody>
          <a:bodyPr vert="horz" lIns="91440" tIns="45720" rIns="91440" bIns="45720" rtlCol="0" anchor="t">
            <a:noAutofit/>
          </a:bodyPr>
          <a:lstStyle/>
          <a:p>
            <a:pPr algn="l" defTabSz="914400">
              <a:lnSpc>
                <a:spcPct val="90000"/>
              </a:lnSpc>
            </a:pPr>
            <a:r>
              <a:rPr lang="en-US" sz="1600" b="1" dirty="0">
                <a:solidFill>
                  <a:schemeClr val="tx1"/>
                </a:solidFill>
              </a:rPr>
              <a:t>GitHub-Repository:</a:t>
            </a:r>
            <a:endParaRPr lang="en-US" sz="1600" b="1" dirty="0">
              <a:solidFill>
                <a:schemeClr val="tx1"/>
              </a:solidFill>
              <a:ea typeface="Calibri"/>
              <a:cs typeface="Calibri"/>
            </a:endParaRPr>
          </a:p>
          <a:p>
            <a:pPr algn="l" defTabSz="914400">
              <a:lnSpc>
                <a:spcPct val="90000"/>
              </a:lnSpc>
            </a:pPr>
            <a:r>
              <a:rPr lang="en-US" sz="1600" dirty="0">
                <a:solidFill>
                  <a:schemeClr val="tx1"/>
                </a:solidFill>
                <a:hlinkClick r:id="rId4">
                  <a:extLst>
                    <a:ext uri="{A12FA001-AC4F-418D-AE19-62706E023703}">
                      <ahyp:hlinkClr xmlns:ahyp="http://schemas.microsoft.com/office/drawing/2018/hyperlinkcolor" val="tx"/>
                    </a:ext>
                  </a:extLst>
                </a:hlinkClick>
              </a:rPr>
              <a:t>https://github.com/akampa-776/Predicting-10-year-Cardiovascular-Event-using-Machine-Learning-Heart-attack-or-Stroke-Model</a:t>
            </a:r>
            <a:endParaRPr lang="en-US" sz="1600" dirty="0">
              <a:solidFill>
                <a:schemeClr val="tx1"/>
              </a:solidFill>
              <a:ea typeface="Calibri"/>
              <a:cs typeface="Calibri"/>
              <a:hlinkClick r:id="rId4">
                <a:extLst>
                  <a:ext uri="{A12FA001-AC4F-418D-AE19-62706E023703}">
                    <ahyp:hlinkClr xmlns:ahyp="http://schemas.microsoft.com/office/drawing/2018/hyperlinkcolor" val="tx"/>
                  </a:ext>
                </a:extLst>
              </a:hlinkClick>
            </a:endParaRPr>
          </a:p>
          <a:p>
            <a:pPr algn="l" defTabSz="914400">
              <a:lnSpc>
                <a:spcPct val="90000"/>
              </a:lnSpc>
            </a:pPr>
            <a:endParaRPr lang="en-US" sz="1600" dirty="0">
              <a:solidFill>
                <a:schemeClr val="tx1"/>
              </a:solidFill>
              <a:ea typeface="Calibri"/>
              <a:cs typeface="Calibri"/>
            </a:endParaRPr>
          </a:p>
          <a:p>
            <a:pPr algn="l" defTabSz="914400">
              <a:lnSpc>
                <a:spcPct val="90000"/>
              </a:lnSpc>
            </a:pPr>
            <a:r>
              <a:rPr lang="en-US" sz="1600" b="1" dirty="0">
                <a:solidFill>
                  <a:schemeClr val="tx1"/>
                </a:solidFill>
              </a:rPr>
              <a:t>By Group One:</a:t>
            </a:r>
            <a:endParaRPr lang="en-US" sz="1600" b="1" dirty="0">
              <a:solidFill>
                <a:schemeClr val="tx1"/>
              </a:solidFill>
              <a:ea typeface="Calibri"/>
              <a:cs typeface="Calibri"/>
            </a:endParaRPr>
          </a:p>
          <a:p>
            <a:pPr indent="-228600" algn="just" defTabSz="914400">
              <a:lnSpc>
                <a:spcPct val="90000"/>
              </a:lnSpc>
              <a:buFont typeface="Arial" panose="020B0604020202020204" pitchFamily="34" charset="0"/>
              <a:buChar char="•"/>
            </a:pPr>
            <a:r>
              <a:rPr lang="en-US" sz="1600" dirty="0">
                <a:solidFill>
                  <a:schemeClr val="tx1"/>
                </a:solidFill>
              </a:rPr>
              <a:t>Nazziwa Rhoda</a:t>
            </a:r>
            <a:endParaRPr lang="en-US" sz="1600" dirty="0">
              <a:solidFill>
                <a:schemeClr val="tx1"/>
              </a:solidFill>
              <a:ea typeface="Calibri"/>
              <a:cs typeface="Calibri"/>
            </a:endParaRPr>
          </a:p>
          <a:p>
            <a:pPr indent="-228600" algn="just" defTabSz="914400">
              <a:lnSpc>
                <a:spcPct val="90000"/>
              </a:lnSpc>
              <a:buFont typeface="Arial" panose="020B0604020202020204" pitchFamily="34" charset="0"/>
              <a:buChar char="•"/>
            </a:pPr>
            <a:r>
              <a:rPr lang="en-US" sz="1600" dirty="0">
                <a:solidFill>
                  <a:schemeClr val="tx1"/>
                </a:solidFill>
              </a:rPr>
              <a:t>Nameeru Bronah</a:t>
            </a:r>
            <a:endParaRPr lang="en-US" sz="1600" dirty="0">
              <a:solidFill>
                <a:schemeClr val="tx1"/>
              </a:solidFill>
              <a:ea typeface="Calibri"/>
              <a:cs typeface="Calibri"/>
            </a:endParaRPr>
          </a:p>
          <a:p>
            <a:pPr indent="-228600" algn="just" defTabSz="914400">
              <a:lnSpc>
                <a:spcPct val="90000"/>
              </a:lnSpc>
              <a:buFont typeface="Arial" panose="020B0604020202020204" pitchFamily="34" charset="0"/>
              <a:buChar char="•"/>
            </a:pPr>
            <a:r>
              <a:rPr lang="en-US" sz="1600" dirty="0">
                <a:solidFill>
                  <a:schemeClr val="tx1"/>
                </a:solidFill>
              </a:rPr>
              <a:t>Akampa Godfrey</a:t>
            </a:r>
            <a:endParaRPr lang="en-US" sz="1600" dirty="0">
              <a:solidFill>
                <a:schemeClr val="tx1"/>
              </a:solidFill>
              <a:ea typeface="Calibri"/>
              <a:cs typeface="Calibri"/>
            </a:endParaRPr>
          </a:p>
          <a:p>
            <a:pPr algn="l" defTabSz="914400">
              <a:lnSpc>
                <a:spcPct val="90000"/>
              </a:lnSpc>
            </a:pPr>
            <a:endParaRPr lang="en-US" sz="1600" dirty="0">
              <a:solidFill>
                <a:schemeClr val="tx1"/>
              </a:solidFill>
              <a:ea typeface="Calibri"/>
              <a:cs typeface="Calibri"/>
            </a:endParaRPr>
          </a:p>
          <a:p>
            <a:pPr algn="l" defTabSz="914400">
              <a:lnSpc>
                <a:spcPct val="90000"/>
              </a:lnSpc>
            </a:pPr>
            <a:r>
              <a:rPr lang="en-US" sz="1600" dirty="0">
                <a:solidFill>
                  <a:schemeClr val="tx1"/>
                </a:solidFill>
              </a:rPr>
              <a:t>This project uses machine learning to support earlier identification of people at risk for cardiovascular complications.</a:t>
            </a:r>
            <a:endParaRPr lang="en-US" sz="1600" dirty="0">
              <a:solidFill>
                <a:schemeClr val="tx1"/>
              </a:solidFill>
              <a:ea typeface="Calibri"/>
              <a:cs typeface="Calibri"/>
            </a:endParaRPr>
          </a:p>
        </p:txBody>
      </p:sp>
      <p:sp>
        <p:nvSpPr>
          <p:cNvPr id="51" name="Rectangle 5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F879AC3-D4CE-493C-ADC7-06205677F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11" name="Freeform: Shape 10">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87628"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B73C208-DF25-85E8-170E-EB09443F4079}"/>
              </a:ext>
            </a:extLst>
          </p:cNvPr>
          <p:cNvSpPr>
            <a:spLocks noGrp="1"/>
          </p:cNvSpPr>
          <p:nvPr>
            <p:ph type="title"/>
          </p:nvPr>
        </p:nvSpPr>
        <p:spPr>
          <a:xfrm>
            <a:off x="229797" y="274638"/>
            <a:ext cx="8744249" cy="676226"/>
          </a:xfrm>
        </p:spPr>
        <p:txBody>
          <a:bodyPr>
            <a:normAutofit fontScale="90000"/>
          </a:bodyPr>
          <a:lstStyle/>
          <a:p>
            <a:r>
              <a:rPr lang="en-US" dirty="0"/>
              <a:t>Our Respiratory Structure-Model</a:t>
            </a:r>
            <a:endParaRPr lang="en-UG" dirty="0"/>
          </a:p>
        </p:txBody>
      </p:sp>
      <p:graphicFrame>
        <p:nvGraphicFramePr>
          <p:cNvPr id="4" name="Content Placeholder 3">
            <a:extLst>
              <a:ext uri="{FF2B5EF4-FFF2-40B4-BE49-F238E27FC236}">
                <a16:creationId xmlns:a16="http://schemas.microsoft.com/office/drawing/2014/main" id="{DE280503-8BBC-6C4B-C5BB-9CED6438866F}"/>
              </a:ext>
            </a:extLst>
          </p:cNvPr>
          <p:cNvGraphicFramePr>
            <a:graphicFrameLocks noGrp="1"/>
          </p:cNvGraphicFramePr>
          <p:nvPr>
            <p:ph idx="1"/>
            <p:extLst>
              <p:ext uri="{D42A27DB-BD31-4B8C-83A1-F6EECF244321}">
                <p14:modId xmlns:p14="http://schemas.microsoft.com/office/powerpoint/2010/main" val="784204788"/>
              </p:ext>
            </p:extLst>
          </p:nvPr>
        </p:nvGraphicFramePr>
        <p:xfrm>
          <a:off x="226142" y="1705459"/>
          <a:ext cx="8583561" cy="44182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6" name="TextBox 75">
            <a:extLst>
              <a:ext uri="{FF2B5EF4-FFF2-40B4-BE49-F238E27FC236}">
                <a16:creationId xmlns:a16="http://schemas.microsoft.com/office/drawing/2014/main" id="{F4FD4E21-1480-2B25-249D-CE3AE4834B10}"/>
              </a:ext>
            </a:extLst>
          </p:cNvPr>
          <p:cNvSpPr txBox="1"/>
          <p:nvPr/>
        </p:nvSpPr>
        <p:spPr>
          <a:xfrm>
            <a:off x="6065438" y="1593951"/>
            <a:ext cx="2916552" cy="830997"/>
          </a:xfrm>
          <a:prstGeom prst="rect">
            <a:avLst/>
          </a:prstGeom>
          <a:noFill/>
        </p:spPr>
        <p:txBody>
          <a:bodyPr wrap="square" lIns="91440" tIns="45720" rIns="91440" bIns="45720" rtlCol="0" anchor="t">
            <a:spAutoFit/>
          </a:bodyPr>
          <a:lstStyle/>
          <a:p>
            <a:pPr algn="just"/>
            <a:r>
              <a:rPr lang="en-US" sz="1600" dirty="0"/>
              <a:t>Understand features with a high level initial examination.</a:t>
            </a:r>
            <a:endParaRPr lang="en-US" sz="1600" dirty="0">
              <a:ea typeface="Calibri"/>
              <a:cs typeface="Calibri"/>
            </a:endParaRPr>
          </a:p>
          <a:p>
            <a:pPr algn="just"/>
            <a:r>
              <a:rPr lang="en-US" sz="1600" b="1" dirty="0">
                <a:solidFill>
                  <a:srgbClr val="FF0000"/>
                </a:solidFill>
              </a:rPr>
              <a:t>Contribution: </a:t>
            </a:r>
            <a:r>
              <a:rPr lang="en-US" sz="1600" b="1" dirty="0"/>
              <a:t>Rhoda Nazziwa</a:t>
            </a:r>
            <a:endParaRPr lang="en-UG" sz="1600" b="1">
              <a:ea typeface="Calibri"/>
              <a:cs typeface="Calibri"/>
            </a:endParaRPr>
          </a:p>
        </p:txBody>
      </p:sp>
      <p:sp>
        <p:nvSpPr>
          <p:cNvPr id="78" name="TextBox 77">
            <a:extLst>
              <a:ext uri="{FF2B5EF4-FFF2-40B4-BE49-F238E27FC236}">
                <a16:creationId xmlns:a16="http://schemas.microsoft.com/office/drawing/2014/main" id="{73ED8B69-A462-3B20-E3FE-C76F413348B9}"/>
              </a:ext>
            </a:extLst>
          </p:cNvPr>
          <p:cNvSpPr txBox="1"/>
          <p:nvPr/>
        </p:nvSpPr>
        <p:spPr>
          <a:xfrm>
            <a:off x="6525491" y="3590588"/>
            <a:ext cx="2612090" cy="1077218"/>
          </a:xfrm>
          <a:prstGeom prst="rect">
            <a:avLst/>
          </a:prstGeom>
          <a:noFill/>
        </p:spPr>
        <p:txBody>
          <a:bodyPr wrap="square" lIns="91440" tIns="45720" rIns="91440" bIns="45720" rtlCol="0" anchor="t">
            <a:spAutoFit/>
          </a:bodyPr>
          <a:lstStyle/>
          <a:p>
            <a:pPr algn="just"/>
            <a:r>
              <a:rPr lang="en-US" sz="1600" dirty="0"/>
              <a:t>Build and compared classification models </a:t>
            </a:r>
            <a:r>
              <a:rPr lang="en-US" sz="1600" b="1" dirty="0">
                <a:solidFill>
                  <a:srgbClr val="FF0000"/>
                </a:solidFill>
                <a:effectLst/>
              </a:rPr>
              <a:t>Contribution: </a:t>
            </a:r>
            <a:r>
              <a:rPr lang="en-US" sz="1600" b="1" dirty="0"/>
              <a:t>Nameeru Bronah</a:t>
            </a:r>
            <a:endParaRPr lang="en-US" sz="1600" b="1" dirty="0">
              <a:ea typeface="Calibri"/>
              <a:cs typeface="Calibri"/>
            </a:endParaRPr>
          </a:p>
        </p:txBody>
      </p:sp>
      <p:sp>
        <p:nvSpPr>
          <p:cNvPr id="80" name="TextBox 79">
            <a:extLst>
              <a:ext uri="{FF2B5EF4-FFF2-40B4-BE49-F238E27FC236}">
                <a16:creationId xmlns:a16="http://schemas.microsoft.com/office/drawing/2014/main" id="{D64FE9D8-C3B0-E3F5-5729-584AA806B76C}"/>
              </a:ext>
            </a:extLst>
          </p:cNvPr>
          <p:cNvSpPr txBox="1"/>
          <p:nvPr/>
        </p:nvSpPr>
        <p:spPr>
          <a:xfrm>
            <a:off x="607438" y="5962811"/>
            <a:ext cx="3963301" cy="584775"/>
          </a:xfrm>
          <a:prstGeom prst="rect">
            <a:avLst/>
          </a:prstGeom>
          <a:noFill/>
        </p:spPr>
        <p:txBody>
          <a:bodyPr wrap="square" lIns="91440" tIns="45720" rIns="91440" bIns="45720" rtlCol="0" anchor="t">
            <a:spAutoFit/>
          </a:bodyPr>
          <a:lstStyle/>
          <a:p>
            <a:pPr algn="just"/>
            <a:r>
              <a:rPr lang="en-US" sz="1600" dirty="0"/>
              <a:t>Neural network model (fully connected feed-forward)  </a:t>
            </a:r>
            <a:r>
              <a:rPr lang="en-US" sz="1600" b="1" dirty="0">
                <a:solidFill>
                  <a:srgbClr val="FF0000"/>
                </a:solidFill>
              </a:rPr>
              <a:t>Contribution: </a:t>
            </a:r>
            <a:r>
              <a:rPr lang="en-US" sz="1600" b="1" dirty="0"/>
              <a:t>AKAMPA GODFREY</a:t>
            </a:r>
            <a:endParaRPr lang="en-US" sz="1600" b="1" dirty="0">
              <a:ea typeface="Calibri"/>
              <a:cs typeface="Calibri"/>
            </a:endParaRPr>
          </a:p>
        </p:txBody>
      </p:sp>
      <p:sp>
        <p:nvSpPr>
          <p:cNvPr id="82" name="TextBox 81">
            <a:extLst>
              <a:ext uri="{FF2B5EF4-FFF2-40B4-BE49-F238E27FC236}">
                <a16:creationId xmlns:a16="http://schemas.microsoft.com/office/drawing/2014/main" id="{00806740-1FCC-72EC-8065-824C335D42F0}"/>
              </a:ext>
            </a:extLst>
          </p:cNvPr>
          <p:cNvSpPr txBox="1"/>
          <p:nvPr/>
        </p:nvSpPr>
        <p:spPr>
          <a:xfrm>
            <a:off x="-3398" y="3428588"/>
            <a:ext cx="2449493" cy="1323439"/>
          </a:xfrm>
          <a:prstGeom prst="rect">
            <a:avLst/>
          </a:prstGeom>
          <a:noFill/>
        </p:spPr>
        <p:txBody>
          <a:bodyPr wrap="square" lIns="91440" tIns="45720" rIns="91440" bIns="45720" rtlCol="0" anchor="t">
            <a:spAutoFit/>
          </a:bodyPr>
          <a:lstStyle/>
          <a:p>
            <a:pPr algn="just"/>
            <a:r>
              <a:rPr lang="en-US" sz="1600" dirty="0"/>
              <a:t>Best-performing model to be saved  via stream-lit to a Live web app for clients</a:t>
            </a:r>
            <a:endParaRPr lang="en-US" sz="1600" dirty="0">
              <a:ea typeface="Calibri"/>
              <a:cs typeface="Calibri"/>
            </a:endParaRPr>
          </a:p>
          <a:p>
            <a:pPr algn="just"/>
            <a:r>
              <a:rPr lang="en-US" sz="1600" b="1" dirty="0">
                <a:solidFill>
                  <a:srgbClr val="FF0000"/>
                </a:solidFill>
                <a:effectLst/>
              </a:rPr>
              <a:t>Contribution: </a:t>
            </a:r>
            <a:r>
              <a:rPr lang="en-US" sz="1600" b="1" dirty="0">
                <a:effectLst/>
              </a:rPr>
              <a:t>ALL MEMBERS</a:t>
            </a:r>
            <a:endParaRPr lang="en-US" sz="1600" b="1" dirty="0">
              <a:effectLst/>
              <a:ea typeface="Calibri"/>
              <a:cs typeface="Calibri"/>
            </a:endParaRPr>
          </a:p>
        </p:txBody>
      </p:sp>
      <p:sp>
        <p:nvSpPr>
          <p:cNvPr id="84" name="TextBox 83">
            <a:extLst>
              <a:ext uri="{FF2B5EF4-FFF2-40B4-BE49-F238E27FC236}">
                <a16:creationId xmlns:a16="http://schemas.microsoft.com/office/drawing/2014/main" id="{663E415D-37C1-2F30-41F9-1E55028A1FA5}"/>
              </a:ext>
            </a:extLst>
          </p:cNvPr>
          <p:cNvSpPr txBox="1"/>
          <p:nvPr/>
        </p:nvSpPr>
        <p:spPr>
          <a:xfrm>
            <a:off x="-1261" y="1600200"/>
            <a:ext cx="3967649" cy="830997"/>
          </a:xfrm>
          <a:prstGeom prst="rect">
            <a:avLst/>
          </a:prstGeom>
          <a:noFill/>
        </p:spPr>
        <p:txBody>
          <a:bodyPr wrap="square" lIns="91440" tIns="45720" rIns="91440" bIns="45720" rtlCol="0" anchor="t">
            <a:spAutoFit/>
          </a:bodyPr>
          <a:lstStyle/>
          <a:p>
            <a:pPr marL="285750" indent="-285750" algn="just">
              <a:buFont typeface="Wingdings" panose="05000000000000000000" pitchFamily="2" charset="2"/>
              <a:buChar char="§"/>
            </a:pPr>
            <a:r>
              <a:rPr lang="en-US" sz="1600" dirty="0"/>
              <a:t>Summary of best model performance</a:t>
            </a:r>
            <a:endParaRPr lang="en-US" sz="1600" dirty="0">
              <a:ea typeface="Calibri"/>
              <a:cs typeface="Calibri"/>
            </a:endParaRPr>
          </a:p>
          <a:p>
            <a:pPr marL="285750" indent="-285750" algn="just">
              <a:buFont typeface="Wingdings" panose="05000000000000000000" pitchFamily="2" charset="2"/>
              <a:buChar char="§"/>
            </a:pPr>
            <a:r>
              <a:rPr lang="en-US" sz="1600" dirty="0"/>
              <a:t>Recommendations &amp; Future work</a:t>
            </a:r>
            <a:endParaRPr lang="en-US" sz="1600" dirty="0">
              <a:ea typeface="Calibri"/>
              <a:cs typeface="Calibri"/>
            </a:endParaRPr>
          </a:p>
          <a:p>
            <a:pPr algn="just"/>
            <a:r>
              <a:rPr lang="en-US" sz="1600" b="1" dirty="0">
                <a:solidFill>
                  <a:srgbClr val="FF0000"/>
                </a:solidFill>
              </a:rPr>
              <a:t>Contribution: </a:t>
            </a:r>
            <a:r>
              <a:rPr lang="en-US" sz="1600" b="1" dirty="0"/>
              <a:t>ALL MEMBERS</a:t>
            </a:r>
            <a:endParaRPr lang="en-US" sz="1600" b="1" dirty="0">
              <a:ea typeface="Calibri"/>
              <a:cs typeface="Calibri"/>
            </a:endParaRPr>
          </a:p>
        </p:txBody>
      </p:sp>
    </p:spTree>
    <p:extLst>
      <p:ext uri="{BB962C8B-B14F-4D97-AF65-F5344CB8AC3E}">
        <p14:creationId xmlns:p14="http://schemas.microsoft.com/office/powerpoint/2010/main" val="939416067"/>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34" name="Rectangle 33">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8515" y="350196"/>
            <a:ext cx="4263135" cy="1624520"/>
          </a:xfrm>
        </p:spPr>
        <p:txBody>
          <a:bodyPr anchor="ctr">
            <a:normAutofit/>
          </a:bodyPr>
          <a:lstStyle/>
          <a:p>
            <a:r>
              <a:rPr lang="en-US" sz="3500" b="1"/>
              <a:t>Project Background</a:t>
            </a:r>
            <a:endParaRPr lang="en-US" sz="3500" b="1">
              <a:ea typeface="Calibri"/>
              <a:cs typeface="Calibri"/>
            </a:endParaRPr>
          </a:p>
        </p:txBody>
      </p:sp>
      <p:sp>
        <p:nvSpPr>
          <p:cNvPr id="3" name="Content Placeholder 2"/>
          <p:cNvSpPr>
            <a:spLocks noGrp="1"/>
          </p:cNvSpPr>
          <p:nvPr>
            <p:ph idx="1"/>
          </p:nvPr>
        </p:nvSpPr>
        <p:spPr>
          <a:xfrm>
            <a:off x="128514" y="2455954"/>
            <a:ext cx="4275105" cy="4259452"/>
          </a:xfrm>
        </p:spPr>
        <p:txBody>
          <a:bodyPr vert="horz" lIns="91440" tIns="45720" rIns="91440" bIns="45720" rtlCol="0" anchor="ctr">
            <a:noAutofit/>
          </a:bodyPr>
          <a:lstStyle/>
          <a:p>
            <a:pPr marL="0" indent="0" algn="just">
              <a:lnSpc>
                <a:spcPct val="90000"/>
              </a:lnSpc>
              <a:buNone/>
            </a:pPr>
            <a:r>
              <a:rPr lang="en-US" sz="1600" b="1" dirty="0"/>
              <a:t>Context:</a:t>
            </a:r>
            <a:endParaRPr lang="en-US" sz="1600" dirty="0">
              <a:ea typeface="Calibri"/>
              <a:cs typeface="Calibri"/>
            </a:endParaRPr>
          </a:p>
          <a:p>
            <a:pPr algn="just">
              <a:lnSpc>
                <a:spcPct val="90000"/>
              </a:lnSpc>
            </a:pPr>
            <a:r>
              <a:rPr lang="en-US" sz="1600" dirty="0"/>
              <a:t>Cardiovascular diseases (CVDs) remain the </a:t>
            </a:r>
            <a:r>
              <a:rPr lang="en-US" sz="1600" b="1" dirty="0"/>
              <a:t>leading cause of mortality globally</a:t>
            </a:r>
            <a:r>
              <a:rPr lang="en-US" sz="1600" dirty="0"/>
              <a:t>, responsible for over </a:t>
            </a:r>
            <a:r>
              <a:rPr lang="en-US" sz="1600" b="1" dirty="0"/>
              <a:t>19.8 million deaths (85%) were due to heart attack and stroke</a:t>
            </a:r>
            <a:r>
              <a:rPr lang="en-US" sz="1600" dirty="0"/>
              <a:t> (WHO, 2024).</a:t>
            </a:r>
            <a:endParaRPr lang="en-US" sz="1600" dirty="0">
              <a:ea typeface="Calibri"/>
              <a:cs typeface="Calibri"/>
            </a:endParaRPr>
          </a:p>
          <a:p>
            <a:pPr marL="0" indent="0" algn="just">
              <a:lnSpc>
                <a:spcPct val="90000"/>
              </a:lnSpc>
              <a:buNone/>
            </a:pPr>
            <a:r>
              <a:rPr lang="en-US" sz="1600" b="1" dirty="0"/>
              <a:t>Problem Statement and Justification:</a:t>
            </a:r>
            <a:endParaRPr lang="en-US" sz="1600" b="1" dirty="0">
              <a:ea typeface="Calibri"/>
              <a:cs typeface="Calibri"/>
            </a:endParaRPr>
          </a:p>
          <a:p>
            <a:pPr algn="just">
              <a:lnSpc>
                <a:spcPct val="90000"/>
              </a:lnSpc>
              <a:buFont typeface="Arial" panose="020B0604020202020204" pitchFamily="34" charset="0"/>
              <a:buChar char="•"/>
            </a:pPr>
            <a:r>
              <a:rPr lang="en-US" sz="1600" i="1" dirty="0"/>
              <a:t>The greatest burden is in low- and middle- income countries such as Uganda with </a:t>
            </a:r>
            <a:r>
              <a:rPr lang="en-US" sz="1600" dirty="0"/>
              <a:t>where CVDs contribute to approximately 10% of premature deaths (ages 30-70 years) </a:t>
            </a:r>
            <a:r>
              <a:rPr lang="en-US" sz="1600" i="1" dirty="0"/>
              <a:t>(</a:t>
            </a:r>
            <a:r>
              <a:rPr lang="en-US" sz="1600" dirty="0"/>
              <a:t>Okello, E., 2020)</a:t>
            </a:r>
            <a:r>
              <a:rPr lang="en-US" sz="1600" i="1" dirty="0"/>
              <a:t> .</a:t>
            </a:r>
            <a:endParaRPr lang="en-US" sz="1600" i="1" dirty="0">
              <a:ea typeface="Calibri"/>
              <a:cs typeface="Calibri"/>
            </a:endParaRPr>
          </a:p>
          <a:p>
            <a:pPr marL="0" indent="0" algn="just">
              <a:lnSpc>
                <a:spcPct val="90000"/>
              </a:lnSpc>
              <a:buNone/>
            </a:pPr>
            <a:r>
              <a:rPr lang="en-US" sz="1600" b="1" i="1" dirty="0"/>
              <a:t>Motivation:</a:t>
            </a:r>
            <a:endParaRPr lang="en-US" sz="1600" b="1" i="1" dirty="0">
              <a:ea typeface="Calibri"/>
              <a:cs typeface="Calibri"/>
            </a:endParaRPr>
          </a:p>
          <a:p>
            <a:pPr algn="just">
              <a:lnSpc>
                <a:spcPct val="90000"/>
              </a:lnSpc>
            </a:pPr>
            <a:r>
              <a:rPr lang="en-US" sz="1600" dirty="0"/>
              <a:t>Existing risk scores (Traditional tools) such as Framingham, QRISK struggle with complex clinical interactions between lifestyle, clinical and demographic factors.</a:t>
            </a:r>
            <a:endParaRPr lang="en-US" sz="1600" dirty="0">
              <a:ea typeface="Calibri"/>
              <a:cs typeface="Calibri"/>
            </a:endParaRPr>
          </a:p>
        </p:txBody>
      </p:sp>
      <p:pic>
        <p:nvPicPr>
          <p:cNvPr id="4" name="Picture 3" descr="Grandpa Grandfather Old Senior Adult Men Images | Free Photos, PNG ...">
            <a:extLst>
              <a:ext uri="{FF2B5EF4-FFF2-40B4-BE49-F238E27FC236}">
                <a16:creationId xmlns:a16="http://schemas.microsoft.com/office/drawing/2014/main" id="{A9A5E6B6-BCC2-F293-12D5-26CACA5F6BAB}"/>
              </a:ext>
            </a:extLst>
          </p:cNvPr>
          <p:cNvPicPr>
            <a:picLocks noChangeAspect="1"/>
          </p:cNvPicPr>
          <p:nvPr/>
        </p:nvPicPr>
        <p:blipFill>
          <a:blip r:embed="rId3"/>
          <a:srcRect l="37322" r="18127" b="-2"/>
          <a:stretch>
            <a:fillRect/>
          </a:stretch>
        </p:blipFill>
        <p:spPr>
          <a:xfrm>
            <a:off x="4572000" y="1"/>
            <a:ext cx="4577118" cy="6858000"/>
          </a:xfrm>
          <a:prstGeom prst="rect">
            <a:avLst/>
          </a:prstGeom>
        </p:spPr>
      </p:pic>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52452" y="350196"/>
            <a:ext cx="4275103" cy="1624520"/>
          </a:xfrm>
        </p:spPr>
        <p:txBody>
          <a:bodyPr anchor="ctr">
            <a:normAutofit/>
          </a:bodyPr>
          <a:lstStyle/>
          <a:p>
            <a:r>
              <a:rPr lang="en-US" sz="3500" b="1" dirty="0"/>
              <a:t>Goal and Objectives</a:t>
            </a:r>
            <a:endParaRPr lang="en-US" sz="3500" dirty="0"/>
          </a:p>
        </p:txBody>
      </p:sp>
      <p:sp>
        <p:nvSpPr>
          <p:cNvPr id="3" name="Content Placeholder 2"/>
          <p:cNvSpPr>
            <a:spLocks noGrp="1"/>
          </p:cNvSpPr>
          <p:nvPr>
            <p:ph idx="1"/>
          </p:nvPr>
        </p:nvSpPr>
        <p:spPr>
          <a:xfrm>
            <a:off x="140482" y="2324912"/>
            <a:ext cx="4287074" cy="4412219"/>
          </a:xfrm>
        </p:spPr>
        <p:txBody>
          <a:bodyPr vert="horz" lIns="91440" tIns="45720" rIns="91440" bIns="45720" rtlCol="0" anchor="ctr">
            <a:noAutofit/>
          </a:bodyPr>
          <a:lstStyle/>
          <a:p>
            <a:pPr marL="0" indent="0" algn="just">
              <a:lnSpc>
                <a:spcPct val="90000"/>
              </a:lnSpc>
              <a:buNone/>
            </a:pPr>
            <a:r>
              <a:rPr lang="en-US" sz="1600" b="1" dirty="0"/>
              <a:t>Project Goal: </a:t>
            </a:r>
            <a:r>
              <a:rPr lang="en-US" sz="1600" dirty="0"/>
              <a:t>Develop a Machine Learning-based predictive model capable to enhance 10-year cardiovascular risk prediction, timely preventive care and support data-informed clinical decision-making.</a:t>
            </a:r>
            <a:endParaRPr lang="en-US" sz="1600" dirty="0">
              <a:ea typeface="Calibri"/>
              <a:cs typeface="Calibri"/>
            </a:endParaRPr>
          </a:p>
          <a:p>
            <a:pPr marL="0" indent="0" algn="just">
              <a:lnSpc>
                <a:spcPct val="90000"/>
              </a:lnSpc>
              <a:buNone/>
            </a:pPr>
            <a:endParaRPr lang="en-US" sz="1600" dirty="0">
              <a:ea typeface="Calibri"/>
              <a:cs typeface="Calibri"/>
            </a:endParaRPr>
          </a:p>
          <a:p>
            <a:pPr marL="0" indent="0" algn="just">
              <a:lnSpc>
                <a:spcPct val="90000"/>
              </a:lnSpc>
              <a:buNone/>
            </a:pPr>
            <a:r>
              <a:rPr lang="en-US" sz="1600" b="1" dirty="0"/>
              <a:t>Project specific objectives aim to: </a:t>
            </a:r>
            <a:endParaRPr lang="en-US" sz="1600" b="1" dirty="0">
              <a:ea typeface="Calibri"/>
              <a:cs typeface="Calibri"/>
            </a:endParaRPr>
          </a:p>
          <a:p>
            <a:pPr marL="514350" indent="-514350" algn="just">
              <a:lnSpc>
                <a:spcPct val="90000"/>
              </a:lnSpc>
              <a:buFont typeface="+mj-lt"/>
              <a:buAutoNum type="arabicParenR"/>
            </a:pPr>
            <a:r>
              <a:rPr lang="en-US" sz="1600" dirty="0"/>
              <a:t>Predict whether a person will experience a </a:t>
            </a:r>
            <a:r>
              <a:rPr lang="en-US" sz="1600" b="1" dirty="0"/>
              <a:t>heart attack or stroke</a:t>
            </a:r>
            <a:r>
              <a:rPr lang="en-US" sz="1600" dirty="0"/>
              <a:t> within the next 10 years.</a:t>
            </a:r>
            <a:endParaRPr lang="en-US" sz="1600" dirty="0">
              <a:ea typeface="Calibri"/>
              <a:cs typeface="Calibri"/>
            </a:endParaRPr>
          </a:p>
          <a:p>
            <a:pPr marL="514350" indent="-514350" algn="just">
              <a:lnSpc>
                <a:spcPct val="90000"/>
              </a:lnSpc>
              <a:buFont typeface="+mj-lt"/>
              <a:buAutoNum type="arabicParenR"/>
            </a:pPr>
            <a:r>
              <a:rPr lang="en-US" sz="1600" dirty="0"/>
              <a:t>To identify the most relevant demographic, clinical, and lifestyle predictors associated with 10-year cardiovascular risk.</a:t>
            </a:r>
            <a:endParaRPr lang="en-US" sz="1600" dirty="0">
              <a:ea typeface="Calibri"/>
              <a:cs typeface="Calibri"/>
            </a:endParaRPr>
          </a:p>
          <a:p>
            <a:pPr marL="514350" indent="-514350" algn="just">
              <a:lnSpc>
                <a:spcPct val="90000"/>
              </a:lnSpc>
              <a:buFont typeface="+mj-lt"/>
              <a:buAutoNum type="arabicParenR"/>
            </a:pPr>
            <a:r>
              <a:rPr lang="en-US" sz="1600" dirty="0"/>
              <a:t>To develop and evaluate classical ML models (Logistic Regression, Random Forest, KNN) for CVD risk prediction.</a:t>
            </a:r>
            <a:endParaRPr lang="en-US" sz="1600" dirty="0">
              <a:ea typeface="Calibri"/>
              <a:cs typeface="Calibri"/>
            </a:endParaRPr>
          </a:p>
          <a:p>
            <a:pPr marL="514350" indent="-514350" algn="just">
              <a:lnSpc>
                <a:spcPct val="90000"/>
              </a:lnSpc>
              <a:buFont typeface="+mj-lt"/>
              <a:buAutoNum type="arabicParenR"/>
            </a:pPr>
            <a:r>
              <a:rPr lang="en-US" sz="1600" dirty="0"/>
              <a:t>To design and train a neural network capable of capturing complex, non-linear risk patterns.</a:t>
            </a:r>
            <a:endParaRPr lang="en-US" sz="1600" dirty="0">
              <a:ea typeface="Calibri"/>
              <a:cs typeface="Calibri"/>
            </a:endParaRPr>
          </a:p>
        </p:txBody>
      </p:sp>
      <p:pic>
        <p:nvPicPr>
          <p:cNvPr id="4" name="Picture 3" descr="A person helping a person climb a rock&#10;&#10;AI-generated content may be incorrect.">
            <a:extLst>
              <a:ext uri="{FF2B5EF4-FFF2-40B4-BE49-F238E27FC236}">
                <a16:creationId xmlns:a16="http://schemas.microsoft.com/office/drawing/2014/main" id="{13F2B6D5-A782-DAD3-456A-45F44372F427}"/>
              </a:ext>
            </a:extLst>
          </p:cNvPr>
          <p:cNvPicPr>
            <a:picLocks noChangeAspect="1"/>
          </p:cNvPicPr>
          <p:nvPr/>
        </p:nvPicPr>
        <p:blipFill>
          <a:blip r:embed="rId2"/>
          <a:srcRect l="12719" r="42731" b="-2"/>
          <a:stretch>
            <a:fillRect/>
          </a:stretch>
        </p:blipFill>
        <p:spPr>
          <a:xfrm>
            <a:off x="4572000" y="1"/>
            <a:ext cx="4577118"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B39A1F5A-E57E-4178-8F57-A18DC747E5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718713" cy="5097980"/>
          </a:xfrm>
          <a:custGeom>
            <a:avLst/>
            <a:gdLst>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516105 w 6530408"/>
              <a:gd name="connsiteY8" fmla="*/ 476071 h 5753325"/>
              <a:gd name="connsiteX9" fmla="*/ 6488360 w 6530408"/>
              <a:gd name="connsiteY9" fmla="*/ 535865 h 5753325"/>
              <a:gd name="connsiteX10" fmla="*/ 6492864 w 6530408"/>
              <a:gd name="connsiteY10" fmla="*/ 615799 h 5753325"/>
              <a:gd name="connsiteX11" fmla="*/ 6459988 w 6530408"/>
              <a:gd name="connsiteY11" fmla="*/ 707628 h 5753325"/>
              <a:gd name="connsiteX12" fmla="*/ 6453989 w 6530408"/>
              <a:gd name="connsiteY12" fmla="*/ 711876 h 5753325"/>
              <a:gd name="connsiteX13" fmla="*/ 6453209 w 6530408"/>
              <a:gd name="connsiteY13" fmla="*/ 719127 h 5753325"/>
              <a:gd name="connsiteX14" fmla="*/ 6457662 w 6530408"/>
              <a:gd name="connsiteY14" fmla="*/ 723331 h 5753325"/>
              <a:gd name="connsiteX15" fmla="*/ 6447445 w 6530408"/>
              <a:gd name="connsiteY15" fmla="*/ 780003 h 5753325"/>
              <a:gd name="connsiteX16" fmla="*/ 6426552 w 6530408"/>
              <a:gd name="connsiteY16" fmla="*/ 845805 h 5753325"/>
              <a:gd name="connsiteX17" fmla="*/ 6434072 w 6530408"/>
              <a:gd name="connsiteY17" fmla="*/ 910733 h 5753325"/>
              <a:gd name="connsiteX18" fmla="*/ 6432570 w 6530408"/>
              <a:gd name="connsiteY18" fmla="*/ 983394 h 5753325"/>
              <a:gd name="connsiteX19" fmla="*/ 6431878 w 6530408"/>
              <a:gd name="connsiteY19" fmla="*/ 1026728 h 5753325"/>
              <a:gd name="connsiteX20" fmla="*/ 6414269 w 6530408"/>
              <a:gd name="connsiteY20" fmla="*/ 1151111 h 5753325"/>
              <a:gd name="connsiteX21" fmla="*/ 6371722 w 6530408"/>
              <a:gd name="connsiteY21" fmla="*/ 1318080 h 5753325"/>
              <a:gd name="connsiteX22" fmla="*/ 6356023 w 6530408"/>
              <a:gd name="connsiteY22" fmla="*/ 1356227 h 5753325"/>
              <a:gd name="connsiteX23" fmla="*/ 6356157 w 6530408"/>
              <a:gd name="connsiteY23" fmla="*/ 1361967 h 5753325"/>
              <a:gd name="connsiteX24" fmla="*/ 6350613 w 6530408"/>
              <a:gd name="connsiteY24" fmla="*/ 1393569 h 5753325"/>
              <a:gd name="connsiteX25" fmla="*/ 6357062 w 6530408"/>
              <a:gd name="connsiteY25" fmla="*/ 1444071 h 5753325"/>
              <a:gd name="connsiteX26" fmla="*/ 6364832 w 6530408"/>
              <a:gd name="connsiteY26" fmla="*/ 1478763 h 5753325"/>
              <a:gd name="connsiteX27" fmla="*/ 6369745 w 6530408"/>
              <a:gd name="connsiteY27" fmla="*/ 1495680 h 5753325"/>
              <a:gd name="connsiteX28" fmla="*/ 6370898 w 6530408"/>
              <a:gd name="connsiteY28" fmla="*/ 1513331 h 5753325"/>
              <a:gd name="connsiteX29" fmla="*/ 6368801 w 6530408"/>
              <a:gd name="connsiteY29" fmla="*/ 1527414 h 5753325"/>
              <a:gd name="connsiteX30" fmla="*/ 6359177 w 6530408"/>
              <a:gd name="connsiteY30" fmla="*/ 1639513 h 5753325"/>
              <a:gd name="connsiteX31" fmla="*/ 6299489 w 6530408"/>
              <a:gd name="connsiteY31" fmla="*/ 1784860 h 5753325"/>
              <a:gd name="connsiteX32" fmla="*/ 6267878 w 6530408"/>
              <a:gd name="connsiteY32" fmla="*/ 1858572 h 5753325"/>
              <a:gd name="connsiteX33" fmla="*/ 6251146 w 6530408"/>
              <a:gd name="connsiteY33" fmla="*/ 1926167 h 5753325"/>
              <a:gd name="connsiteX34" fmla="*/ 6210686 w 6530408"/>
              <a:gd name="connsiteY34" fmla="*/ 2014834 h 5753325"/>
              <a:gd name="connsiteX35" fmla="*/ 6106652 w 6530408"/>
              <a:gd name="connsiteY35" fmla="*/ 2150572 h 5753325"/>
              <a:gd name="connsiteX36" fmla="*/ 6097813 w 6530408"/>
              <a:gd name="connsiteY36" fmla="*/ 2172208 h 5753325"/>
              <a:gd name="connsiteX37" fmla="*/ 6095990 w 6530408"/>
              <a:gd name="connsiteY37" fmla="*/ 2181185 h 5753325"/>
              <a:gd name="connsiteX38" fmla="*/ 6090126 w 6530408"/>
              <a:gd name="connsiteY38" fmla="*/ 2192533 h 5753325"/>
              <a:gd name="connsiteX39" fmla="*/ 6089503 w 6530408"/>
              <a:gd name="connsiteY39" fmla="*/ 2192543 h 5753325"/>
              <a:gd name="connsiteX40" fmla="*/ 6084946 w 6530408"/>
              <a:gd name="connsiteY40" fmla="*/ 2203694 h 5753325"/>
              <a:gd name="connsiteX41" fmla="*/ 5987861 w 6530408"/>
              <a:gd name="connsiteY41" fmla="*/ 2304868 h 5753325"/>
              <a:gd name="connsiteX42" fmla="*/ 5973439 w 6530408"/>
              <a:gd name="connsiteY42" fmla="*/ 2385635 h 5753325"/>
              <a:gd name="connsiteX43" fmla="*/ 5916727 w 6530408"/>
              <a:gd name="connsiteY43" fmla="*/ 2458777 h 5753325"/>
              <a:gd name="connsiteX44" fmla="*/ 5856524 w 6530408"/>
              <a:gd name="connsiteY44" fmla="*/ 2583281 h 5753325"/>
              <a:gd name="connsiteX45" fmla="*/ 5838091 w 6530408"/>
              <a:gd name="connsiteY45" fmla="*/ 2753474 h 5753325"/>
              <a:gd name="connsiteX46" fmla="*/ 5777471 w 6530408"/>
              <a:gd name="connsiteY46" fmla="*/ 2901570 h 5753325"/>
              <a:gd name="connsiteX47" fmla="*/ 5723992 w 6530408"/>
              <a:gd name="connsiteY47" fmla="*/ 2998752 h 5753325"/>
              <a:gd name="connsiteX48" fmla="*/ 5557886 w 6530408"/>
              <a:gd name="connsiteY48" fmla="*/ 3329735 h 5753325"/>
              <a:gd name="connsiteX49" fmla="*/ 5471501 w 6530408"/>
              <a:gd name="connsiteY49" fmla="*/ 3462221 h 5753325"/>
              <a:gd name="connsiteX50" fmla="*/ 5465154 w 6530408"/>
              <a:gd name="connsiteY50" fmla="*/ 3541065 h 5753325"/>
              <a:gd name="connsiteX51" fmla="*/ 5437889 w 6530408"/>
              <a:gd name="connsiteY51" fmla="*/ 3559927 h 5753325"/>
              <a:gd name="connsiteX52" fmla="*/ 5432770 w 6530408"/>
              <a:gd name="connsiteY52" fmla="*/ 3562948 h 5753325"/>
              <a:gd name="connsiteX53" fmla="*/ 5406795 w 6530408"/>
              <a:gd name="connsiteY53" fmla="*/ 3578594 h 5753325"/>
              <a:gd name="connsiteX54" fmla="*/ 5381495 w 6530408"/>
              <a:gd name="connsiteY54" fmla="*/ 3599883 h 5753325"/>
              <a:gd name="connsiteX55" fmla="*/ 5363689 w 6530408"/>
              <a:gd name="connsiteY55" fmla="*/ 3633299 h 5753325"/>
              <a:gd name="connsiteX56" fmla="*/ 5291870 w 6530408"/>
              <a:gd name="connsiteY56" fmla="*/ 3799039 h 5753325"/>
              <a:gd name="connsiteX57" fmla="*/ 5241600 w 6530408"/>
              <a:gd name="connsiteY57" fmla="*/ 3894238 h 5753325"/>
              <a:gd name="connsiteX58" fmla="*/ 5211041 w 6530408"/>
              <a:gd name="connsiteY58" fmla="*/ 3924184 h 5753325"/>
              <a:gd name="connsiteX59" fmla="*/ 5176073 w 6530408"/>
              <a:gd name="connsiteY59" fmla="*/ 3970179 h 5753325"/>
              <a:gd name="connsiteX60" fmla="*/ 5172826 w 6530408"/>
              <a:gd name="connsiteY60" fmla="*/ 3991773 h 5753325"/>
              <a:gd name="connsiteX61" fmla="*/ 5157053 w 6530408"/>
              <a:gd name="connsiteY61" fmla="*/ 3997708 h 5753325"/>
              <a:gd name="connsiteX62" fmla="*/ 5127922 w 6530408"/>
              <a:gd name="connsiteY62" fmla="*/ 4022660 h 5753325"/>
              <a:gd name="connsiteX63" fmla="*/ 5020872 w 6530408"/>
              <a:gd name="connsiteY63" fmla="*/ 4075951 h 5753325"/>
              <a:gd name="connsiteX64" fmla="*/ 4991410 w 6530408"/>
              <a:gd name="connsiteY64" fmla="*/ 4087598 h 5753325"/>
              <a:gd name="connsiteX65" fmla="*/ 4930112 w 6530408"/>
              <a:gd name="connsiteY65" fmla="*/ 4138459 h 5753325"/>
              <a:gd name="connsiteX66" fmla="*/ 4834224 w 6530408"/>
              <a:gd name="connsiteY66" fmla="*/ 4231643 h 5753325"/>
              <a:gd name="connsiteX67" fmla="*/ 4812599 w 6530408"/>
              <a:gd name="connsiteY67" fmla="*/ 4249449 h 5753325"/>
              <a:gd name="connsiteX68" fmla="*/ 4789188 w 6530408"/>
              <a:gd name="connsiteY68" fmla="*/ 4256678 h 5753325"/>
              <a:gd name="connsiteX69" fmla="*/ 4779554 w 6530408"/>
              <a:gd name="connsiteY69" fmla="*/ 4251313 h 5753325"/>
              <a:gd name="connsiteX70" fmla="*/ 4766885 w 6530408"/>
              <a:gd name="connsiteY70" fmla="*/ 4259812 h 5753325"/>
              <a:gd name="connsiteX71" fmla="*/ 4762510 w 6530408"/>
              <a:gd name="connsiteY71" fmla="*/ 4260383 h 5753325"/>
              <a:gd name="connsiteX72" fmla="*/ 4738416 w 6530408"/>
              <a:gd name="connsiteY72" fmla="*/ 4265355 h 5753325"/>
              <a:gd name="connsiteX73" fmla="*/ 4712007 w 6530408"/>
              <a:gd name="connsiteY73" fmla="*/ 4317892 h 5753325"/>
              <a:gd name="connsiteX74" fmla="*/ 4658930 w 6530408"/>
              <a:gd name="connsiteY74" fmla="*/ 4348041 h 5753325"/>
              <a:gd name="connsiteX75" fmla="*/ 4443526 w 6530408"/>
              <a:gd name="connsiteY75" fmla="*/ 4507851 h 5753325"/>
              <a:gd name="connsiteX76" fmla="*/ 4289766 w 6530408"/>
              <a:gd name="connsiteY76" fmla="*/ 4711450 h 5753325"/>
              <a:gd name="connsiteX77" fmla="*/ 4150870 w 6530408"/>
              <a:gd name="connsiteY77" fmla="*/ 4818480 h 5753325"/>
              <a:gd name="connsiteX78" fmla="*/ 4006639 w 6530408"/>
              <a:gd name="connsiteY78" fmla="*/ 4933815 h 5753325"/>
              <a:gd name="connsiteX79" fmla="*/ 3298210 w 6530408"/>
              <a:gd name="connsiteY79" fmla="*/ 5070790 h 5753325"/>
              <a:gd name="connsiteX80" fmla="*/ 2947678 w 6530408"/>
              <a:gd name="connsiteY80" fmla="*/ 5117869 h 5753325"/>
              <a:gd name="connsiteX81" fmla="*/ 2822169 w 6530408"/>
              <a:gd name="connsiteY81" fmla="*/ 5129396 h 5753325"/>
              <a:gd name="connsiteX82" fmla="*/ 2538773 w 6530408"/>
              <a:gd name="connsiteY82" fmla="*/ 5313397 h 5753325"/>
              <a:gd name="connsiteX83" fmla="*/ 2014500 w 6530408"/>
              <a:gd name="connsiteY83" fmla="*/ 5519744 h 5753325"/>
              <a:gd name="connsiteX84" fmla="*/ 1934391 w 6530408"/>
              <a:gd name="connsiteY84" fmla="*/ 5591335 h 5753325"/>
              <a:gd name="connsiteX85" fmla="*/ 1892550 w 6530408"/>
              <a:gd name="connsiteY85" fmla="*/ 5649708 h 5753325"/>
              <a:gd name="connsiteX86" fmla="*/ 1854769 w 6530408"/>
              <a:gd name="connsiteY86" fmla="*/ 5647691 h 5753325"/>
              <a:gd name="connsiteX87" fmla="*/ 1809461 w 6530408"/>
              <a:gd name="connsiteY87" fmla="*/ 5648628 h 5753325"/>
              <a:gd name="connsiteX88" fmla="*/ 1745150 w 6530408"/>
              <a:gd name="connsiteY88" fmla="*/ 5693879 h 5753325"/>
              <a:gd name="connsiteX89" fmla="*/ 1713375 w 6530408"/>
              <a:gd name="connsiteY89" fmla="*/ 5684672 h 5753325"/>
              <a:gd name="connsiteX90" fmla="*/ 1707808 w 6530408"/>
              <a:gd name="connsiteY90" fmla="*/ 5682611 h 5753325"/>
              <a:gd name="connsiteX91" fmla="*/ 1679313 w 6530408"/>
              <a:gd name="connsiteY91" fmla="*/ 5672360 h 5753325"/>
              <a:gd name="connsiteX92" fmla="*/ 1646933 w 6530408"/>
              <a:gd name="connsiteY92" fmla="*/ 5666227 h 5753325"/>
              <a:gd name="connsiteX93" fmla="*/ 1610055 w 6530408"/>
              <a:gd name="connsiteY93" fmla="*/ 5673643 h 5753325"/>
              <a:gd name="connsiteX94" fmla="*/ 1437641 w 6530408"/>
              <a:gd name="connsiteY94" fmla="*/ 5723266 h 5753325"/>
              <a:gd name="connsiteX95" fmla="*/ 1332869 w 6530408"/>
              <a:gd name="connsiteY95" fmla="*/ 5744752 h 5753325"/>
              <a:gd name="connsiteX96" fmla="*/ 1290525 w 6530408"/>
              <a:gd name="connsiteY96" fmla="*/ 5740036 h 5753325"/>
              <a:gd name="connsiteX97" fmla="*/ 1233107 w 6530408"/>
              <a:gd name="connsiteY97" fmla="*/ 5742106 h 5753325"/>
              <a:gd name="connsiteX98" fmla="*/ 1214532 w 6530408"/>
              <a:gd name="connsiteY98" fmla="*/ 5753325 h 5753325"/>
              <a:gd name="connsiteX99" fmla="*/ 1199955 w 6530408"/>
              <a:gd name="connsiteY99" fmla="*/ 5744831 h 5753325"/>
              <a:gd name="connsiteX100" fmla="*/ 1162337 w 6530408"/>
              <a:gd name="connsiteY100" fmla="*/ 5738048 h 5753325"/>
              <a:gd name="connsiteX101" fmla="*/ 1053457 w 6530408"/>
              <a:gd name="connsiteY101" fmla="*/ 5688676 h 5753325"/>
              <a:gd name="connsiteX102" fmla="*/ 1025798 w 6530408"/>
              <a:gd name="connsiteY102" fmla="*/ 5673166 h 5753325"/>
              <a:gd name="connsiteX103" fmla="*/ 947900 w 6530408"/>
              <a:gd name="connsiteY103" fmla="*/ 5657848 h 5753325"/>
              <a:gd name="connsiteX104" fmla="*/ 815627 w 6530408"/>
              <a:gd name="connsiteY104" fmla="*/ 5642557 h 5753325"/>
              <a:gd name="connsiteX105" fmla="*/ 788251 w 6530408"/>
              <a:gd name="connsiteY105" fmla="*/ 5637065 h 5753325"/>
              <a:gd name="connsiteX106" fmla="*/ 767822 w 6530408"/>
              <a:gd name="connsiteY106" fmla="*/ 5623450 h 5753325"/>
              <a:gd name="connsiteX107" fmla="*/ 765791 w 6530408"/>
              <a:gd name="connsiteY107" fmla="*/ 5612539 h 5753325"/>
              <a:gd name="connsiteX108" fmla="*/ 751230 w 6530408"/>
              <a:gd name="connsiteY108" fmla="*/ 5608092 h 5753325"/>
              <a:gd name="connsiteX109" fmla="*/ 748008 w 6530408"/>
              <a:gd name="connsiteY109" fmla="*/ 5605052 h 5753325"/>
              <a:gd name="connsiteX110" fmla="*/ 728871 w 6530408"/>
              <a:gd name="connsiteY110" fmla="*/ 5589469 h 5753325"/>
              <a:gd name="connsiteX111" fmla="*/ 671898 w 6530408"/>
              <a:gd name="connsiteY111" fmla="*/ 5602363 h 5753325"/>
              <a:gd name="connsiteX112" fmla="*/ 615065 w 6530408"/>
              <a:gd name="connsiteY112" fmla="*/ 5580257 h 5753325"/>
              <a:gd name="connsiteX113" fmla="*/ 355785 w 6530408"/>
              <a:gd name="connsiteY113" fmla="*/ 5514383 h 5753325"/>
              <a:gd name="connsiteX114" fmla="*/ 102269 w 6530408"/>
              <a:gd name="connsiteY114" fmla="*/ 5524347 h 5753325"/>
              <a:gd name="connsiteX115" fmla="*/ 13160 w 6530408"/>
              <a:gd name="connsiteY115" fmla="*/ 5514159 h 5753325"/>
              <a:gd name="connsiteX116" fmla="*/ 0 w 6530408"/>
              <a:gd name="connsiteY116" fmla="*/ 5511735 h 5753325"/>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488360 w 6530408"/>
              <a:gd name="connsiteY8" fmla="*/ 535865 h 5753325"/>
              <a:gd name="connsiteX9" fmla="*/ 6492864 w 6530408"/>
              <a:gd name="connsiteY9" fmla="*/ 615799 h 5753325"/>
              <a:gd name="connsiteX10" fmla="*/ 6459988 w 6530408"/>
              <a:gd name="connsiteY10" fmla="*/ 707628 h 5753325"/>
              <a:gd name="connsiteX11" fmla="*/ 6453989 w 6530408"/>
              <a:gd name="connsiteY11" fmla="*/ 711876 h 5753325"/>
              <a:gd name="connsiteX12" fmla="*/ 6453209 w 6530408"/>
              <a:gd name="connsiteY12" fmla="*/ 719127 h 5753325"/>
              <a:gd name="connsiteX13" fmla="*/ 6457662 w 6530408"/>
              <a:gd name="connsiteY13" fmla="*/ 723331 h 5753325"/>
              <a:gd name="connsiteX14" fmla="*/ 6447445 w 6530408"/>
              <a:gd name="connsiteY14" fmla="*/ 780003 h 5753325"/>
              <a:gd name="connsiteX15" fmla="*/ 6426552 w 6530408"/>
              <a:gd name="connsiteY15" fmla="*/ 845805 h 5753325"/>
              <a:gd name="connsiteX16" fmla="*/ 6434072 w 6530408"/>
              <a:gd name="connsiteY16" fmla="*/ 910733 h 5753325"/>
              <a:gd name="connsiteX17" fmla="*/ 6432570 w 6530408"/>
              <a:gd name="connsiteY17" fmla="*/ 983394 h 5753325"/>
              <a:gd name="connsiteX18" fmla="*/ 6431878 w 6530408"/>
              <a:gd name="connsiteY18" fmla="*/ 1026728 h 5753325"/>
              <a:gd name="connsiteX19" fmla="*/ 6414269 w 6530408"/>
              <a:gd name="connsiteY19" fmla="*/ 1151111 h 5753325"/>
              <a:gd name="connsiteX20" fmla="*/ 6371722 w 6530408"/>
              <a:gd name="connsiteY20" fmla="*/ 1318080 h 5753325"/>
              <a:gd name="connsiteX21" fmla="*/ 6356023 w 6530408"/>
              <a:gd name="connsiteY21" fmla="*/ 1356227 h 5753325"/>
              <a:gd name="connsiteX22" fmla="*/ 6356157 w 6530408"/>
              <a:gd name="connsiteY22" fmla="*/ 1361967 h 5753325"/>
              <a:gd name="connsiteX23" fmla="*/ 6350613 w 6530408"/>
              <a:gd name="connsiteY23" fmla="*/ 1393569 h 5753325"/>
              <a:gd name="connsiteX24" fmla="*/ 6357062 w 6530408"/>
              <a:gd name="connsiteY24" fmla="*/ 1444071 h 5753325"/>
              <a:gd name="connsiteX25" fmla="*/ 6364832 w 6530408"/>
              <a:gd name="connsiteY25" fmla="*/ 1478763 h 5753325"/>
              <a:gd name="connsiteX26" fmla="*/ 6369745 w 6530408"/>
              <a:gd name="connsiteY26" fmla="*/ 1495680 h 5753325"/>
              <a:gd name="connsiteX27" fmla="*/ 6370898 w 6530408"/>
              <a:gd name="connsiteY27" fmla="*/ 1513331 h 5753325"/>
              <a:gd name="connsiteX28" fmla="*/ 6368801 w 6530408"/>
              <a:gd name="connsiteY28" fmla="*/ 1527414 h 5753325"/>
              <a:gd name="connsiteX29" fmla="*/ 6359177 w 6530408"/>
              <a:gd name="connsiteY29" fmla="*/ 1639513 h 5753325"/>
              <a:gd name="connsiteX30" fmla="*/ 6299489 w 6530408"/>
              <a:gd name="connsiteY30" fmla="*/ 1784860 h 5753325"/>
              <a:gd name="connsiteX31" fmla="*/ 6267878 w 6530408"/>
              <a:gd name="connsiteY31" fmla="*/ 1858572 h 5753325"/>
              <a:gd name="connsiteX32" fmla="*/ 6251146 w 6530408"/>
              <a:gd name="connsiteY32" fmla="*/ 1926167 h 5753325"/>
              <a:gd name="connsiteX33" fmla="*/ 6210686 w 6530408"/>
              <a:gd name="connsiteY33" fmla="*/ 2014834 h 5753325"/>
              <a:gd name="connsiteX34" fmla="*/ 6106652 w 6530408"/>
              <a:gd name="connsiteY34" fmla="*/ 2150572 h 5753325"/>
              <a:gd name="connsiteX35" fmla="*/ 6097813 w 6530408"/>
              <a:gd name="connsiteY35" fmla="*/ 2172208 h 5753325"/>
              <a:gd name="connsiteX36" fmla="*/ 6095990 w 6530408"/>
              <a:gd name="connsiteY36" fmla="*/ 2181185 h 5753325"/>
              <a:gd name="connsiteX37" fmla="*/ 6090126 w 6530408"/>
              <a:gd name="connsiteY37" fmla="*/ 2192533 h 5753325"/>
              <a:gd name="connsiteX38" fmla="*/ 6089503 w 6530408"/>
              <a:gd name="connsiteY38" fmla="*/ 2192543 h 5753325"/>
              <a:gd name="connsiteX39" fmla="*/ 6084946 w 6530408"/>
              <a:gd name="connsiteY39" fmla="*/ 2203694 h 5753325"/>
              <a:gd name="connsiteX40" fmla="*/ 5987861 w 6530408"/>
              <a:gd name="connsiteY40" fmla="*/ 2304868 h 5753325"/>
              <a:gd name="connsiteX41" fmla="*/ 5973439 w 6530408"/>
              <a:gd name="connsiteY41" fmla="*/ 2385635 h 5753325"/>
              <a:gd name="connsiteX42" fmla="*/ 5916727 w 6530408"/>
              <a:gd name="connsiteY42" fmla="*/ 2458777 h 5753325"/>
              <a:gd name="connsiteX43" fmla="*/ 5856524 w 6530408"/>
              <a:gd name="connsiteY43" fmla="*/ 2583281 h 5753325"/>
              <a:gd name="connsiteX44" fmla="*/ 5838091 w 6530408"/>
              <a:gd name="connsiteY44" fmla="*/ 2753474 h 5753325"/>
              <a:gd name="connsiteX45" fmla="*/ 5777471 w 6530408"/>
              <a:gd name="connsiteY45" fmla="*/ 2901570 h 5753325"/>
              <a:gd name="connsiteX46" fmla="*/ 5723992 w 6530408"/>
              <a:gd name="connsiteY46" fmla="*/ 2998752 h 5753325"/>
              <a:gd name="connsiteX47" fmla="*/ 5557886 w 6530408"/>
              <a:gd name="connsiteY47" fmla="*/ 3329735 h 5753325"/>
              <a:gd name="connsiteX48" fmla="*/ 5471501 w 6530408"/>
              <a:gd name="connsiteY48" fmla="*/ 3462221 h 5753325"/>
              <a:gd name="connsiteX49" fmla="*/ 5465154 w 6530408"/>
              <a:gd name="connsiteY49" fmla="*/ 3541065 h 5753325"/>
              <a:gd name="connsiteX50" fmla="*/ 5437889 w 6530408"/>
              <a:gd name="connsiteY50" fmla="*/ 3559927 h 5753325"/>
              <a:gd name="connsiteX51" fmla="*/ 5432770 w 6530408"/>
              <a:gd name="connsiteY51" fmla="*/ 3562948 h 5753325"/>
              <a:gd name="connsiteX52" fmla="*/ 5406795 w 6530408"/>
              <a:gd name="connsiteY52" fmla="*/ 3578594 h 5753325"/>
              <a:gd name="connsiteX53" fmla="*/ 5381495 w 6530408"/>
              <a:gd name="connsiteY53" fmla="*/ 3599883 h 5753325"/>
              <a:gd name="connsiteX54" fmla="*/ 5363689 w 6530408"/>
              <a:gd name="connsiteY54" fmla="*/ 3633299 h 5753325"/>
              <a:gd name="connsiteX55" fmla="*/ 5291870 w 6530408"/>
              <a:gd name="connsiteY55" fmla="*/ 3799039 h 5753325"/>
              <a:gd name="connsiteX56" fmla="*/ 5241600 w 6530408"/>
              <a:gd name="connsiteY56" fmla="*/ 3894238 h 5753325"/>
              <a:gd name="connsiteX57" fmla="*/ 5211041 w 6530408"/>
              <a:gd name="connsiteY57" fmla="*/ 3924184 h 5753325"/>
              <a:gd name="connsiteX58" fmla="*/ 5176073 w 6530408"/>
              <a:gd name="connsiteY58" fmla="*/ 3970179 h 5753325"/>
              <a:gd name="connsiteX59" fmla="*/ 5172826 w 6530408"/>
              <a:gd name="connsiteY59" fmla="*/ 3991773 h 5753325"/>
              <a:gd name="connsiteX60" fmla="*/ 5157053 w 6530408"/>
              <a:gd name="connsiteY60" fmla="*/ 3997708 h 5753325"/>
              <a:gd name="connsiteX61" fmla="*/ 5127922 w 6530408"/>
              <a:gd name="connsiteY61" fmla="*/ 4022660 h 5753325"/>
              <a:gd name="connsiteX62" fmla="*/ 5020872 w 6530408"/>
              <a:gd name="connsiteY62" fmla="*/ 4075951 h 5753325"/>
              <a:gd name="connsiteX63" fmla="*/ 4991410 w 6530408"/>
              <a:gd name="connsiteY63" fmla="*/ 4087598 h 5753325"/>
              <a:gd name="connsiteX64" fmla="*/ 4930112 w 6530408"/>
              <a:gd name="connsiteY64" fmla="*/ 4138459 h 5753325"/>
              <a:gd name="connsiteX65" fmla="*/ 4834224 w 6530408"/>
              <a:gd name="connsiteY65" fmla="*/ 4231643 h 5753325"/>
              <a:gd name="connsiteX66" fmla="*/ 4812599 w 6530408"/>
              <a:gd name="connsiteY66" fmla="*/ 4249449 h 5753325"/>
              <a:gd name="connsiteX67" fmla="*/ 4789188 w 6530408"/>
              <a:gd name="connsiteY67" fmla="*/ 4256678 h 5753325"/>
              <a:gd name="connsiteX68" fmla="*/ 4779554 w 6530408"/>
              <a:gd name="connsiteY68" fmla="*/ 4251313 h 5753325"/>
              <a:gd name="connsiteX69" fmla="*/ 4766885 w 6530408"/>
              <a:gd name="connsiteY69" fmla="*/ 4259812 h 5753325"/>
              <a:gd name="connsiteX70" fmla="*/ 4762510 w 6530408"/>
              <a:gd name="connsiteY70" fmla="*/ 4260383 h 5753325"/>
              <a:gd name="connsiteX71" fmla="*/ 4738416 w 6530408"/>
              <a:gd name="connsiteY71" fmla="*/ 4265355 h 5753325"/>
              <a:gd name="connsiteX72" fmla="*/ 4712007 w 6530408"/>
              <a:gd name="connsiteY72" fmla="*/ 4317892 h 5753325"/>
              <a:gd name="connsiteX73" fmla="*/ 4658930 w 6530408"/>
              <a:gd name="connsiteY73" fmla="*/ 4348041 h 5753325"/>
              <a:gd name="connsiteX74" fmla="*/ 4443526 w 6530408"/>
              <a:gd name="connsiteY74" fmla="*/ 4507851 h 5753325"/>
              <a:gd name="connsiteX75" fmla="*/ 4289766 w 6530408"/>
              <a:gd name="connsiteY75" fmla="*/ 4711450 h 5753325"/>
              <a:gd name="connsiteX76" fmla="*/ 4150870 w 6530408"/>
              <a:gd name="connsiteY76" fmla="*/ 4818480 h 5753325"/>
              <a:gd name="connsiteX77" fmla="*/ 4006639 w 6530408"/>
              <a:gd name="connsiteY77" fmla="*/ 4933815 h 5753325"/>
              <a:gd name="connsiteX78" fmla="*/ 3298210 w 6530408"/>
              <a:gd name="connsiteY78" fmla="*/ 5070790 h 5753325"/>
              <a:gd name="connsiteX79" fmla="*/ 2947678 w 6530408"/>
              <a:gd name="connsiteY79" fmla="*/ 5117869 h 5753325"/>
              <a:gd name="connsiteX80" fmla="*/ 2822169 w 6530408"/>
              <a:gd name="connsiteY80" fmla="*/ 5129396 h 5753325"/>
              <a:gd name="connsiteX81" fmla="*/ 2538773 w 6530408"/>
              <a:gd name="connsiteY81" fmla="*/ 5313397 h 5753325"/>
              <a:gd name="connsiteX82" fmla="*/ 2014500 w 6530408"/>
              <a:gd name="connsiteY82" fmla="*/ 5519744 h 5753325"/>
              <a:gd name="connsiteX83" fmla="*/ 1934391 w 6530408"/>
              <a:gd name="connsiteY83" fmla="*/ 5591335 h 5753325"/>
              <a:gd name="connsiteX84" fmla="*/ 1892550 w 6530408"/>
              <a:gd name="connsiteY84" fmla="*/ 5649708 h 5753325"/>
              <a:gd name="connsiteX85" fmla="*/ 1854769 w 6530408"/>
              <a:gd name="connsiteY85" fmla="*/ 5647691 h 5753325"/>
              <a:gd name="connsiteX86" fmla="*/ 1809461 w 6530408"/>
              <a:gd name="connsiteY86" fmla="*/ 5648628 h 5753325"/>
              <a:gd name="connsiteX87" fmla="*/ 1745150 w 6530408"/>
              <a:gd name="connsiteY87" fmla="*/ 5693879 h 5753325"/>
              <a:gd name="connsiteX88" fmla="*/ 1713375 w 6530408"/>
              <a:gd name="connsiteY88" fmla="*/ 5684672 h 5753325"/>
              <a:gd name="connsiteX89" fmla="*/ 1707808 w 6530408"/>
              <a:gd name="connsiteY89" fmla="*/ 5682611 h 5753325"/>
              <a:gd name="connsiteX90" fmla="*/ 1679313 w 6530408"/>
              <a:gd name="connsiteY90" fmla="*/ 5672360 h 5753325"/>
              <a:gd name="connsiteX91" fmla="*/ 1646933 w 6530408"/>
              <a:gd name="connsiteY91" fmla="*/ 5666227 h 5753325"/>
              <a:gd name="connsiteX92" fmla="*/ 1610055 w 6530408"/>
              <a:gd name="connsiteY92" fmla="*/ 5673643 h 5753325"/>
              <a:gd name="connsiteX93" fmla="*/ 1437641 w 6530408"/>
              <a:gd name="connsiteY93" fmla="*/ 5723266 h 5753325"/>
              <a:gd name="connsiteX94" fmla="*/ 1332869 w 6530408"/>
              <a:gd name="connsiteY94" fmla="*/ 5744752 h 5753325"/>
              <a:gd name="connsiteX95" fmla="*/ 1290525 w 6530408"/>
              <a:gd name="connsiteY95" fmla="*/ 5740036 h 5753325"/>
              <a:gd name="connsiteX96" fmla="*/ 1233107 w 6530408"/>
              <a:gd name="connsiteY96" fmla="*/ 5742106 h 5753325"/>
              <a:gd name="connsiteX97" fmla="*/ 1214532 w 6530408"/>
              <a:gd name="connsiteY97" fmla="*/ 5753325 h 5753325"/>
              <a:gd name="connsiteX98" fmla="*/ 1199955 w 6530408"/>
              <a:gd name="connsiteY98" fmla="*/ 5744831 h 5753325"/>
              <a:gd name="connsiteX99" fmla="*/ 1162337 w 6530408"/>
              <a:gd name="connsiteY99" fmla="*/ 5738048 h 5753325"/>
              <a:gd name="connsiteX100" fmla="*/ 1053457 w 6530408"/>
              <a:gd name="connsiteY100" fmla="*/ 5688676 h 5753325"/>
              <a:gd name="connsiteX101" fmla="*/ 1025798 w 6530408"/>
              <a:gd name="connsiteY101" fmla="*/ 5673166 h 5753325"/>
              <a:gd name="connsiteX102" fmla="*/ 947900 w 6530408"/>
              <a:gd name="connsiteY102" fmla="*/ 5657848 h 5753325"/>
              <a:gd name="connsiteX103" fmla="*/ 815627 w 6530408"/>
              <a:gd name="connsiteY103" fmla="*/ 5642557 h 5753325"/>
              <a:gd name="connsiteX104" fmla="*/ 788251 w 6530408"/>
              <a:gd name="connsiteY104" fmla="*/ 5637065 h 5753325"/>
              <a:gd name="connsiteX105" fmla="*/ 767822 w 6530408"/>
              <a:gd name="connsiteY105" fmla="*/ 5623450 h 5753325"/>
              <a:gd name="connsiteX106" fmla="*/ 765791 w 6530408"/>
              <a:gd name="connsiteY106" fmla="*/ 5612539 h 5753325"/>
              <a:gd name="connsiteX107" fmla="*/ 751230 w 6530408"/>
              <a:gd name="connsiteY107" fmla="*/ 5608092 h 5753325"/>
              <a:gd name="connsiteX108" fmla="*/ 748008 w 6530408"/>
              <a:gd name="connsiteY108" fmla="*/ 5605052 h 5753325"/>
              <a:gd name="connsiteX109" fmla="*/ 728871 w 6530408"/>
              <a:gd name="connsiteY109" fmla="*/ 5589469 h 5753325"/>
              <a:gd name="connsiteX110" fmla="*/ 671898 w 6530408"/>
              <a:gd name="connsiteY110" fmla="*/ 5602363 h 5753325"/>
              <a:gd name="connsiteX111" fmla="*/ 615065 w 6530408"/>
              <a:gd name="connsiteY111" fmla="*/ 5580257 h 5753325"/>
              <a:gd name="connsiteX112" fmla="*/ 355785 w 6530408"/>
              <a:gd name="connsiteY112" fmla="*/ 5514383 h 5753325"/>
              <a:gd name="connsiteX113" fmla="*/ 102269 w 6530408"/>
              <a:gd name="connsiteY113" fmla="*/ 5524347 h 5753325"/>
              <a:gd name="connsiteX114" fmla="*/ 13160 w 6530408"/>
              <a:gd name="connsiteY114" fmla="*/ 5514159 h 5753325"/>
              <a:gd name="connsiteX115" fmla="*/ 0 w 6530408"/>
              <a:gd name="connsiteY115" fmla="*/ 5511735 h 5753325"/>
              <a:gd name="connsiteX116" fmla="*/ 0 w 6530408"/>
              <a:gd name="connsiteY116" fmla="*/ 0 h 5753325"/>
              <a:gd name="connsiteX0" fmla="*/ 0 w 6506836"/>
              <a:gd name="connsiteY0" fmla="*/ 0 h 5753325"/>
              <a:gd name="connsiteX1" fmla="*/ 6438980 w 6506836"/>
              <a:gd name="connsiteY1" fmla="*/ 0 h 5753325"/>
              <a:gd name="connsiteX2" fmla="*/ 6439047 w 6506836"/>
              <a:gd name="connsiteY2" fmla="*/ 147 h 5753325"/>
              <a:gd name="connsiteX3" fmla="*/ 6443456 w 6506836"/>
              <a:gd name="connsiteY3" fmla="*/ 130105 h 5753325"/>
              <a:gd name="connsiteX4" fmla="*/ 6447632 w 6506836"/>
              <a:gd name="connsiteY4" fmla="*/ 170016 h 5753325"/>
              <a:gd name="connsiteX5" fmla="*/ 6465936 w 6506836"/>
              <a:gd name="connsiteY5" fmla="*/ 274847 h 5753325"/>
              <a:gd name="connsiteX6" fmla="*/ 6506836 w 6506836"/>
              <a:gd name="connsiteY6" fmla="*/ 331778 h 5753325"/>
              <a:gd name="connsiteX7" fmla="*/ 6488360 w 6506836"/>
              <a:gd name="connsiteY7" fmla="*/ 535865 h 5753325"/>
              <a:gd name="connsiteX8" fmla="*/ 6492864 w 6506836"/>
              <a:gd name="connsiteY8" fmla="*/ 615799 h 5753325"/>
              <a:gd name="connsiteX9" fmla="*/ 6459988 w 6506836"/>
              <a:gd name="connsiteY9" fmla="*/ 707628 h 5753325"/>
              <a:gd name="connsiteX10" fmla="*/ 6453989 w 6506836"/>
              <a:gd name="connsiteY10" fmla="*/ 711876 h 5753325"/>
              <a:gd name="connsiteX11" fmla="*/ 6453209 w 6506836"/>
              <a:gd name="connsiteY11" fmla="*/ 719127 h 5753325"/>
              <a:gd name="connsiteX12" fmla="*/ 6457662 w 6506836"/>
              <a:gd name="connsiteY12" fmla="*/ 723331 h 5753325"/>
              <a:gd name="connsiteX13" fmla="*/ 6447445 w 6506836"/>
              <a:gd name="connsiteY13" fmla="*/ 780003 h 5753325"/>
              <a:gd name="connsiteX14" fmla="*/ 6426552 w 6506836"/>
              <a:gd name="connsiteY14" fmla="*/ 845805 h 5753325"/>
              <a:gd name="connsiteX15" fmla="*/ 6434072 w 6506836"/>
              <a:gd name="connsiteY15" fmla="*/ 910733 h 5753325"/>
              <a:gd name="connsiteX16" fmla="*/ 6432570 w 6506836"/>
              <a:gd name="connsiteY16" fmla="*/ 983394 h 5753325"/>
              <a:gd name="connsiteX17" fmla="*/ 6431878 w 6506836"/>
              <a:gd name="connsiteY17" fmla="*/ 1026728 h 5753325"/>
              <a:gd name="connsiteX18" fmla="*/ 6414269 w 6506836"/>
              <a:gd name="connsiteY18" fmla="*/ 1151111 h 5753325"/>
              <a:gd name="connsiteX19" fmla="*/ 6371722 w 6506836"/>
              <a:gd name="connsiteY19" fmla="*/ 1318080 h 5753325"/>
              <a:gd name="connsiteX20" fmla="*/ 6356023 w 6506836"/>
              <a:gd name="connsiteY20" fmla="*/ 1356227 h 5753325"/>
              <a:gd name="connsiteX21" fmla="*/ 6356157 w 6506836"/>
              <a:gd name="connsiteY21" fmla="*/ 1361967 h 5753325"/>
              <a:gd name="connsiteX22" fmla="*/ 6350613 w 6506836"/>
              <a:gd name="connsiteY22" fmla="*/ 1393569 h 5753325"/>
              <a:gd name="connsiteX23" fmla="*/ 6357062 w 6506836"/>
              <a:gd name="connsiteY23" fmla="*/ 1444071 h 5753325"/>
              <a:gd name="connsiteX24" fmla="*/ 6364832 w 6506836"/>
              <a:gd name="connsiteY24" fmla="*/ 1478763 h 5753325"/>
              <a:gd name="connsiteX25" fmla="*/ 6369745 w 6506836"/>
              <a:gd name="connsiteY25" fmla="*/ 1495680 h 5753325"/>
              <a:gd name="connsiteX26" fmla="*/ 6370898 w 6506836"/>
              <a:gd name="connsiteY26" fmla="*/ 1513331 h 5753325"/>
              <a:gd name="connsiteX27" fmla="*/ 6368801 w 6506836"/>
              <a:gd name="connsiteY27" fmla="*/ 1527414 h 5753325"/>
              <a:gd name="connsiteX28" fmla="*/ 6359177 w 6506836"/>
              <a:gd name="connsiteY28" fmla="*/ 1639513 h 5753325"/>
              <a:gd name="connsiteX29" fmla="*/ 6299489 w 6506836"/>
              <a:gd name="connsiteY29" fmla="*/ 1784860 h 5753325"/>
              <a:gd name="connsiteX30" fmla="*/ 6267878 w 6506836"/>
              <a:gd name="connsiteY30" fmla="*/ 1858572 h 5753325"/>
              <a:gd name="connsiteX31" fmla="*/ 6251146 w 6506836"/>
              <a:gd name="connsiteY31" fmla="*/ 1926167 h 5753325"/>
              <a:gd name="connsiteX32" fmla="*/ 6210686 w 6506836"/>
              <a:gd name="connsiteY32" fmla="*/ 2014834 h 5753325"/>
              <a:gd name="connsiteX33" fmla="*/ 6106652 w 6506836"/>
              <a:gd name="connsiteY33" fmla="*/ 2150572 h 5753325"/>
              <a:gd name="connsiteX34" fmla="*/ 6097813 w 6506836"/>
              <a:gd name="connsiteY34" fmla="*/ 2172208 h 5753325"/>
              <a:gd name="connsiteX35" fmla="*/ 6095990 w 6506836"/>
              <a:gd name="connsiteY35" fmla="*/ 2181185 h 5753325"/>
              <a:gd name="connsiteX36" fmla="*/ 6090126 w 6506836"/>
              <a:gd name="connsiteY36" fmla="*/ 2192533 h 5753325"/>
              <a:gd name="connsiteX37" fmla="*/ 6089503 w 6506836"/>
              <a:gd name="connsiteY37" fmla="*/ 2192543 h 5753325"/>
              <a:gd name="connsiteX38" fmla="*/ 6084946 w 6506836"/>
              <a:gd name="connsiteY38" fmla="*/ 2203694 h 5753325"/>
              <a:gd name="connsiteX39" fmla="*/ 5987861 w 6506836"/>
              <a:gd name="connsiteY39" fmla="*/ 2304868 h 5753325"/>
              <a:gd name="connsiteX40" fmla="*/ 5973439 w 6506836"/>
              <a:gd name="connsiteY40" fmla="*/ 2385635 h 5753325"/>
              <a:gd name="connsiteX41" fmla="*/ 5916727 w 6506836"/>
              <a:gd name="connsiteY41" fmla="*/ 2458777 h 5753325"/>
              <a:gd name="connsiteX42" fmla="*/ 5856524 w 6506836"/>
              <a:gd name="connsiteY42" fmla="*/ 2583281 h 5753325"/>
              <a:gd name="connsiteX43" fmla="*/ 5838091 w 6506836"/>
              <a:gd name="connsiteY43" fmla="*/ 2753474 h 5753325"/>
              <a:gd name="connsiteX44" fmla="*/ 5777471 w 6506836"/>
              <a:gd name="connsiteY44" fmla="*/ 2901570 h 5753325"/>
              <a:gd name="connsiteX45" fmla="*/ 5723992 w 6506836"/>
              <a:gd name="connsiteY45" fmla="*/ 2998752 h 5753325"/>
              <a:gd name="connsiteX46" fmla="*/ 5557886 w 6506836"/>
              <a:gd name="connsiteY46" fmla="*/ 3329735 h 5753325"/>
              <a:gd name="connsiteX47" fmla="*/ 5471501 w 6506836"/>
              <a:gd name="connsiteY47" fmla="*/ 3462221 h 5753325"/>
              <a:gd name="connsiteX48" fmla="*/ 5465154 w 6506836"/>
              <a:gd name="connsiteY48" fmla="*/ 3541065 h 5753325"/>
              <a:gd name="connsiteX49" fmla="*/ 5437889 w 6506836"/>
              <a:gd name="connsiteY49" fmla="*/ 3559927 h 5753325"/>
              <a:gd name="connsiteX50" fmla="*/ 5432770 w 6506836"/>
              <a:gd name="connsiteY50" fmla="*/ 3562948 h 5753325"/>
              <a:gd name="connsiteX51" fmla="*/ 5406795 w 6506836"/>
              <a:gd name="connsiteY51" fmla="*/ 3578594 h 5753325"/>
              <a:gd name="connsiteX52" fmla="*/ 5381495 w 6506836"/>
              <a:gd name="connsiteY52" fmla="*/ 3599883 h 5753325"/>
              <a:gd name="connsiteX53" fmla="*/ 5363689 w 6506836"/>
              <a:gd name="connsiteY53" fmla="*/ 3633299 h 5753325"/>
              <a:gd name="connsiteX54" fmla="*/ 5291870 w 6506836"/>
              <a:gd name="connsiteY54" fmla="*/ 3799039 h 5753325"/>
              <a:gd name="connsiteX55" fmla="*/ 5241600 w 6506836"/>
              <a:gd name="connsiteY55" fmla="*/ 3894238 h 5753325"/>
              <a:gd name="connsiteX56" fmla="*/ 5211041 w 6506836"/>
              <a:gd name="connsiteY56" fmla="*/ 3924184 h 5753325"/>
              <a:gd name="connsiteX57" fmla="*/ 5176073 w 6506836"/>
              <a:gd name="connsiteY57" fmla="*/ 3970179 h 5753325"/>
              <a:gd name="connsiteX58" fmla="*/ 5172826 w 6506836"/>
              <a:gd name="connsiteY58" fmla="*/ 3991773 h 5753325"/>
              <a:gd name="connsiteX59" fmla="*/ 5157053 w 6506836"/>
              <a:gd name="connsiteY59" fmla="*/ 3997708 h 5753325"/>
              <a:gd name="connsiteX60" fmla="*/ 5127922 w 6506836"/>
              <a:gd name="connsiteY60" fmla="*/ 4022660 h 5753325"/>
              <a:gd name="connsiteX61" fmla="*/ 5020872 w 6506836"/>
              <a:gd name="connsiteY61" fmla="*/ 4075951 h 5753325"/>
              <a:gd name="connsiteX62" fmla="*/ 4991410 w 6506836"/>
              <a:gd name="connsiteY62" fmla="*/ 4087598 h 5753325"/>
              <a:gd name="connsiteX63" fmla="*/ 4930112 w 6506836"/>
              <a:gd name="connsiteY63" fmla="*/ 4138459 h 5753325"/>
              <a:gd name="connsiteX64" fmla="*/ 4834224 w 6506836"/>
              <a:gd name="connsiteY64" fmla="*/ 4231643 h 5753325"/>
              <a:gd name="connsiteX65" fmla="*/ 4812599 w 6506836"/>
              <a:gd name="connsiteY65" fmla="*/ 4249449 h 5753325"/>
              <a:gd name="connsiteX66" fmla="*/ 4789188 w 6506836"/>
              <a:gd name="connsiteY66" fmla="*/ 4256678 h 5753325"/>
              <a:gd name="connsiteX67" fmla="*/ 4779554 w 6506836"/>
              <a:gd name="connsiteY67" fmla="*/ 4251313 h 5753325"/>
              <a:gd name="connsiteX68" fmla="*/ 4766885 w 6506836"/>
              <a:gd name="connsiteY68" fmla="*/ 4259812 h 5753325"/>
              <a:gd name="connsiteX69" fmla="*/ 4762510 w 6506836"/>
              <a:gd name="connsiteY69" fmla="*/ 4260383 h 5753325"/>
              <a:gd name="connsiteX70" fmla="*/ 4738416 w 6506836"/>
              <a:gd name="connsiteY70" fmla="*/ 4265355 h 5753325"/>
              <a:gd name="connsiteX71" fmla="*/ 4712007 w 6506836"/>
              <a:gd name="connsiteY71" fmla="*/ 4317892 h 5753325"/>
              <a:gd name="connsiteX72" fmla="*/ 4658930 w 6506836"/>
              <a:gd name="connsiteY72" fmla="*/ 4348041 h 5753325"/>
              <a:gd name="connsiteX73" fmla="*/ 4443526 w 6506836"/>
              <a:gd name="connsiteY73" fmla="*/ 4507851 h 5753325"/>
              <a:gd name="connsiteX74" fmla="*/ 4289766 w 6506836"/>
              <a:gd name="connsiteY74" fmla="*/ 4711450 h 5753325"/>
              <a:gd name="connsiteX75" fmla="*/ 4150870 w 6506836"/>
              <a:gd name="connsiteY75" fmla="*/ 4818480 h 5753325"/>
              <a:gd name="connsiteX76" fmla="*/ 4006639 w 6506836"/>
              <a:gd name="connsiteY76" fmla="*/ 4933815 h 5753325"/>
              <a:gd name="connsiteX77" fmla="*/ 3298210 w 6506836"/>
              <a:gd name="connsiteY77" fmla="*/ 5070790 h 5753325"/>
              <a:gd name="connsiteX78" fmla="*/ 2947678 w 6506836"/>
              <a:gd name="connsiteY78" fmla="*/ 5117869 h 5753325"/>
              <a:gd name="connsiteX79" fmla="*/ 2822169 w 6506836"/>
              <a:gd name="connsiteY79" fmla="*/ 5129396 h 5753325"/>
              <a:gd name="connsiteX80" fmla="*/ 2538773 w 6506836"/>
              <a:gd name="connsiteY80" fmla="*/ 5313397 h 5753325"/>
              <a:gd name="connsiteX81" fmla="*/ 2014500 w 6506836"/>
              <a:gd name="connsiteY81" fmla="*/ 5519744 h 5753325"/>
              <a:gd name="connsiteX82" fmla="*/ 1934391 w 6506836"/>
              <a:gd name="connsiteY82" fmla="*/ 5591335 h 5753325"/>
              <a:gd name="connsiteX83" fmla="*/ 1892550 w 6506836"/>
              <a:gd name="connsiteY83" fmla="*/ 5649708 h 5753325"/>
              <a:gd name="connsiteX84" fmla="*/ 1854769 w 6506836"/>
              <a:gd name="connsiteY84" fmla="*/ 5647691 h 5753325"/>
              <a:gd name="connsiteX85" fmla="*/ 1809461 w 6506836"/>
              <a:gd name="connsiteY85" fmla="*/ 5648628 h 5753325"/>
              <a:gd name="connsiteX86" fmla="*/ 1745150 w 6506836"/>
              <a:gd name="connsiteY86" fmla="*/ 5693879 h 5753325"/>
              <a:gd name="connsiteX87" fmla="*/ 1713375 w 6506836"/>
              <a:gd name="connsiteY87" fmla="*/ 5684672 h 5753325"/>
              <a:gd name="connsiteX88" fmla="*/ 1707808 w 6506836"/>
              <a:gd name="connsiteY88" fmla="*/ 5682611 h 5753325"/>
              <a:gd name="connsiteX89" fmla="*/ 1679313 w 6506836"/>
              <a:gd name="connsiteY89" fmla="*/ 5672360 h 5753325"/>
              <a:gd name="connsiteX90" fmla="*/ 1646933 w 6506836"/>
              <a:gd name="connsiteY90" fmla="*/ 5666227 h 5753325"/>
              <a:gd name="connsiteX91" fmla="*/ 1610055 w 6506836"/>
              <a:gd name="connsiteY91" fmla="*/ 5673643 h 5753325"/>
              <a:gd name="connsiteX92" fmla="*/ 1437641 w 6506836"/>
              <a:gd name="connsiteY92" fmla="*/ 5723266 h 5753325"/>
              <a:gd name="connsiteX93" fmla="*/ 1332869 w 6506836"/>
              <a:gd name="connsiteY93" fmla="*/ 5744752 h 5753325"/>
              <a:gd name="connsiteX94" fmla="*/ 1290525 w 6506836"/>
              <a:gd name="connsiteY94" fmla="*/ 5740036 h 5753325"/>
              <a:gd name="connsiteX95" fmla="*/ 1233107 w 6506836"/>
              <a:gd name="connsiteY95" fmla="*/ 5742106 h 5753325"/>
              <a:gd name="connsiteX96" fmla="*/ 1214532 w 6506836"/>
              <a:gd name="connsiteY96" fmla="*/ 5753325 h 5753325"/>
              <a:gd name="connsiteX97" fmla="*/ 1199955 w 6506836"/>
              <a:gd name="connsiteY97" fmla="*/ 5744831 h 5753325"/>
              <a:gd name="connsiteX98" fmla="*/ 1162337 w 6506836"/>
              <a:gd name="connsiteY98" fmla="*/ 5738048 h 5753325"/>
              <a:gd name="connsiteX99" fmla="*/ 1053457 w 6506836"/>
              <a:gd name="connsiteY99" fmla="*/ 5688676 h 5753325"/>
              <a:gd name="connsiteX100" fmla="*/ 1025798 w 6506836"/>
              <a:gd name="connsiteY100" fmla="*/ 5673166 h 5753325"/>
              <a:gd name="connsiteX101" fmla="*/ 947900 w 6506836"/>
              <a:gd name="connsiteY101" fmla="*/ 5657848 h 5753325"/>
              <a:gd name="connsiteX102" fmla="*/ 815627 w 6506836"/>
              <a:gd name="connsiteY102" fmla="*/ 5642557 h 5753325"/>
              <a:gd name="connsiteX103" fmla="*/ 788251 w 6506836"/>
              <a:gd name="connsiteY103" fmla="*/ 5637065 h 5753325"/>
              <a:gd name="connsiteX104" fmla="*/ 767822 w 6506836"/>
              <a:gd name="connsiteY104" fmla="*/ 5623450 h 5753325"/>
              <a:gd name="connsiteX105" fmla="*/ 765791 w 6506836"/>
              <a:gd name="connsiteY105" fmla="*/ 5612539 h 5753325"/>
              <a:gd name="connsiteX106" fmla="*/ 751230 w 6506836"/>
              <a:gd name="connsiteY106" fmla="*/ 5608092 h 5753325"/>
              <a:gd name="connsiteX107" fmla="*/ 748008 w 6506836"/>
              <a:gd name="connsiteY107" fmla="*/ 5605052 h 5753325"/>
              <a:gd name="connsiteX108" fmla="*/ 728871 w 6506836"/>
              <a:gd name="connsiteY108" fmla="*/ 5589469 h 5753325"/>
              <a:gd name="connsiteX109" fmla="*/ 671898 w 6506836"/>
              <a:gd name="connsiteY109" fmla="*/ 5602363 h 5753325"/>
              <a:gd name="connsiteX110" fmla="*/ 615065 w 6506836"/>
              <a:gd name="connsiteY110" fmla="*/ 5580257 h 5753325"/>
              <a:gd name="connsiteX111" fmla="*/ 355785 w 6506836"/>
              <a:gd name="connsiteY111" fmla="*/ 5514383 h 5753325"/>
              <a:gd name="connsiteX112" fmla="*/ 102269 w 6506836"/>
              <a:gd name="connsiteY112" fmla="*/ 5524347 h 5753325"/>
              <a:gd name="connsiteX113" fmla="*/ 13160 w 6506836"/>
              <a:gd name="connsiteY113" fmla="*/ 5514159 h 5753325"/>
              <a:gd name="connsiteX114" fmla="*/ 0 w 6506836"/>
              <a:gd name="connsiteY114" fmla="*/ 5511735 h 5753325"/>
              <a:gd name="connsiteX115" fmla="*/ 0 w 6506836"/>
              <a:gd name="connsiteY115"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465936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375685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62955"/>
              <a:gd name="connsiteY0" fmla="*/ 0 h 5753325"/>
              <a:gd name="connsiteX1" fmla="*/ 6438980 w 6462955"/>
              <a:gd name="connsiteY1" fmla="*/ 0 h 5753325"/>
              <a:gd name="connsiteX2" fmla="*/ 6439047 w 6462955"/>
              <a:gd name="connsiteY2" fmla="*/ 147 h 5753325"/>
              <a:gd name="connsiteX3" fmla="*/ 6443456 w 6462955"/>
              <a:gd name="connsiteY3" fmla="*/ 130105 h 5753325"/>
              <a:gd name="connsiteX4" fmla="*/ 6447632 w 6462955"/>
              <a:gd name="connsiteY4" fmla="*/ 170016 h 5753325"/>
              <a:gd name="connsiteX5" fmla="*/ 6396598 w 6462955"/>
              <a:gd name="connsiteY5" fmla="*/ 274847 h 5753325"/>
              <a:gd name="connsiteX6" fmla="*/ 6375685 w 6462955"/>
              <a:gd name="connsiteY6" fmla="*/ 535865 h 5753325"/>
              <a:gd name="connsiteX7" fmla="*/ 6354187 w 6462955"/>
              <a:gd name="connsiteY7" fmla="*/ 615799 h 5753325"/>
              <a:gd name="connsiteX8" fmla="*/ 6459988 w 6462955"/>
              <a:gd name="connsiteY8" fmla="*/ 707628 h 5753325"/>
              <a:gd name="connsiteX9" fmla="*/ 6453989 w 6462955"/>
              <a:gd name="connsiteY9" fmla="*/ 711876 h 5753325"/>
              <a:gd name="connsiteX10" fmla="*/ 6453209 w 6462955"/>
              <a:gd name="connsiteY10" fmla="*/ 719127 h 5753325"/>
              <a:gd name="connsiteX11" fmla="*/ 6457662 w 6462955"/>
              <a:gd name="connsiteY11" fmla="*/ 723331 h 5753325"/>
              <a:gd name="connsiteX12" fmla="*/ 6447445 w 6462955"/>
              <a:gd name="connsiteY12" fmla="*/ 780003 h 5753325"/>
              <a:gd name="connsiteX13" fmla="*/ 6426552 w 6462955"/>
              <a:gd name="connsiteY13" fmla="*/ 845805 h 5753325"/>
              <a:gd name="connsiteX14" fmla="*/ 6434072 w 6462955"/>
              <a:gd name="connsiteY14" fmla="*/ 910733 h 5753325"/>
              <a:gd name="connsiteX15" fmla="*/ 6432570 w 6462955"/>
              <a:gd name="connsiteY15" fmla="*/ 983394 h 5753325"/>
              <a:gd name="connsiteX16" fmla="*/ 6431878 w 6462955"/>
              <a:gd name="connsiteY16" fmla="*/ 1026728 h 5753325"/>
              <a:gd name="connsiteX17" fmla="*/ 6414269 w 6462955"/>
              <a:gd name="connsiteY17" fmla="*/ 1151111 h 5753325"/>
              <a:gd name="connsiteX18" fmla="*/ 6371722 w 6462955"/>
              <a:gd name="connsiteY18" fmla="*/ 1318080 h 5753325"/>
              <a:gd name="connsiteX19" fmla="*/ 6356023 w 6462955"/>
              <a:gd name="connsiteY19" fmla="*/ 1356227 h 5753325"/>
              <a:gd name="connsiteX20" fmla="*/ 6356157 w 6462955"/>
              <a:gd name="connsiteY20" fmla="*/ 1361967 h 5753325"/>
              <a:gd name="connsiteX21" fmla="*/ 6350613 w 6462955"/>
              <a:gd name="connsiteY21" fmla="*/ 1393569 h 5753325"/>
              <a:gd name="connsiteX22" fmla="*/ 6357062 w 6462955"/>
              <a:gd name="connsiteY22" fmla="*/ 1444071 h 5753325"/>
              <a:gd name="connsiteX23" fmla="*/ 6364832 w 6462955"/>
              <a:gd name="connsiteY23" fmla="*/ 1478763 h 5753325"/>
              <a:gd name="connsiteX24" fmla="*/ 6369745 w 6462955"/>
              <a:gd name="connsiteY24" fmla="*/ 1495680 h 5753325"/>
              <a:gd name="connsiteX25" fmla="*/ 6370898 w 6462955"/>
              <a:gd name="connsiteY25" fmla="*/ 1513331 h 5753325"/>
              <a:gd name="connsiteX26" fmla="*/ 6368801 w 6462955"/>
              <a:gd name="connsiteY26" fmla="*/ 1527414 h 5753325"/>
              <a:gd name="connsiteX27" fmla="*/ 6359177 w 6462955"/>
              <a:gd name="connsiteY27" fmla="*/ 1639513 h 5753325"/>
              <a:gd name="connsiteX28" fmla="*/ 6299489 w 6462955"/>
              <a:gd name="connsiteY28" fmla="*/ 1784860 h 5753325"/>
              <a:gd name="connsiteX29" fmla="*/ 6267878 w 6462955"/>
              <a:gd name="connsiteY29" fmla="*/ 1858572 h 5753325"/>
              <a:gd name="connsiteX30" fmla="*/ 6251146 w 6462955"/>
              <a:gd name="connsiteY30" fmla="*/ 1926167 h 5753325"/>
              <a:gd name="connsiteX31" fmla="*/ 6210686 w 6462955"/>
              <a:gd name="connsiteY31" fmla="*/ 2014834 h 5753325"/>
              <a:gd name="connsiteX32" fmla="*/ 6106652 w 6462955"/>
              <a:gd name="connsiteY32" fmla="*/ 2150572 h 5753325"/>
              <a:gd name="connsiteX33" fmla="*/ 6097813 w 6462955"/>
              <a:gd name="connsiteY33" fmla="*/ 2172208 h 5753325"/>
              <a:gd name="connsiteX34" fmla="*/ 6095990 w 6462955"/>
              <a:gd name="connsiteY34" fmla="*/ 2181185 h 5753325"/>
              <a:gd name="connsiteX35" fmla="*/ 6090126 w 6462955"/>
              <a:gd name="connsiteY35" fmla="*/ 2192533 h 5753325"/>
              <a:gd name="connsiteX36" fmla="*/ 6089503 w 6462955"/>
              <a:gd name="connsiteY36" fmla="*/ 2192543 h 5753325"/>
              <a:gd name="connsiteX37" fmla="*/ 6084946 w 6462955"/>
              <a:gd name="connsiteY37" fmla="*/ 2203694 h 5753325"/>
              <a:gd name="connsiteX38" fmla="*/ 5987861 w 6462955"/>
              <a:gd name="connsiteY38" fmla="*/ 2304868 h 5753325"/>
              <a:gd name="connsiteX39" fmla="*/ 5973439 w 6462955"/>
              <a:gd name="connsiteY39" fmla="*/ 2385635 h 5753325"/>
              <a:gd name="connsiteX40" fmla="*/ 5916727 w 6462955"/>
              <a:gd name="connsiteY40" fmla="*/ 2458777 h 5753325"/>
              <a:gd name="connsiteX41" fmla="*/ 5856524 w 6462955"/>
              <a:gd name="connsiteY41" fmla="*/ 2583281 h 5753325"/>
              <a:gd name="connsiteX42" fmla="*/ 5838091 w 6462955"/>
              <a:gd name="connsiteY42" fmla="*/ 2753474 h 5753325"/>
              <a:gd name="connsiteX43" fmla="*/ 5777471 w 6462955"/>
              <a:gd name="connsiteY43" fmla="*/ 2901570 h 5753325"/>
              <a:gd name="connsiteX44" fmla="*/ 5723992 w 6462955"/>
              <a:gd name="connsiteY44" fmla="*/ 2998752 h 5753325"/>
              <a:gd name="connsiteX45" fmla="*/ 5557886 w 6462955"/>
              <a:gd name="connsiteY45" fmla="*/ 3329735 h 5753325"/>
              <a:gd name="connsiteX46" fmla="*/ 5471501 w 6462955"/>
              <a:gd name="connsiteY46" fmla="*/ 3462221 h 5753325"/>
              <a:gd name="connsiteX47" fmla="*/ 5465154 w 6462955"/>
              <a:gd name="connsiteY47" fmla="*/ 3541065 h 5753325"/>
              <a:gd name="connsiteX48" fmla="*/ 5437889 w 6462955"/>
              <a:gd name="connsiteY48" fmla="*/ 3559927 h 5753325"/>
              <a:gd name="connsiteX49" fmla="*/ 5432770 w 6462955"/>
              <a:gd name="connsiteY49" fmla="*/ 3562948 h 5753325"/>
              <a:gd name="connsiteX50" fmla="*/ 5406795 w 6462955"/>
              <a:gd name="connsiteY50" fmla="*/ 3578594 h 5753325"/>
              <a:gd name="connsiteX51" fmla="*/ 5381495 w 6462955"/>
              <a:gd name="connsiteY51" fmla="*/ 3599883 h 5753325"/>
              <a:gd name="connsiteX52" fmla="*/ 5363689 w 6462955"/>
              <a:gd name="connsiteY52" fmla="*/ 3633299 h 5753325"/>
              <a:gd name="connsiteX53" fmla="*/ 5291870 w 6462955"/>
              <a:gd name="connsiteY53" fmla="*/ 3799039 h 5753325"/>
              <a:gd name="connsiteX54" fmla="*/ 5241600 w 6462955"/>
              <a:gd name="connsiteY54" fmla="*/ 3894238 h 5753325"/>
              <a:gd name="connsiteX55" fmla="*/ 5211041 w 6462955"/>
              <a:gd name="connsiteY55" fmla="*/ 3924184 h 5753325"/>
              <a:gd name="connsiteX56" fmla="*/ 5176073 w 6462955"/>
              <a:gd name="connsiteY56" fmla="*/ 3970179 h 5753325"/>
              <a:gd name="connsiteX57" fmla="*/ 5172826 w 6462955"/>
              <a:gd name="connsiteY57" fmla="*/ 3991773 h 5753325"/>
              <a:gd name="connsiteX58" fmla="*/ 5157053 w 6462955"/>
              <a:gd name="connsiteY58" fmla="*/ 3997708 h 5753325"/>
              <a:gd name="connsiteX59" fmla="*/ 5127922 w 6462955"/>
              <a:gd name="connsiteY59" fmla="*/ 4022660 h 5753325"/>
              <a:gd name="connsiteX60" fmla="*/ 5020872 w 6462955"/>
              <a:gd name="connsiteY60" fmla="*/ 4075951 h 5753325"/>
              <a:gd name="connsiteX61" fmla="*/ 4991410 w 6462955"/>
              <a:gd name="connsiteY61" fmla="*/ 4087598 h 5753325"/>
              <a:gd name="connsiteX62" fmla="*/ 4930112 w 6462955"/>
              <a:gd name="connsiteY62" fmla="*/ 4138459 h 5753325"/>
              <a:gd name="connsiteX63" fmla="*/ 4834224 w 6462955"/>
              <a:gd name="connsiteY63" fmla="*/ 4231643 h 5753325"/>
              <a:gd name="connsiteX64" fmla="*/ 4812599 w 6462955"/>
              <a:gd name="connsiteY64" fmla="*/ 4249449 h 5753325"/>
              <a:gd name="connsiteX65" fmla="*/ 4789188 w 6462955"/>
              <a:gd name="connsiteY65" fmla="*/ 4256678 h 5753325"/>
              <a:gd name="connsiteX66" fmla="*/ 4779554 w 6462955"/>
              <a:gd name="connsiteY66" fmla="*/ 4251313 h 5753325"/>
              <a:gd name="connsiteX67" fmla="*/ 4766885 w 6462955"/>
              <a:gd name="connsiteY67" fmla="*/ 4259812 h 5753325"/>
              <a:gd name="connsiteX68" fmla="*/ 4762510 w 6462955"/>
              <a:gd name="connsiteY68" fmla="*/ 4260383 h 5753325"/>
              <a:gd name="connsiteX69" fmla="*/ 4738416 w 6462955"/>
              <a:gd name="connsiteY69" fmla="*/ 4265355 h 5753325"/>
              <a:gd name="connsiteX70" fmla="*/ 4712007 w 6462955"/>
              <a:gd name="connsiteY70" fmla="*/ 4317892 h 5753325"/>
              <a:gd name="connsiteX71" fmla="*/ 4658930 w 6462955"/>
              <a:gd name="connsiteY71" fmla="*/ 4348041 h 5753325"/>
              <a:gd name="connsiteX72" fmla="*/ 4443526 w 6462955"/>
              <a:gd name="connsiteY72" fmla="*/ 4507851 h 5753325"/>
              <a:gd name="connsiteX73" fmla="*/ 4289766 w 6462955"/>
              <a:gd name="connsiteY73" fmla="*/ 4711450 h 5753325"/>
              <a:gd name="connsiteX74" fmla="*/ 4150870 w 6462955"/>
              <a:gd name="connsiteY74" fmla="*/ 4818480 h 5753325"/>
              <a:gd name="connsiteX75" fmla="*/ 4006639 w 6462955"/>
              <a:gd name="connsiteY75" fmla="*/ 4933815 h 5753325"/>
              <a:gd name="connsiteX76" fmla="*/ 3298210 w 6462955"/>
              <a:gd name="connsiteY76" fmla="*/ 5070790 h 5753325"/>
              <a:gd name="connsiteX77" fmla="*/ 2947678 w 6462955"/>
              <a:gd name="connsiteY77" fmla="*/ 5117869 h 5753325"/>
              <a:gd name="connsiteX78" fmla="*/ 2822169 w 6462955"/>
              <a:gd name="connsiteY78" fmla="*/ 5129396 h 5753325"/>
              <a:gd name="connsiteX79" fmla="*/ 2538773 w 6462955"/>
              <a:gd name="connsiteY79" fmla="*/ 5313397 h 5753325"/>
              <a:gd name="connsiteX80" fmla="*/ 2014500 w 6462955"/>
              <a:gd name="connsiteY80" fmla="*/ 5519744 h 5753325"/>
              <a:gd name="connsiteX81" fmla="*/ 1934391 w 6462955"/>
              <a:gd name="connsiteY81" fmla="*/ 5591335 h 5753325"/>
              <a:gd name="connsiteX82" fmla="*/ 1892550 w 6462955"/>
              <a:gd name="connsiteY82" fmla="*/ 5649708 h 5753325"/>
              <a:gd name="connsiteX83" fmla="*/ 1854769 w 6462955"/>
              <a:gd name="connsiteY83" fmla="*/ 5647691 h 5753325"/>
              <a:gd name="connsiteX84" fmla="*/ 1809461 w 6462955"/>
              <a:gd name="connsiteY84" fmla="*/ 5648628 h 5753325"/>
              <a:gd name="connsiteX85" fmla="*/ 1745150 w 6462955"/>
              <a:gd name="connsiteY85" fmla="*/ 5693879 h 5753325"/>
              <a:gd name="connsiteX86" fmla="*/ 1713375 w 6462955"/>
              <a:gd name="connsiteY86" fmla="*/ 5684672 h 5753325"/>
              <a:gd name="connsiteX87" fmla="*/ 1707808 w 6462955"/>
              <a:gd name="connsiteY87" fmla="*/ 5682611 h 5753325"/>
              <a:gd name="connsiteX88" fmla="*/ 1679313 w 6462955"/>
              <a:gd name="connsiteY88" fmla="*/ 5672360 h 5753325"/>
              <a:gd name="connsiteX89" fmla="*/ 1646933 w 6462955"/>
              <a:gd name="connsiteY89" fmla="*/ 5666227 h 5753325"/>
              <a:gd name="connsiteX90" fmla="*/ 1610055 w 6462955"/>
              <a:gd name="connsiteY90" fmla="*/ 5673643 h 5753325"/>
              <a:gd name="connsiteX91" fmla="*/ 1437641 w 6462955"/>
              <a:gd name="connsiteY91" fmla="*/ 5723266 h 5753325"/>
              <a:gd name="connsiteX92" fmla="*/ 1332869 w 6462955"/>
              <a:gd name="connsiteY92" fmla="*/ 5744752 h 5753325"/>
              <a:gd name="connsiteX93" fmla="*/ 1290525 w 6462955"/>
              <a:gd name="connsiteY93" fmla="*/ 5740036 h 5753325"/>
              <a:gd name="connsiteX94" fmla="*/ 1233107 w 6462955"/>
              <a:gd name="connsiteY94" fmla="*/ 5742106 h 5753325"/>
              <a:gd name="connsiteX95" fmla="*/ 1214532 w 6462955"/>
              <a:gd name="connsiteY95" fmla="*/ 5753325 h 5753325"/>
              <a:gd name="connsiteX96" fmla="*/ 1199955 w 6462955"/>
              <a:gd name="connsiteY96" fmla="*/ 5744831 h 5753325"/>
              <a:gd name="connsiteX97" fmla="*/ 1162337 w 6462955"/>
              <a:gd name="connsiteY97" fmla="*/ 5738048 h 5753325"/>
              <a:gd name="connsiteX98" fmla="*/ 1053457 w 6462955"/>
              <a:gd name="connsiteY98" fmla="*/ 5688676 h 5753325"/>
              <a:gd name="connsiteX99" fmla="*/ 1025798 w 6462955"/>
              <a:gd name="connsiteY99" fmla="*/ 5673166 h 5753325"/>
              <a:gd name="connsiteX100" fmla="*/ 947900 w 6462955"/>
              <a:gd name="connsiteY100" fmla="*/ 5657848 h 5753325"/>
              <a:gd name="connsiteX101" fmla="*/ 815627 w 6462955"/>
              <a:gd name="connsiteY101" fmla="*/ 5642557 h 5753325"/>
              <a:gd name="connsiteX102" fmla="*/ 788251 w 6462955"/>
              <a:gd name="connsiteY102" fmla="*/ 5637065 h 5753325"/>
              <a:gd name="connsiteX103" fmla="*/ 767822 w 6462955"/>
              <a:gd name="connsiteY103" fmla="*/ 5623450 h 5753325"/>
              <a:gd name="connsiteX104" fmla="*/ 765791 w 6462955"/>
              <a:gd name="connsiteY104" fmla="*/ 5612539 h 5753325"/>
              <a:gd name="connsiteX105" fmla="*/ 751230 w 6462955"/>
              <a:gd name="connsiteY105" fmla="*/ 5608092 h 5753325"/>
              <a:gd name="connsiteX106" fmla="*/ 748008 w 6462955"/>
              <a:gd name="connsiteY106" fmla="*/ 5605052 h 5753325"/>
              <a:gd name="connsiteX107" fmla="*/ 728871 w 6462955"/>
              <a:gd name="connsiteY107" fmla="*/ 5589469 h 5753325"/>
              <a:gd name="connsiteX108" fmla="*/ 671898 w 6462955"/>
              <a:gd name="connsiteY108" fmla="*/ 5602363 h 5753325"/>
              <a:gd name="connsiteX109" fmla="*/ 615065 w 6462955"/>
              <a:gd name="connsiteY109" fmla="*/ 5580257 h 5753325"/>
              <a:gd name="connsiteX110" fmla="*/ 355785 w 6462955"/>
              <a:gd name="connsiteY110" fmla="*/ 5514383 h 5753325"/>
              <a:gd name="connsiteX111" fmla="*/ 102269 w 6462955"/>
              <a:gd name="connsiteY111" fmla="*/ 5524347 h 5753325"/>
              <a:gd name="connsiteX112" fmla="*/ 13160 w 6462955"/>
              <a:gd name="connsiteY112" fmla="*/ 5514159 h 5753325"/>
              <a:gd name="connsiteX113" fmla="*/ 0 w 6462955"/>
              <a:gd name="connsiteY113" fmla="*/ 5511735 h 5753325"/>
              <a:gd name="connsiteX114" fmla="*/ 0 w 6462955"/>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453209 w 6459988"/>
              <a:gd name="connsiteY10" fmla="*/ 719127 h 5753325"/>
              <a:gd name="connsiteX11" fmla="*/ 6344988 w 6459988"/>
              <a:gd name="connsiteY11" fmla="*/ 697330 h 5753325"/>
              <a:gd name="connsiteX12" fmla="*/ 6447445 w 6459988"/>
              <a:gd name="connsiteY12" fmla="*/ 780003 h 5753325"/>
              <a:gd name="connsiteX13" fmla="*/ 6426552 w 6459988"/>
              <a:gd name="connsiteY13" fmla="*/ 845805 h 5753325"/>
              <a:gd name="connsiteX14" fmla="*/ 6434072 w 6459988"/>
              <a:gd name="connsiteY14" fmla="*/ 910733 h 5753325"/>
              <a:gd name="connsiteX15" fmla="*/ 6432570 w 6459988"/>
              <a:gd name="connsiteY15" fmla="*/ 983394 h 5753325"/>
              <a:gd name="connsiteX16" fmla="*/ 6431878 w 6459988"/>
              <a:gd name="connsiteY16" fmla="*/ 1026728 h 5753325"/>
              <a:gd name="connsiteX17" fmla="*/ 6414269 w 6459988"/>
              <a:gd name="connsiteY17" fmla="*/ 1151111 h 5753325"/>
              <a:gd name="connsiteX18" fmla="*/ 6371722 w 6459988"/>
              <a:gd name="connsiteY18" fmla="*/ 1318080 h 5753325"/>
              <a:gd name="connsiteX19" fmla="*/ 6356023 w 6459988"/>
              <a:gd name="connsiteY19" fmla="*/ 1356227 h 5753325"/>
              <a:gd name="connsiteX20" fmla="*/ 6356157 w 6459988"/>
              <a:gd name="connsiteY20" fmla="*/ 1361967 h 5753325"/>
              <a:gd name="connsiteX21" fmla="*/ 6350613 w 6459988"/>
              <a:gd name="connsiteY21" fmla="*/ 1393569 h 5753325"/>
              <a:gd name="connsiteX22" fmla="*/ 6357062 w 6459988"/>
              <a:gd name="connsiteY22" fmla="*/ 1444071 h 5753325"/>
              <a:gd name="connsiteX23" fmla="*/ 6364832 w 6459988"/>
              <a:gd name="connsiteY23" fmla="*/ 1478763 h 5753325"/>
              <a:gd name="connsiteX24" fmla="*/ 6369745 w 6459988"/>
              <a:gd name="connsiteY24" fmla="*/ 1495680 h 5753325"/>
              <a:gd name="connsiteX25" fmla="*/ 6370898 w 6459988"/>
              <a:gd name="connsiteY25" fmla="*/ 1513331 h 5753325"/>
              <a:gd name="connsiteX26" fmla="*/ 6368801 w 6459988"/>
              <a:gd name="connsiteY26" fmla="*/ 1527414 h 5753325"/>
              <a:gd name="connsiteX27" fmla="*/ 6359177 w 6459988"/>
              <a:gd name="connsiteY27" fmla="*/ 1639513 h 5753325"/>
              <a:gd name="connsiteX28" fmla="*/ 6299489 w 6459988"/>
              <a:gd name="connsiteY28" fmla="*/ 1784860 h 5753325"/>
              <a:gd name="connsiteX29" fmla="*/ 6267878 w 6459988"/>
              <a:gd name="connsiteY29" fmla="*/ 1858572 h 5753325"/>
              <a:gd name="connsiteX30" fmla="*/ 6251146 w 6459988"/>
              <a:gd name="connsiteY30" fmla="*/ 1926167 h 5753325"/>
              <a:gd name="connsiteX31" fmla="*/ 6210686 w 6459988"/>
              <a:gd name="connsiteY31" fmla="*/ 2014834 h 5753325"/>
              <a:gd name="connsiteX32" fmla="*/ 6106652 w 6459988"/>
              <a:gd name="connsiteY32" fmla="*/ 2150572 h 5753325"/>
              <a:gd name="connsiteX33" fmla="*/ 6097813 w 6459988"/>
              <a:gd name="connsiteY33" fmla="*/ 2172208 h 5753325"/>
              <a:gd name="connsiteX34" fmla="*/ 6095990 w 6459988"/>
              <a:gd name="connsiteY34" fmla="*/ 2181185 h 5753325"/>
              <a:gd name="connsiteX35" fmla="*/ 6090126 w 6459988"/>
              <a:gd name="connsiteY35" fmla="*/ 2192533 h 5753325"/>
              <a:gd name="connsiteX36" fmla="*/ 6089503 w 6459988"/>
              <a:gd name="connsiteY36" fmla="*/ 2192543 h 5753325"/>
              <a:gd name="connsiteX37" fmla="*/ 6084946 w 6459988"/>
              <a:gd name="connsiteY37" fmla="*/ 2203694 h 5753325"/>
              <a:gd name="connsiteX38" fmla="*/ 5987861 w 6459988"/>
              <a:gd name="connsiteY38" fmla="*/ 2304868 h 5753325"/>
              <a:gd name="connsiteX39" fmla="*/ 5973439 w 6459988"/>
              <a:gd name="connsiteY39" fmla="*/ 2385635 h 5753325"/>
              <a:gd name="connsiteX40" fmla="*/ 5916727 w 6459988"/>
              <a:gd name="connsiteY40" fmla="*/ 2458777 h 5753325"/>
              <a:gd name="connsiteX41" fmla="*/ 5856524 w 6459988"/>
              <a:gd name="connsiteY41" fmla="*/ 2583281 h 5753325"/>
              <a:gd name="connsiteX42" fmla="*/ 5838091 w 6459988"/>
              <a:gd name="connsiteY42" fmla="*/ 2753474 h 5753325"/>
              <a:gd name="connsiteX43" fmla="*/ 5777471 w 6459988"/>
              <a:gd name="connsiteY43" fmla="*/ 2901570 h 5753325"/>
              <a:gd name="connsiteX44" fmla="*/ 5723992 w 6459988"/>
              <a:gd name="connsiteY44" fmla="*/ 2998752 h 5753325"/>
              <a:gd name="connsiteX45" fmla="*/ 5557886 w 6459988"/>
              <a:gd name="connsiteY45" fmla="*/ 3329735 h 5753325"/>
              <a:gd name="connsiteX46" fmla="*/ 5471501 w 6459988"/>
              <a:gd name="connsiteY46" fmla="*/ 3462221 h 5753325"/>
              <a:gd name="connsiteX47" fmla="*/ 5465154 w 6459988"/>
              <a:gd name="connsiteY47" fmla="*/ 3541065 h 5753325"/>
              <a:gd name="connsiteX48" fmla="*/ 5437889 w 6459988"/>
              <a:gd name="connsiteY48" fmla="*/ 3559927 h 5753325"/>
              <a:gd name="connsiteX49" fmla="*/ 5432770 w 6459988"/>
              <a:gd name="connsiteY49" fmla="*/ 3562948 h 5753325"/>
              <a:gd name="connsiteX50" fmla="*/ 5406795 w 6459988"/>
              <a:gd name="connsiteY50" fmla="*/ 3578594 h 5753325"/>
              <a:gd name="connsiteX51" fmla="*/ 5381495 w 6459988"/>
              <a:gd name="connsiteY51" fmla="*/ 3599883 h 5753325"/>
              <a:gd name="connsiteX52" fmla="*/ 5363689 w 6459988"/>
              <a:gd name="connsiteY52" fmla="*/ 3633299 h 5753325"/>
              <a:gd name="connsiteX53" fmla="*/ 5291870 w 6459988"/>
              <a:gd name="connsiteY53" fmla="*/ 3799039 h 5753325"/>
              <a:gd name="connsiteX54" fmla="*/ 5241600 w 6459988"/>
              <a:gd name="connsiteY54" fmla="*/ 3894238 h 5753325"/>
              <a:gd name="connsiteX55" fmla="*/ 5211041 w 6459988"/>
              <a:gd name="connsiteY55" fmla="*/ 3924184 h 5753325"/>
              <a:gd name="connsiteX56" fmla="*/ 5176073 w 6459988"/>
              <a:gd name="connsiteY56" fmla="*/ 3970179 h 5753325"/>
              <a:gd name="connsiteX57" fmla="*/ 5172826 w 6459988"/>
              <a:gd name="connsiteY57" fmla="*/ 3991773 h 5753325"/>
              <a:gd name="connsiteX58" fmla="*/ 5157053 w 6459988"/>
              <a:gd name="connsiteY58" fmla="*/ 3997708 h 5753325"/>
              <a:gd name="connsiteX59" fmla="*/ 5127922 w 6459988"/>
              <a:gd name="connsiteY59" fmla="*/ 4022660 h 5753325"/>
              <a:gd name="connsiteX60" fmla="*/ 5020872 w 6459988"/>
              <a:gd name="connsiteY60" fmla="*/ 4075951 h 5753325"/>
              <a:gd name="connsiteX61" fmla="*/ 4991410 w 6459988"/>
              <a:gd name="connsiteY61" fmla="*/ 4087598 h 5753325"/>
              <a:gd name="connsiteX62" fmla="*/ 4930112 w 6459988"/>
              <a:gd name="connsiteY62" fmla="*/ 4138459 h 5753325"/>
              <a:gd name="connsiteX63" fmla="*/ 4834224 w 6459988"/>
              <a:gd name="connsiteY63" fmla="*/ 4231643 h 5753325"/>
              <a:gd name="connsiteX64" fmla="*/ 4812599 w 6459988"/>
              <a:gd name="connsiteY64" fmla="*/ 4249449 h 5753325"/>
              <a:gd name="connsiteX65" fmla="*/ 4789188 w 6459988"/>
              <a:gd name="connsiteY65" fmla="*/ 4256678 h 5753325"/>
              <a:gd name="connsiteX66" fmla="*/ 4779554 w 6459988"/>
              <a:gd name="connsiteY66" fmla="*/ 4251313 h 5753325"/>
              <a:gd name="connsiteX67" fmla="*/ 4766885 w 6459988"/>
              <a:gd name="connsiteY67" fmla="*/ 4259812 h 5753325"/>
              <a:gd name="connsiteX68" fmla="*/ 4762510 w 6459988"/>
              <a:gd name="connsiteY68" fmla="*/ 4260383 h 5753325"/>
              <a:gd name="connsiteX69" fmla="*/ 4738416 w 6459988"/>
              <a:gd name="connsiteY69" fmla="*/ 4265355 h 5753325"/>
              <a:gd name="connsiteX70" fmla="*/ 4712007 w 6459988"/>
              <a:gd name="connsiteY70" fmla="*/ 4317892 h 5753325"/>
              <a:gd name="connsiteX71" fmla="*/ 4658930 w 6459988"/>
              <a:gd name="connsiteY71" fmla="*/ 4348041 h 5753325"/>
              <a:gd name="connsiteX72" fmla="*/ 4443526 w 6459988"/>
              <a:gd name="connsiteY72" fmla="*/ 4507851 h 5753325"/>
              <a:gd name="connsiteX73" fmla="*/ 4289766 w 6459988"/>
              <a:gd name="connsiteY73" fmla="*/ 4711450 h 5753325"/>
              <a:gd name="connsiteX74" fmla="*/ 4150870 w 6459988"/>
              <a:gd name="connsiteY74" fmla="*/ 4818480 h 5753325"/>
              <a:gd name="connsiteX75" fmla="*/ 4006639 w 6459988"/>
              <a:gd name="connsiteY75" fmla="*/ 4933815 h 5753325"/>
              <a:gd name="connsiteX76" fmla="*/ 3298210 w 6459988"/>
              <a:gd name="connsiteY76" fmla="*/ 5070790 h 5753325"/>
              <a:gd name="connsiteX77" fmla="*/ 2947678 w 6459988"/>
              <a:gd name="connsiteY77" fmla="*/ 5117869 h 5753325"/>
              <a:gd name="connsiteX78" fmla="*/ 2822169 w 6459988"/>
              <a:gd name="connsiteY78" fmla="*/ 5129396 h 5753325"/>
              <a:gd name="connsiteX79" fmla="*/ 2538773 w 6459988"/>
              <a:gd name="connsiteY79" fmla="*/ 5313397 h 5753325"/>
              <a:gd name="connsiteX80" fmla="*/ 2014500 w 6459988"/>
              <a:gd name="connsiteY80" fmla="*/ 5519744 h 5753325"/>
              <a:gd name="connsiteX81" fmla="*/ 1934391 w 6459988"/>
              <a:gd name="connsiteY81" fmla="*/ 5591335 h 5753325"/>
              <a:gd name="connsiteX82" fmla="*/ 1892550 w 6459988"/>
              <a:gd name="connsiteY82" fmla="*/ 5649708 h 5753325"/>
              <a:gd name="connsiteX83" fmla="*/ 1854769 w 6459988"/>
              <a:gd name="connsiteY83" fmla="*/ 5647691 h 5753325"/>
              <a:gd name="connsiteX84" fmla="*/ 1809461 w 6459988"/>
              <a:gd name="connsiteY84" fmla="*/ 5648628 h 5753325"/>
              <a:gd name="connsiteX85" fmla="*/ 1745150 w 6459988"/>
              <a:gd name="connsiteY85" fmla="*/ 5693879 h 5753325"/>
              <a:gd name="connsiteX86" fmla="*/ 1713375 w 6459988"/>
              <a:gd name="connsiteY86" fmla="*/ 5684672 h 5753325"/>
              <a:gd name="connsiteX87" fmla="*/ 1707808 w 6459988"/>
              <a:gd name="connsiteY87" fmla="*/ 5682611 h 5753325"/>
              <a:gd name="connsiteX88" fmla="*/ 1679313 w 6459988"/>
              <a:gd name="connsiteY88" fmla="*/ 5672360 h 5753325"/>
              <a:gd name="connsiteX89" fmla="*/ 1646933 w 6459988"/>
              <a:gd name="connsiteY89" fmla="*/ 5666227 h 5753325"/>
              <a:gd name="connsiteX90" fmla="*/ 1610055 w 6459988"/>
              <a:gd name="connsiteY90" fmla="*/ 5673643 h 5753325"/>
              <a:gd name="connsiteX91" fmla="*/ 1437641 w 6459988"/>
              <a:gd name="connsiteY91" fmla="*/ 5723266 h 5753325"/>
              <a:gd name="connsiteX92" fmla="*/ 1332869 w 6459988"/>
              <a:gd name="connsiteY92" fmla="*/ 5744752 h 5753325"/>
              <a:gd name="connsiteX93" fmla="*/ 1290525 w 6459988"/>
              <a:gd name="connsiteY93" fmla="*/ 5740036 h 5753325"/>
              <a:gd name="connsiteX94" fmla="*/ 1233107 w 6459988"/>
              <a:gd name="connsiteY94" fmla="*/ 5742106 h 5753325"/>
              <a:gd name="connsiteX95" fmla="*/ 1214532 w 6459988"/>
              <a:gd name="connsiteY95" fmla="*/ 5753325 h 5753325"/>
              <a:gd name="connsiteX96" fmla="*/ 1199955 w 6459988"/>
              <a:gd name="connsiteY96" fmla="*/ 5744831 h 5753325"/>
              <a:gd name="connsiteX97" fmla="*/ 1162337 w 6459988"/>
              <a:gd name="connsiteY97" fmla="*/ 5738048 h 5753325"/>
              <a:gd name="connsiteX98" fmla="*/ 1053457 w 6459988"/>
              <a:gd name="connsiteY98" fmla="*/ 5688676 h 5753325"/>
              <a:gd name="connsiteX99" fmla="*/ 1025798 w 6459988"/>
              <a:gd name="connsiteY99" fmla="*/ 5673166 h 5753325"/>
              <a:gd name="connsiteX100" fmla="*/ 947900 w 6459988"/>
              <a:gd name="connsiteY100" fmla="*/ 5657848 h 5753325"/>
              <a:gd name="connsiteX101" fmla="*/ 815627 w 6459988"/>
              <a:gd name="connsiteY101" fmla="*/ 5642557 h 5753325"/>
              <a:gd name="connsiteX102" fmla="*/ 788251 w 6459988"/>
              <a:gd name="connsiteY102" fmla="*/ 5637065 h 5753325"/>
              <a:gd name="connsiteX103" fmla="*/ 767822 w 6459988"/>
              <a:gd name="connsiteY103" fmla="*/ 5623450 h 5753325"/>
              <a:gd name="connsiteX104" fmla="*/ 765791 w 6459988"/>
              <a:gd name="connsiteY104" fmla="*/ 5612539 h 5753325"/>
              <a:gd name="connsiteX105" fmla="*/ 751230 w 6459988"/>
              <a:gd name="connsiteY105" fmla="*/ 5608092 h 5753325"/>
              <a:gd name="connsiteX106" fmla="*/ 748008 w 6459988"/>
              <a:gd name="connsiteY106" fmla="*/ 5605052 h 5753325"/>
              <a:gd name="connsiteX107" fmla="*/ 728871 w 6459988"/>
              <a:gd name="connsiteY107" fmla="*/ 5589469 h 5753325"/>
              <a:gd name="connsiteX108" fmla="*/ 671898 w 6459988"/>
              <a:gd name="connsiteY108" fmla="*/ 5602363 h 5753325"/>
              <a:gd name="connsiteX109" fmla="*/ 615065 w 6459988"/>
              <a:gd name="connsiteY109" fmla="*/ 5580257 h 5753325"/>
              <a:gd name="connsiteX110" fmla="*/ 355785 w 6459988"/>
              <a:gd name="connsiteY110" fmla="*/ 5514383 h 5753325"/>
              <a:gd name="connsiteX111" fmla="*/ 102269 w 6459988"/>
              <a:gd name="connsiteY111" fmla="*/ 5524347 h 5753325"/>
              <a:gd name="connsiteX112" fmla="*/ 13160 w 6459988"/>
              <a:gd name="connsiteY112" fmla="*/ 5514159 h 5753325"/>
              <a:gd name="connsiteX113" fmla="*/ 0 w 6459988"/>
              <a:gd name="connsiteY113" fmla="*/ 5511735 h 5753325"/>
              <a:gd name="connsiteX114" fmla="*/ 0 w 6459988"/>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344988 w 6459988"/>
              <a:gd name="connsiteY10" fmla="*/ 697330 h 5753325"/>
              <a:gd name="connsiteX11" fmla="*/ 6447445 w 6459988"/>
              <a:gd name="connsiteY11" fmla="*/ 780003 h 5753325"/>
              <a:gd name="connsiteX12" fmla="*/ 6426552 w 6459988"/>
              <a:gd name="connsiteY12" fmla="*/ 845805 h 5753325"/>
              <a:gd name="connsiteX13" fmla="*/ 6434072 w 6459988"/>
              <a:gd name="connsiteY13" fmla="*/ 910733 h 5753325"/>
              <a:gd name="connsiteX14" fmla="*/ 6432570 w 6459988"/>
              <a:gd name="connsiteY14" fmla="*/ 983394 h 5753325"/>
              <a:gd name="connsiteX15" fmla="*/ 6431878 w 6459988"/>
              <a:gd name="connsiteY15" fmla="*/ 1026728 h 5753325"/>
              <a:gd name="connsiteX16" fmla="*/ 6414269 w 6459988"/>
              <a:gd name="connsiteY16" fmla="*/ 1151111 h 5753325"/>
              <a:gd name="connsiteX17" fmla="*/ 6371722 w 6459988"/>
              <a:gd name="connsiteY17" fmla="*/ 1318080 h 5753325"/>
              <a:gd name="connsiteX18" fmla="*/ 6356023 w 6459988"/>
              <a:gd name="connsiteY18" fmla="*/ 1356227 h 5753325"/>
              <a:gd name="connsiteX19" fmla="*/ 6356157 w 6459988"/>
              <a:gd name="connsiteY19" fmla="*/ 1361967 h 5753325"/>
              <a:gd name="connsiteX20" fmla="*/ 6350613 w 6459988"/>
              <a:gd name="connsiteY20" fmla="*/ 1393569 h 5753325"/>
              <a:gd name="connsiteX21" fmla="*/ 6357062 w 6459988"/>
              <a:gd name="connsiteY21" fmla="*/ 1444071 h 5753325"/>
              <a:gd name="connsiteX22" fmla="*/ 6364832 w 6459988"/>
              <a:gd name="connsiteY22" fmla="*/ 1478763 h 5753325"/>
              <a:gd name="connsiteX23" fmla="*/ 6369745 w 6459988"/>
              <a:gd name="connsiteY23" fmla="*/ 1495680 h 5753325"/>
              <a:gd name="connsiteX24" fmla="*/ 6370898 w 6459988"/>
              <a:gd name="connsiteY24" fmla="*/ 1513331 h 5753325"/>
              <a:gd name="connsiteX25" fmla="*/ 6368801 w 6459988"/>
              <a:gd name="connsiteY25" fmla="*/ 1527414 h 5753325"/>
              <a:gd name="connsiteX26" fmla="*/ 6359177 w 6459988"/>
              <a:gd name="connsiteY26" fmla="*/ 1639513 h 5753325"/>
              <a:gd name="connsiteX27" fmla="*/ 6299489 w 6459988"/>
              <a:gd name="connsiteY27" fmla="*/ 1784860 h 5753325"/>
              <a:gd name="connsiteX28" fmla="*/ 6267878 w 6459988"/>
              <a:gd name="connsiteY28" fmla="*/ 1858572 h 5753325"/>
              <a:gd name="connsiteX29" fmla="*/ 6251146 w 6459988"/>
              <a:gd name="connsiteY29" fmla="*/ 1926167 h 5753325"/>
              <a:gd name="connsiteX30" fmla="*/ 6210686 w 6459988"/>
              <a:gd name="connsiteY30" fmla="*/ 2014834 h 5753325"/>
              <a:gd name="connsiteX31" fmla="*/ 6106652 w 6459988"/>
              <a:gd name="connsiteY31" fmla="*/ 2150572 h 5753325"/>
              <a:gd name="connsiteX32" fmla="*/ 6097813 w 6459988"/>
              <a:gd name="connsiteY32" fmla="*/ 2172208 h 5753325"/>
              <a:gd name="connsiteX33" fmla="*/ 6095990 w 6459988"/>
              <a:gd name="connsiteY33" fmla="*/ 2181185 h 5753325"/>
              <a:gd name="connsiteX34" fmla="*/ 6090126 w 6459988"/>
              <a:gd name="connsiteY34" fmla="*/ 2192533 h 5753325"/>
              <a:gd name="connsiteX35" fmla="*/ 6089503 w 6459988"/>
              <a:gd name="connsiteY35" fmla="*/ 2192543 h 5753325"/>
              <a:gd name="connsiteX36" fmla="*/ 6084946 w 6459988"/>
              <a:gd name="connsiteY36" fmla="*/ 2203694 h 5753325"/>
              <a:gd name="connsiteX37" fmla="*/ 5987861 w 6459988"/>
              <a:gd name="connsiteY37" fmla="*/ 2304868 h 5753325"/>
              <a:gd name="connsiteX38" fmla="*/ 5973439 w 6459988"/>
              <a:gd name="connsiteY38" fmla="*/ 2385635 h 5753325"/>
              <a:gd name="connsiteX39" fmla="*/ 5916727 w 6459988"/>
              <a:gd name="connsiteY39" fmla="*/ 2458777 h 5753325"/>
              <a:gd name="connsiteX40" fmla="*/ 5856524 w 6459988"/>
              <a:gd name="connsiteY40" fmla="*/ 2583281 h 5753325"/>
              <a:gd name="connsiteX41" fmla="*/ 5838091 w 6459988"/>
              <a:gd name="connsiteY41" fmla="*/ 2753474 h 5753325"/>
              <a:gd name="connsiteX42" fmla="*/ 5777471 w 6459988"/>
              <a:gd name="connsiteY42" fmla="*/ 2901570 h 5753325"/>
              <a:gd name="connsiteX43" fmla="*/ 5723992 w 6459988"/>
              <a:gd name="connsiteY43" fmla="*/ 2998752 h 5753325"/>
              <a:gd name="connsiteX44" fmla="*/ 5557886 w 6459988"/>
              <a:gd name="connsiteY44" fmla="*/ 3329735 h 5753325"/>
              <a:gd name="connsiteX45" fmla="*/ 5471501 w 6459988"/>
              <a:gd name="connsiteY45" fmla="*/ 3462221 h 5753325"/>
              <a:gd name="connsiteX46" fmla="*/ 5465154 w 6459988"/>
              <a:gd name="connsiteY46" fmla="*/ 3541065 h 5753325"/>
              <a:gd name="connsiteX47" fmla="*/ 5437889 w 6459988"/>
              <a:gd name="connsiteY47" fmla="*/ 3559927 h 5753325"/>
              <a:gd name="connsiteX48" fmla="*/ 5432770 w 6459988"/>
              <a:gd name="connsiteY48" fmla="*/ 3562948 h 5753325"/>
              <a:gd name="connsiteX49" fmla="*/ 5406795 w 6459988"/>
              <a:gd name="connsiteY49" fmla="*/ 3578594 h 5753325"/>
              <a:gd name="connsiteX50" fmla="*/ 5381495 w 6459988"/>
              <a:gd name="connsiteY50" fmla="*/ 3599883 h 5753325"/>
              <a:gd name="connsiteX51" fmla="*/ 5363689 w 6459988"/>
              <a:gd name="connsiteY51" fmla="*/ 3633299 h 5753325"/>
              <a:gd name="connsiteX52" fmla="*/ 5291870 w 6459988"/>
              <a:gd name="connsiteY52" fmla="*/ 3799039 h 5753325"/>
              <a:gd name="connsiteX53" fmla="*/ 5241600 w 6459988"/>
              <a:gd name="connsiteY53" fmla="*/ 3894238 h 5753325"/>
              <a:gd name="connsiteX54" fmla="*/ 5211041 w 6459988"/>
              <a:gd name="connsiteY54" fmla="*/ 3924184 h 5753325"/>
              <a:gd name="connsiteX55" fmla="*/ 5176073 w 6459988"/>
              <a:gd name="connsiteY55" fmla="*/ 3970179 h 5753325"/>
              <a:gd name="connsiteX56" fmla="*/ 5172826 w 6459988"/>
              <a:gd name="connsiteY56" fmla="*/ 3991773 h 5753325"/>
              <a:gd name="connsiteX57" fmla="*/ 5157053 w 6459988"/>
              <a:gd name="connsiteY57" fmla="*/ 3997708 h 5753325"/>
              <a:gd name="connsiteX58" fmla="*/ 5127922 w 6459988"/>
              <a:gd name="connsiteY58" fmla="*/ 4022660 h 5753325"/>
              <a:gd name="connsiteX59" fmla="*/ 5020872 w 6459988"/>
              <a:gd name="connsiteY59" fmla="*/ 4075951 h 5753325"/>
              <a:gd name="connsiteX60" fmla="*/ 4991410 w 6459988"/>
              <a:gd name="connsiteY60" fmla="*/ 4087598 h 5753325"/>
              <a:gd name="connsiteX61" fmla="*/ 4930112 w 6459988"/>
              <a:gd name="connsiteY61" fmla="*/ 4138459 h 5753325"/>
              <a:gd name="connsiteX62" fmla="*/ 4834224 w 6459988"/>
              <a:gd name="connsiteY62" fmla="*/ 4231643 h 5753325"/>
              <a:gd name="connsiteX63" fmla="*/ 4812599 w 6459988"/>
              <a:gd name="connsiteY63" fmla="*/ 4249449 h 5753325"/>
              <a:gd name="connsiteX64" fmla="*/ 4789188 w 6459988"/>
              <a:gd name="connsiteY64" fmla="*/ 4256678 h 5753325"/>
              <a:gd name="connsiteX65" fmla="*/ 4779554 w 6459988"/>
              <a:gd name="connsiteY65" fmla="*/ 4251313 h 5753325"/>
              <a:gd name="connsiteX66" fmla="*/ 4766885 w 6459988"/>
              <a:gd name="connsiteY66" fmla="*/ 4259812 h 5753325"/>
              <a:gd name="connsiteX67" fmla="*/ 4762510 w 6459988"/>
              <a:gd name="connsiteY67" fmla="*/ 4260383 h 5753325"/>
              <a:gd name="connsiteX68" fmla="*/ 4738416 w 6459988"/>
              <a:gd name="connsiteY68" fmla="*/ 4265355 h 5753325"/>
              <a:gd name="connsiteX69" fmla="*/ 4712007 w 6459988"/>
              <a:gd name="connsiteY69" fmla="*/ 4317892 h 5753325"/>
              <a:gd name="connsiteX70" fmla="*/ 4658930 w 6459988"/>
              <a:gd name="connsiteY70" fmla="*/ 4348041 h 5753325"/>
              <a:gd name="connsiteX71" fmla="*/ 4443526 w 6459988"/>
              <a:gd name="connsiteY71" fmla="*/ 4507851 h 5753325"/>
              <a:gd name="connsiteX72" fmla="*/ 4289766 w 6459988"/>
              <a:gd name="connsiteY72" fmla="*/ 4711450 h 5753325"/>
              <a:gd name="connsiteX73" fmla="*/ 4150870 w 6459988"/>
              <a:gd name="connsiteY73" fmla="*/ 4818480 h 5753325"/>
              <a:gd name="connsiteX74" fmla="*/ 4006639 w 6459988"/>
              <a:gd name="connsiteY74" fmla="*/ 4933815 h 5753325"/>
              <a:gd name="connsiteX75" fmla="*/ 3298210 w 6459988"/>
              <a:gd name="connsiteY75" fmla="*/ 5070790 h 5753325"/>
              <a:gd name="connsiteX76" fmla="*/ 2947678 w 6459988"/>
              <a:gd name="connsiteY76" fmla="*/ 5117869 h 5753325"/>
              <a:gd name="connsiteX77" fmla="*/ 2822169 w 6459988"/>
              <a:gd name="connsiteY77" fmla="*/ 5129396 h 5753325"/>
              <a:gd name="connsiteX78" fmla="*/ 2538773 w 6459988"/>
              <a:gd name="connsiteY78" fmla="*/ 5313397 h 5753325"/>
              <a:gd name="connsiteX79" fmla="*/ 2014500 w 6459988"/>
              <a:gd name="connsiteY79" fmla="*/ 5519744 h 5753325"/>
              <a:gd name="connsiteX80" fmla="*/ 1934391 w 6459988"/>
              <a:gd name="connsiteY80" fmla="*/ 5591335 h 5753325"/>
              <a:gd name="connsiteX81" fmla="*/ 1892550 w 6459988"/>
              <a:gd name="connsiteY81" fmla="*/ 5649708 h 5753325"/>
              <a:gd name="connsiteX82" fmla="*/ 1854769 w 6459988"/>
              <a:gd name="connsiteY82" fmla="*/ 5647691 h 5753325"/>
              <a:gd name="connsiteX83" fmla="*/ 1809461 w 6459988"/>
              <a:gd name="connsiteY83" fmla="*/ 5648628 h 5753325"/>
              <a:gd name="connsiteX84" fmla="*/ 1745150 w 6459988"/>
              <a:gd name="connsiteY84" fmla="*/ 5693879 h 5753325"/>
              <a:gd name="connsiteX85" fmla="*/ 1713375 w 6459988"/>
              <a:gd name="connsiteY85" fmla="*/ 5684672 h 5753325"/>
              <a:gd name="connsiteX86" fmla="*/ 1707808 w 6459988"/>
              <a:gd name="connsiteY86" fmla="*/ 5682611 h 5753325"/>
              <a:gd name="connsiteX87" fmla="*/ 1679313 w 6459988"/>
              <a:gd name="connsiteY87" fmla="*/ 5672360 h 5753325"/>
              <a:gd name="connsiteX88" fmla="*/ 1646933 w 6459988"/>
              <a:gd name="connsiteY88" fmla="*/ 5666227 h 5753325"/>
              <a:gd name="connsiteX89" fmla="*/ 1610055 w 6459988"/>
              <a:gd name="connsiteY89" fmla="*/ 5673643 h 5753325"/>
              <a:gd name="connsiteX90" fmla="*/ 1437641 w 6459988"/>
              <a:gd name="connsiteY90" fmla="*/ 5723266 h 5753325"/>
              <a:gd name="connsiteX91" fmla="*/ 1332869 w 6459988"/>
              <a:gd name="connsiteY91" fmla="*/ 5744752 h 5753325"/>
              <a:gd name="connsiteX92" fmla="*/ 1290525 w 6459988"/>
              <a:gd name="connsiteY92" fmla="*/ 5740036 h 5753325"/>
              <a:gd name="connsiteX93" fmla="*/ 1233107 w 6459988"/>
              <a:gd name="connsiteY93" fmla="*/ 5742106 h 5753325"/>
              <a:gd name="connsiteX94" fmla="*/ 1214532 w 6459988"/>
              <a:gd name="connsiteY94" fmla="*/ 5753325 h 5753325"/>
              <a:gd name="connsiteX95" fmla="*/ 1199955 w 6459988"/>
              <a:gd name="connsiteY95" fmla="*/ 5744831 h 5753325"/>
              <a:gd name="connsiteX96" fmla="*/ 1162337 w 6459988"/>
              <a:gd name="connsiteY96" fmla="*/ 5738048 h 5753325"/>
              <a:gd name="connsiteX97" fmla="*/ 1053457 w 6459988"/>
              <a:gd name="connsiteY97" fmla="*/ 5688676 h 5753325"/>
              <a:gd name="connsiteX98" fmla="*/ 1025798 w 6459988"/>
              <a:gd name="connsiteY98" fmla="*/ 5673166 h 5753325"/>
              <a:gd name="connsiteX99" fmla="*/ 947900 w 6459988"/>
              <a:gd name="connsiteY99" fmla="*/ 5657848 h 5753325"/>
              <a:gd name="connsiteX100" fmla="*/ 815627 w 6459988"/>
              <a:gd name="connsiteY100" fmla="*/ 5642557 h 5753325"/>
              <a:gd name="connsiteX101" fmla="*/ 788251 w 6459988"/>
              <a:gd name="connsiteY101" fmla="*/ 5637065 h 5753325"/>
              <a:gd name="connsiteX102" fmla="*/ 767822 w 6459988"/>
              <a:gd name="connsiteY102" fmla="*/ 5623450 h 5753325"/>
              <a:gd name="connsiteX103" fmla="*/ 765791 w 6459988"/>
              <a:gd name="connsiteY103" fmla="*/ 5612539 h 5753325"/>
              <a:gd name="connsiteX104" fmla="*/ 751230 w 6459988"/>
              <a:gd name="connsiteY104" fmla="*/ 5608092 h 5753325"/>
              <a:gd name="connsiteX105" fmla="*/ 748008 w 6459988"/>
              <a:gd name="connsiteY105" fmla="*/ 5605052 h 5753325"/>
              <a:gd name="connsiteX106" fmla="*/ 728871 w 6459988"/>
              <a:gd name="connsiteY106" fmla="*/ 5589469 h 5753325"/>
              <a:gd name="connsiteX107" fmla="*/ 671898 w 6459988"/>
              <a:gd name="connsiteY107" fmla="*/ 5602363 h 5753325"/>
              <a:gd name="connsiteX108" fmla="*/ 615065 w 6459988"/>
              <a:gd name="connsiteY108" fmla="*/ 5580257 h 5753325"/>
              <a:gd name="connsiteX109" fmla="*/ 355785 w 6459988"/>
              <a:gd name="connsiteY109" fmla="*/ 5514383 h 5753325"/>
              <a:gd name="connsiteX110" fmla="*/ 102269 w 6459988"/>
              <a:gd name="connsiteY110" fmla="*/ 5524347 h 5753325"/>
              <a:gd name="connsiteX111" fmla="*/ 13160 w 6459988"/>
              <a:gd name="connsiteY111" fmla="*/ 5514159 h 5753325"/>
              <a:gd name="connsiteX112" fmla="*/ 0 w 6459988"/>
              <a:gd name="connsiteY112" fmla="*/ 5511735 h 5753325"/>
              <a:gd name="connsiteX113" fmla="*/ 0 w 6459988"/>
              <a:gd name="connsiteY113"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344988 w 6459988"/>
              <a:gd name="connsiteY9" fmla="*/ 697330 h 5753325"/>
              <a:gd name="connsiteX10" fmla="*/ 6447445 w 6459988"/>
              <a:gd name="connsiteY10" fmla="*/ 780003 h 5753325"/>
              <a:gd name="connsiteX11" fmla="*/ 6426552 w 6459988"/>
              <a:gd name="connsiteY11" fmla="*/ 845805 h 5753325"/>
              <a:gd name="connsiteX12" fmla="*/ 6434072 w 6459988"/>
              <a:gd name="connsiteY12" fmla="*/ 910733 h 5753325"/>
              <a:gd name="connsiteX13" fmla="*/ 6432570 w 6459988"/>
              <a:gd name="connsiteY13" fmla="*/ 983394 h 5753325"/>
              <a:gd name="connsiteX14" fmla="*/ 6431878 w 6459988"/>
              <a:gd name="connsiteY14" fmla="*/ 1026728 h 5753325"/>
              <a:gd name="connsiteX15" fmla="*/ 6414269 w 6459988"/>
              <a:gd name="connsiteY15" fmla="*/ 1151111 h 5753325"/>
              <a:gd name="connsiteX16" fmla="*/ 6371722 w 6459988"/>
              <a:gd name="connsiteY16" fmla="*/ 1318080 h 5753325"/>
              <a:gd name="connsiteX17" fmla="*/ 6356023 w 6459988"/>
              <a:gd name="connsiteY17" fmla="*/ 1356227 h 5753325"/>
              <a:gd name="connsiteX18" fmla="*/ 6356157 w 6459988"/>
              <a:gd name="connsiteY18" fmla="*/ 1361967 h 5753325"/>
              <a:gd name="connsiteX19" fmla="*/ 6350613 w 6459988"/>
              <a:gd name="connsiteY19" fmla="*/ 1393569 h 5753325"/>
              <a:gd name="connsiteX20" fmla="*/ 6357062 w 6459988"/>
              <a:gd name="connsiteY20" fmla="*/ 1444071 h 5753325"/>
              <a:gd name="connsiteX21" fmla="*/ 6364832 w 6459988"/>
              <a:gd name="connsiteY21" fmla="*/ 1478763 h 5753325"/>
              <a:gd name="connsiteX22" fmla="*/ 6369745 w 6459988"/>
              <a:gd name="connsiteY22" fmla="*/ 1495680 h 5753325"/>
              <a:gd name="connsiteX23" fmla="*/ 6370898 w 6459988"/>
              <a:gd name="connsiteY23" fmla="*/ 1513331 h 5753325"/>
              <a:gd name="connsiteX24" fmla="*/ 6368801 w 6459988"/>
              <a:gd name="connsiteY24" fmla="*/ 1527414 h 5753325"/>
              <a:gd name="connsiteX25" fmla="*/ 6359177 w 6459988"/>
              <a:gd name="connsiteY25" fmla="*/ 1639513 h 5753325"/>
              <a:gd name="connsiteX26" fmla="*/ 6299489 w 6459988"/>
              <a:gd name="connsiteY26" fmla="*/ 1784860 h 5753325"/>
              <a:gd name="connsiteX27" fmla="*/ 6267878 w 6459988"/>
              <a:gd name="connsiteY27" fmla="*/ 1858572 h 5753325"/>
              <a:gd name="connsiteX28" fmla="*/ 6251146 w 6459988"/>
              <a:gd name="connsiteY28" fmla="*/ 1926167 h 5753325"/>
              <a:gd name="connsiteX29" fmla="*/ 6210686 w 6459988"/>
              <a:gd name="connsiteY29" fmla="*/ 2014834 h 5753325"/>
              <a:gd name="connsiteX30" fmla="*/ 6106652 w 6459988"/>
              <a:gd name="connsiteY30" fmla="*/ 2150572 h 5753325"/>
              <a:gd name="connsiteX31" fmla="*/ 6097813 w 6459988"/>
              <a:gd name="connsiteY31" fmla="*/ 2172208 h 5753325"/>
              <a:gd name="connsiteX32" fmla="*/ 6095990 w 6459988"/>
              <a:gd name="connsiteY32" fmla="*/ 2181185 h 5753325"/>
              <a:gd name="connsiteX33" fmla="*/ 6090126 w 6459988"/>
              <a:gd name="connsiteY33" fmla="*/ 2192533 h 5753325"/>
              <a:gd name="connsiteX34" fmla="*/ 6089503 w 6459988"/>
              <a:gd name="connsiteY34" fmla="*/ 2192543 h 5753325"/>
              <a:gd name="connsiteX35" fmla="*/ 6084946 w 6459988"/>
              <a:gd name="connsiteY35" fmla="*/ 2203694 h 5753325"/>
              <a:gd name="connsiteX36" fmla="*/ 5987861 w 6459988"/>
              <a:gd name="connsiteY36" fmla="*/ 2304868 h 5753325"/>
              <a:gd name="connsiteX37" fmla="*/ 5973439 w 6459988"/>
              <a:gd name="connsiteY37" fmla="*/ 2385635 h 5753325"/>
              <a:gd name="connsiteX38" fmla="*/ 5916727 w 6459988"/>
              <a:gd name="connsiteY38" fmla="*/ 2458777 h 5753325"/>
              <a:gd name="connsiteX39" fmla="*/ 5856524 w 6459988"/>
              <a:gd name="connsiteY39" fmla="*/ 2583281 h 5753325"/>
              <a:gd name="connsiteX40" fmla="*/ 5838091 w 6459988"/>
              <a:gd name="connsiteY40" fmla="*/ 2753474 h 5753325"/>
              <a:gd name="connsiteX41" fmla="*/ 5777471 w 6459988"/>
              <a:gd name="connsiteY41" fmla="*/ 2901570 h 5753325"/>
              <a:gd name="connsiteX42" fmla="*/ 5723992 w 6459988"/>
              <a:gd name="connsiteY42" fmla="*/ 2998752 h 5753325"/>
              <a:gd name="connsiteX43" fmla="*/ 5557886 w 6459988"/>
              <a:gd name="connsiteY43" fmla="*/ 3329735 h 5753325"/>
              <a:gd name="connsiteX44" fmla="*/ 5471501 w 6459988"/>
              <a:gd name="connsiteY44" fmla="*/ 3462221 h 5753325"/>
              <a:gd name="connsiteX45" fmla="*/ 5465154 w 6459988"/>
              <a:gd name="connsiteY45" fmla="*/ 3541065 h 5753325"/>
              <a:gd name="connsiteX46" fmla="*/ 5437889 w 6459988"/>
              <a:gd name="connsiteY46" fmla="*/ 3559927 h 5753325"/>
              <a:gd name="connsiteX47" fmla="*/ 5432770 w 6459988"/>
              <a:gd name="connsiteY47" fmla="*/ 3562948 h 5753325"/>
              <a:gd name="connsiteX48" fmla="*/ 5406795 w 6459988"/>
              <a:gd name="connsiteY48" fmla="*/ 3578594 h 5753325"/>
              <a:gd name="connsiteX49" fmla="*/ 5381495 w 6459988"/>
              <a:gd name="connsiteY49" fmla="*/ 3599883 h 5753325"/>
              <a:gd name="connsiteX50" fmla="*/ 5363689 w 6459988"/>
              <a:gd name="connsiteY50" fmla="*/ 3633299 h 5753325"/>
              <a:gd name="connsiteX51" fmla="*/ 5291870 w 6459988"/>
              <a:gd name="connsiteY51" fmla="*/ 3799039 h 5753325"/>
              <a:gd name="connsiteX52" fmla="*/ 5241600 w 6459988"/>
              <a:gd name="connsiteY52" fmla="*/ 3894238 h 5753325"/>
              <a:gd name="connsiteX53" fmla="*/ 5211041 w 6459988"/>
              <a:gd name="connsiteY53" fmla="*/ 3924184 h 5753325"/>
              <a:gd name="connsiteX54" fmla="*/ 5176073 w 6459988"/>
              <a:gd name="connsiteY54" fmla="*/ 3970179 h 5753325"/>
              <a:gd name="connsiteX55" fmla="*/ 5172826 w 6459988"/>
              <a:gd name="connsiteY55" fmla="*/ 3991773 h 5753325"/>
              <a:gd name="connsiteX56" fmla="*/ 5157053 w 6459988"/>
              <a:gd name="connsiteY56" fmla="*/ 3997708 h 5753325"/>
              <a:gd name="connsiteX57" fmla="*/ 5127922 w 6459988"/>
              <a:gd name="connsiteY57" fmla="*/ 4022660 h 5753325"/>
              <a:gd name="connsiteX58" fmla="*/ 5020872 w 6459988"/>
              <a:gd name="connsiteY58" fmla="*/ 4075951 h 5753325"/>
              <a:gd name="connsiteX59" fmla="*/ 4991410 w 6459988"/>
              <a:gd name="connsiteY59" fmla="*/ 4087598 h 5753325"/>
              <a:gd name="connsiteX60" fmla="*/ 4930112 w 6459988"/>
              <a:gd name="connsiteY60" fmla="*/ 4138459 h 5753325"/>
              <a:gd name="connsiteX61" fmla="*/ 4834224 w 6459988"/>
              <a:gd name="connsiteY61" fmla="*/ 4231643 h 5753325"/>
              <a:gd name="connsiteX62" fmla="*/ 4812599 w 6459988"/>
              <a:gd name="connsiteY62" fmla="*/ 4249449 h 5753325"/>
              <a:gd name="connsiteX63" fmla="*/ 4789188 w 6459988"/>
              <a:gd name="connsiteY63" fmla="*/ 4256678 h 5753325"/>
              <a:gd name="connsiteX64" fmla="*/ 4779554 w 6459988"/>
              <a:gd name="connsiteY64" fmla="*/ 4251313 h 5753325"/>
              <a:gd name="connsiteX65" fmla="*/ 4766885 w 6459988"/>
              <a:gd name="connsiteY65" fmla="*/ 4259812 h 5753325"/>
              <a:gd name="connsiteX66" fmla="*/ 4762510 w 6459988"/>
              <a:gd name="connsiteY66" fmla="*/ 4260383 h 5753325"/>
              <a:gd name="connsiteX67" fmla="*/ 4738416 w 6459988"/>
              <a:gd name="connsiteY67" fmla="*/ 4265355 h 5753325"/>
              <a:gd name="connsiteX68" fmla="*/ 4712007 w 6459988"/>
              <a:gd name="connsiteY68" fmla="*/ 4317892 h 5753325"/>
              <a:gd name="connsiteX69" fmla="*/ 4658930 w 6459988"/>
              <a:gd name="connsiteY69" fmla="*/ 4348041 h 5753325"/>
              <a:gd name="connsiteX70" fmla="*/ 4443526 w 6459988"/>
              <a:gd name="connsiteY70" fmla="*/ 4507851 h 5753325"/>
              <a:gd name="connsiteX71" fmla="*/ 4289766 w 6459988"/>
              <a:gd name="connsiteY71" fmla="*/ 4711450 h 5753325"/>
              <a:gd name="connsiteX72" fmla="*/ 4150870 w 6459988"/>
              <a:gd name="connsiteY72" fmla="*/ 4818480 h 5753325"/>
              <a:gd name="connsiteX73" fmla="*/ 4006639 w 6459988"/>
              <a:gd name="connsiteY73" fmla="*/ 4933815 h 5753325"/>
              <a:gd name="connsiteX74" fmla="*/ 3298210 w 6459988"/>
              <a:gd name="connsiteY74" fmla="*/ 5070790 h 5753325"/>
              <a:gd name="connsiteX75" fmla="*/ 2947678 w 6459988"/>
              <a:gd name="connsiteY75" fmla="*/ 5117869 h 5753325"/>
              <a:gd name="connsiteX76" fmla="*/ 2822169 w 6459988"/>
              <a:gd name="connsiteY76" fmla="*/ 5129396 h 5753325"/>
              <a:gd name="connsiteX77" fmla="*/ 2538773 w 6459988"/>
              <a:gd name="connsiteY77" fmla="*/ 5313397 h 5753325"/>
              <a:gd name="connsiteX78" fmla="*/ 2014500 w 6459988"/>
              <a:gd name="connsiteY78" fmla="*/ 5519744 h 5753325"/>
              <a:gd name="connsiteX79" fmla="*/ 1934391 w 6459988"/>
              <a:gd name="connsiteY79" fmla="*/ 5591335 h 5753325"/>
              <a:gd name="connsiteX80" fmla="*/ 1892550 w 6459988"/>
              <a:gd name="connsiteY80" fmla="*/ 5649708 h 5753325"/>
              <a:gd name="connsiteX81" fmla="*/ 1854769 w 6459988"/>
              <a:gd name="connsiteY81" fmla="*/ 5647691 h 5753325"/>
              <a:gd name="connsiteX82" fmla="*/ 1809461 w 6459988"/>
              <a:gd name="connsiteY82" fmla="*/ 5648628 h 5753325"/>
              <a:gd name="connsiteX83" fmla="*/ 1745150 w 6459988"/>
              <a:gd name="connsiteY83" fmla="*/ 5693879 h 5753325"/>
              <a:gd name="connsiteX84" fmla="*/ 1713375 w 6459988"/>
              <a:gd name="connsiteY84" fmla="*/ 5684672 h 5753325"/>
              <a:gd name="connsiteX85" fmla="*/ 1707808 w 6459988"/>
              <a:gd name="connsiteY85" fmla="*/ 5682611 h 5753325"/>
              <a:gd name="connsiteX86" fmla="*/ 1679313 w 6459988"/>
              <a:gd name="connsiteY86" fmla="*/ 5672360 h 5753325"/>
              <a:gd name="connsiteX87" fmla="*/ 1646933 w 6459988"/>
              <a:gd name="connsiteY87" fmla="*/ 5666227 h 5753325"/>
              <a:gd name="connsiteX88" fmla="*/ 1610055 w 6459988"/>
              <a:gd name="connsiteY88" fmla="*/ 5673643 h 5753325"/>
              <a:gd name="connsiteX89" fmla="*/ 1437641 w 6459988"/>
              <a:gd name="connsiteY89" fmla="*/ 5723266 h 5753325"/>
              <a:gd name="connsiteX90" fmla="*/ 1332869 w 6459988"/>
              <a:gd name="connsiteY90" fmla="*/ 5744752 h 5753325"/>
              <a:gd name="connsiteX91" fmla="*/ 1290525 w 6459988"/>
              <a:gd name="connsiteY91" fmla="*/ 5740036 h 5753325"/>
              <a:gd name="connsiteX92" fmla="*/ 1233107 w 6459988"/>
              <a:gd name="connsiteY92" fmla="*/ 5742106 h 5753325"/>
              <a:gd name="connsiteX93" fmla="*/ 1214532 w 6459988"/>
              <a:gd name="connsiteY93" fmla="*/ 5753325 h 5753325"/>
              <a:gd name="connsiteX94" fmla="*/ 1199955 w 6459988"/>
              <a:gd name="connsiteY94" fmla="*/ 5744831 h 5753325"/>
              <a:gd name="connsiteX95" fmla="*/ 1162337 w 6459988"/>
              <a:gd name="connsiteY95" fmla="*/ 5738048 h 5753325"/>
              <a:gd name="connsiteX96" fmla="*/ 1053457 w 6459988"/>
              <a:gd name="connsiteY96" fmla="*/ 5688676 h 5753325"/>
              <a:gd name="connsiteX97" fmla="*/ 1025798 w 6459988"/>
              <a:gd name="connsiteY97" fmla="*/ 5673166 h 5753325"/>
              <a:gd name="connsiteX98" fmla="*/ 947900 w 6459988"/>
              <a:gd name="connsiteY98" fmla="*/ 5657848 h 5753325"/>
              <a:gd name="connsiteX99" fmla="*/ 815627 w 6459988"/>
              <a:gd name="connsiteY99" fmla="*/ 5642557 h 5753325"/>
              <a:gd name="connsiteX100" fmla="*/ 788251 w 6459988"/>
              <a:gd name="connsiteY100" fmla="*/ 5637065 h 5753325"/>
              <a:gd name="connsiteX101" fmla="*/ 767822 w 6459988"/>
              <a:gd name="connsiteY101" fmla="*/ 5623450 h 5753325"/>
              <a:gd name="connsiteX102" fmla="*/ 765791 w 6459988"/>
              <a:gd name="connsiteY102" fmla="*/ 5612539 h 5753325"/>
              <a:gd name="connsiteX103" fmla="*/ 751230 w 6459988"/>
              <a:gd name="connsiteY103" fmla="*/ 5608092 h 5753325"/>
              <a:gd name="connsiteX104" fmla="*/ 748008 w 6459988"/>
              <a:gd name="connsiteY104" fmla="*/ 5605052 h 5753325"/>
              <a:gd name="connsiteX105" fmla="*/ 728871 w 6459988"/>
              <a:gd name="connsiteY105" fmla="*/ 5589469 h 5753325"/>
              <a:gd name="connsiteX106" fmla="*/ 671898 w 6459988"/>
              <a:gd name="connsiteY106" fmla="*/ 5602363 h 5753325"/>
              <a:gd name="connsiteX107" fmla="*/ 615065 w 6459988"/>
              <a:gd name="connsiteY107" fmla="*/ 5580257 h 5753325"/>
              <a:gd name="connsiteX108" fmla="*/ 355785 w 6459988"/>
              <a:gd name="connsiteY108" fmla="*/ 5514383 h 5753325"/>
              <a:gd name="connsiteX109" fmla="*/ 102269 w 6459988"/>
              <a:gd name="connsiteY109" fmla="*/ 5524347 h 5753325"/>
              <a:gd name="connsiteX110" fmla="*/ 13160 w 6459988"/>
              <a:gd name="connsiteY110" fmla="*/ 5514159 h 5753325"/>
              <a:gd name="connsiteX111" fmla="*/ 0 w 6459988"/>
              <a:gd name="connsiteY111" fmla="*/ 5511735 h 5753325"/>
              <a:gd name="connsiteX112" fmla="*/ 0 w 6459988"/>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447445 w 6447632"/>
              <a:gd name="connsiteY10" fmla="*/ 780003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05877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09888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3456"/>
              <a:gd name="connsiteY0" fmla="*/ 0 h 5753325"/>
              <a:gd name="connsiteX1" fmla="*/ 6438980 w 6443456"/>
              <a:gd name="connsiteY1" fmla="*/ 0 h 5753325"/>
              <a:gd name="connsiteX2" fmla="*/ 6439047 w 6443456"/>
              <a:gd name="connsiteY2" fmla="*/ 147 h 5753325"/>
              <a:gd name="connsiteX3" fmla="*/ 6443456 w 6443456"/>
              <a:gd name="connsiteY3" fmla="*/ 130105 h 5753325"/>
              <a:gd name="connsiteX4" fmla="*/ 6422751 w 6443456"/>
              <a:gd name="connsiteY4" fmla="*/ 174163 h 5753325"/>
              <a:gd name="connsiteX5" fmla="*/ 6396598 w 6443456"/>
              <a:gd name="connsiteY5" fmla="*/ 274847 h 5753325"/>
              <a:gd name="connsiteX6" fmla="*/ 6337615 w 6443456"/>
              <a:gd name="connsiteY6" fmla="*/ 471794 h 5753325"/>
              <a:gd name="connsiteX7" fmla="*/ 6304423 w 6443456"/>
              <a:gd name="connsiteY7" fmla="*/ 582623 h 5753325"/>
              <a:gd name="connsiteX8" fmla="*/ 6303977 w 6443456"/>
              <a:gd name="connsiteY8" fmla="*/ 664291 h 5753325"/>
              <a:gd name="connsiteX9" fmla="*/ 6299372 w 6443456"/>
              <a:gd name="connsiteY9" fmla="*/ 697330 h 5753325"/>
              <a:gd name="connsiteX10" fmla="*/ 6309888 w 6443456"/>
              <a:gd name="connsiteY10" fmla="*/ 754001 h 5753325"/>
              <a:gd name="connsiteX11" fmla="*/ 6339879 w 6443456"/>
              <a:gd name="connsiteY11" fmla="*/ 811136 h 5753325"/>
              <a:gd name="connsiteX12" fmla="*/ 6330065 w 6443456"/>
              <a:gd name="connsiteY12" fmla="*/ 893399 h 5753325"/>
              <a:gd name="connsiteX13" fmla="*/ 6328618 w 6443456"/>
              <a:gd name="connsiteY13" fmla="*/ 1009766 h 5753325"/>
              <a:gd name="connsiteX14" fmla="*/ 6320797 w 6443456"/>
              <a:gd name="connsiteY14" fmla="*/ 1146964 h 5753325"/>
              <a:gd name="connsiteX15" fmla="*/ 6334400 w 6443456"/>
              <a:gd name="connsiteY15" fmla="*/ 1280757 h 5753325"/>
              <a:gd name="connsiteX16" fmla="*/ 6356023 w 6443456"/>
              <a:gd name="connsiteY16" fmla="*/ 1356227 h 5753325"/>
              <a:gd name="connsiteX17" fmla="*/ 6356157 w 6443456"/>
              <a:gd name="connsiteY17" fmla="*/ 1361967 h 5753325"/>
              <a:gd name="connsiteX18" fmla="*/ 6350613 w 6443456"/>
              <a:gd name="connsiteY18" fmla="*/ 1393569 h 5753325"/>
              <a:gd name="connsiteX19" fmla="*/ 6357062 w 6443456"/>
              <a:gd name="connsiteY19" fmla="*/ 1444071 h 5753325"/>
              <a:gd name="connsiteX20" fmla="*/ 6364832 w 6443456"/>
              <a:gd name="connsiteY20" fmla="*/ 1478763 h 5753325"/>
              <a:gd name="connsiteX21" fmla="*/ 6369745 w 6443456"/>
              <a:gd name="connsiteY21" fmla="*/ 1495680 h 5753325"/>
              <a:gd name="connsiteX22" fmla="*/ 6370898 w 6443456"/>
              <a:gd name="connsiteY22" fmla="*/ 1513331 h 5753325"/>
              <a:gd name="connsiteX23" fmla="*/ 6339773 w 6443456"/>
              <a:gd name="connsiteY23" fmla="*/ 1527414 h 5753325"/>
              <a:gd name="connsiteX24" fmla="*/ 6321854 w 6443456"/>
              <a:gd name="connsiteY24" fmla="*/ 1635366 h 5753325"/>
              <a:gd name="connsiteX25" fmla="*/ 6299489 w 6443456"/>
              <a:gd name="connsiteY25" fmla="*/ 1784860 h 5753325"/>
              <a:gd name="connsiteX26" fmla="*/ 6267878 w 6443456"/>
              <a:gd name="connsiteY26" fmla="*/ 1858572 h 5753325"/>
              <a:gd name="connsiteX27" fmla="*/ 6251146 w 6443456"/>
              <a:gd name="connsiteY27" fmla="*/ 1926167 h 5753325"/>
              <a:gd name="connsiteX28" fmla="*/ 6210686 w 6443456"/>
              <a:gd name="connsiteY28" fmla="*/ 2014834 h 5753325"/>
              <a:gd name="connsiteX29" fmla="*/ 6106652 w 6443456"/>
              <a:gd name="connsiteY29" fmla="*/ 2150572 h 5753325"/>
              <a:gd name="connsiteX30" fmla="*/ 6097813 w 6443456"/>
              <a:gd name="connsiteY30" fmla="*/ 2172208 h 5753325"/>
              <a:gd name="connsiteX31" fmla="*/ 6095990 w 6443456"/>
              <a:gd name="connsiteY31" fmla="*/ 2181185 h 5753325"/>
              <a:gd name="connsiteX32" fmla="*/ 6090126 w 6443456"/>
              <a:gd name="connsiteY32" fmla="*/ 2192533 h 5753325"/>
              <a:gd name="connsiteX33" fmla="*/ 6089503 w 6443456"/>
              <a:gd name="connsiteY33" fmla="*/ 2192543 h 5753325"/>
              <a:gd name="connsiteX34" fmla="*/ 6084946 w 6443456"/>
              <a:gd name="connsiteY34" fmla="*/ 2203694 h 5753325"/>
              <a:gd name="connsiteX35" fmla="*/ 5987861 w 6443456"/>
              <a:gd name="connsiteY35" fmla="*/ 2304868 h 5753325"/>
              <a:gd name="connsiteX36" fmla="*/ 5973439 w 6443456"/>
              <a:gd name="connsiteY36" fmla="*/ 2385635 h 5753325"/>
              <a:gd name="connsiteX37" fmla="*/ 5916727 w 6443456"/>
              <a:gd name="connsiteY37" fmla="*/ 2458777 h 5753325"/>
              <a:gd name="connsiteX38" fmla="*/ 5856524 w 6443456"/>
              <a:gd name="connsiteY38" fmla="*/ 2583281 h 5753325"/>
              <a:gd name="connsiteX39" fmla="*/ 5838091 w 6443456"/>
              <a:gd name="connsiteY39" fmla="*/ 2753474 h 5753325"/>
              <a:gd name="connsiteX40" fmla="*/ 5744296 w 6443456"/>
              <a:gd name="connsiteY40" fmla="*/ 2893276 h 5753325"/>
              <a:gd name="connsiteX41" fmla="*/ 5682522 w 6443456"/>
              <a:gd name="connsiteY41" fmla="*/ 3044368 h 5753325"/>
              <a:gd name="connsiteX42" fmla="*/ 5557886 w 6443456"/>
              <a:gd name="connsiteY42" fmla="*/ 3304853 h 5753325"/>
              <a:gd name="connsiteX43" fmla="*/ 5483942 w 6443456"/>
              <a:gd name="connsiteY43" fmla="*/ 3416604 h 5753325"/>
              <a:gd name="connsiteX44" fmla="*/ 5461007 w 6443456"/>
              <a:gd name="connsiteY44" fmla="*/ 3503742 h 5753325"/>
              <a:gd name="connsiteX45" fmla="*/ 5437889 w 6443456"/>
              <a:gd name="connsiteY45" fmla="*/ 3559927 h 5753325"/>
              <a:gd name="connsiteX46" fmla="*/ 5432770 w 6443456"/>
              <a:gd name="connsiteY46" fmla="*/ 3562948 h 5753325"/>
              <a:gd name="connsiteX47" fmla="*/ 5406795 w 6443456"/>
              <a:gd name="connsiteY47" fmla="*/ 3578594 h 5753325"/>
              <a:gd name="connsiteX48" fmla="*/ 5381495 w 6443456"/>
              <a:gd name="connsiteY48" fmla="*/ 3599883 h 5753325"/>
              <a:gd name="connsiteX49" fmla="*/ 5363689 w 6443456"/>
              <a:gd name="connsiteY49" fmla="*/ 3633299 h 5753325"/>
              <a:gd name="connsiteX50" fmla="*/ 5291870 w 6443456"/>
              <a:gd name="connsiteY50" fmla="*/ 3799039 h 5753325"/>
              <a:gd name="connsiteX51" fmla="*/ 5241600 w 6443456"/>
              <a:gd name="connsiteY51" fmla="*/ 3894238 h 5753325"/>
              <a:gd name="connsiteX52" fmla="*/ 5211041 w 6443456"/>
              <a:gd name="connsiteY52" fmla="*/ 3924184 h 5753325"/>
              <a:gd name="connsiteX53" fmla="*/ 5176073 w 6443456"/>
              <a:gd name="connsiteY53" fmla="*/ 3970179 h 5753325"/>
              <a:gd name="connsiteX54" fmla="*/ 5172826 w 6443456"/>
              <a:gd name="connsiteY54" fmla="*/ 3991773 h 5753325"/>
              <a:gd name="connsiteX55" fmla="*/ 5157053 w 6443456"/>
              <a:gd name="connsiteY55" fmla="*/ 3997708 h 5753325"/>
              <a:gd name="connsiteX56" fmla="*/ 5127922 w 6443456"/>
              <a:gd name="connsiteY56" fmla="*/ 4022660 h 5753325"/>
              <a:gd name="connsiteX57" fmla="*/ 5020872 w 6443456"/>
              <a:gd name="connsiteY57" fmla="*/ 4075951 h 5753325"/>
              <a:gd name="connsiteX58" fmla="*/ 4991410 w 6443456"/>
              <a:gd name="connsiteY58" fmla="*/ 4087598 h 5753325"/>
              <a:gd name="connsiteX59" fmla="*/ 4930112 w 6443456"/>
              <a:gd name="connsiteY59" fmla="*/ 4138459 h 5753325"/>
              <a:gd name="connsiteX60" fmla="*/ 4834224 w 6443456"/>
              <a:gd name="connsiteY60" fmla="*/ 4231643 h 5753325"/>
              <a:gd name="connsiteX61" fmla="*/ 4812599 w 6443456"/>
              <a:gd name="connsiteY61" fmla="*/ 4249449 h 5753325"/>
              <a:gd name="connsiteX62" fmla="*/ 4789188 w 6443456"/>
              <a:gd name="connsiteY62" fmla="*/ 4256678 h 5753325"/>
              <a:gd name="connsiteX63" fmla="*/ 4779554 w 6443456"/>
              <a:gd name="connsiteY63" fmla="*/ 4251313 h 5753325"/>
              <a:gd name="connsiteX64" fmla="*/ 4766885 w 6443456"/>
              <a:gd name="connsiteY64" fmla="*/ 4259812 h 5753325"/>
              <a:gd name="connsiteX65" fmla="*/ 4762510 w 6443456"/>
              <a:gd name="connsiteY65" fmla="*/ 4260383 h 5753325"/>
              <a:gd name="connsiteX66" fmla="*/ 4738416 w 6443456"/>
              <a:gd name="connsiteY66" fmla="*/ 4265355 h 5753325"/>
              <a:gd name="connsiteX67" fmla="*/ 4712007 w 6443456"/>
              <a:gd name="connsiteY67" fmla="*/ 4317892 h 5753325"/>
              <a:gd name="connsiteX68" fmla="*/ 4658930 w 6443456"/>
              <a:gd name="connsiteY68" fmla="*/ 4348041 h 5753325"/>
              <a:gd name="connsiteX69" fmla="*/ 4443526 w 6443456"/>
              <a:gd name="connsiteY69" fmla="*/ 4507851 h 5753325"/>
              <a:gd name="connsiteX70" fmla="*/ 4289766 w 6443456"/>
              <a:gd name="connsiteY70" fmla="*/ 4711450 h 5753325"/>
              <a:gd name="connsiteX71" fmla="*/ 4150870 w 6443456"/>
              <a:gd name="connsiteY71" fmla="*/ 4818480 h 5753325"/>
              <a:gd name="connsiteX72" fmla="*/ 4006639 w 6443456"/>
              <a:gd name="connsiteY72" fmla="*/ 4933815 h 5753325"/>
              <a:gd name="connsiteX73" fmla="*/ 3298210 w 6443456"/>
              <a:gd name="connsiteY73" fmla="*/ 5070790 h 5753325"/>
              <a:gd name="connsiteX74" fmla="*/ 2947678 w 6443456"/>
              <a:gd name="connsiteY74" fmla="*/ 5117869 h 5753325"/>
              <a:gd name="connsiteX75" fmla="*/ 2822169 w 6443456"/>
              <a:gd name="connsiteY75" fmla="*/ 5129396 h 5753325"/>
              <a:gd name="connsiteX76" fmla="*/ 2538773 w 6443456"/>
              <a:gd name="connsiteY76" fmla="*/ 5313397 h 5753325"/>
              <a:gd name="connsiteX77" fmla="*/ 2014500 w 6443456"/>
              <a:gd name="connsiteY77" fmla="*/ 5519744 h 5753325"/>
              <a:gd name="connsiteX78" fmla="*/ 1934391 w 6443456"/>
              <a:gd name="connsiteY78" fmla="*/ 5591335 h 5753325"/>
              <a:gd name="connsiteX79" fmla="*/ 1892550 w 6443456"/>
              <a:gd name="connsiteY79" fmla="*/ 5649708 h 5753325"/>
              <a:gd name="connsiteX80" fmla="*/ 1854769 w 6443456"/>
              <a:gd name="connsiteY80" fmla="*/ 5647691 h 5753325"/>
              <a:gd name="connsiteX81" fmla="*/ 1809461 w 6443456"/>
              <a:gd name="connsiteY81" fmla="*/ 5648628 h 5753325"/>
              <a:gd name="connsiteX82" fmla="*/ 1745150 w 6443456"/>
              <a:gd name="connsiteY82" fmla="*/ 5693879 h 5753325"/>
              <a:gd name="connsiteX83" fmla="*/ 1713375 w 6443456"/>
              <a:gd name="connsiteY83" fmla="*/ 5684672 h 5753325"/>
              <a:gd name="connsiteX84" fmla="*/ 1707808 w 6443456"/>
              <a:gd name="connsiteY84" fmla="*/ 5682611 h 5753325"/>
              <a:gd name="connsiteX85" fmla="*/ 1679313 w 6443456"/>
              <a:gd name="connsiteY85" fmla="*/ 5672360 h 5753325"/>
              <a:gd name="connsiteX86" fmla="*/ 1646933 w 6443456"/>
              <a:gd name="connsiteY86" fmla="*/ 5666227 h 5753325"/>
              <a:gd name="connsiteX87" fmla="*/ 1610055 w 6443456"/>
              <a:gd name="connsiteY87" fmla="*/ 5673643 h 5753325"/>
              <a:gd name="connsiteX88" fmla="*/ 1437641 w 6443456"/>
              <a:gd name="connsiteY88" fmla="*/ 5723266 h 5753325"/>
              <a:gd name="connsiteX89" fmla="*/ 1332869 w 6443456"/>
              <a:gd name="connsiteY89" fmla="*/ 5744752 h 5753325"/>
              <a:gd name="connsiteX90" fmla="*/ 1290525 w 6443456"/>
              <a:gd name="connsiteY90" fmla="*/ 5740036 h 5753325"/>
              <a:gd name="connsiteX91" fmla="*/ 1233107 w 6443456"/>
              <a:gd name="connsiteY91" fmla="*/ 5742106 h 5753325"/>
              <a:gd name="connsiteX92" fmla="*/ 1214532 w 6443456"/>
              <a:gd name="connsiteY92" fmla="*/ 5753325 h 5753325"/>
              <a:gd name="connsiteX93" fmla="*/ 1199955 w 6443456"/>
              <a:gd name="connsiteY93" fmla="*/ 5744831 h 5753325"/>
              <a:gd name="connsiteX94" fmla="*/ 1162337 w 6443456"/>
              <a:gd name="connsiteY94" fmla="*/ 5738048 h 5753325"/>
              <a:gd name="connsiteX95" fmla="*/ 1053457 w 6443456"/>
              <a:gd name="connsiteY95" fmla="*/ 5688676 h 5753325"/>
              <a:gd name="connsiteX96" fmla="*/ 1025798 w 6443456"/>
              <a:gd name="connsiteY96" fmla="*/ 5673166 h 5753325"/>
              <a:gd name="connsiteX97" fmla="*/ 947900 w 6443456"/>
              <a:gd name="connsiteY97" fmla="*/ 5657848 h 5753325"/>
              <a:gd name="connsiteX98" fmla="*/ 815627 w 6443456"/>
              <a:gd name="connsiteY98" fmla="*/ 5642557 h 5753325"/>
              <a:gd name="connsiteX99" fmla="*/ 788251 w 6443456"/>
              <a:gd name="connsiteY99" fmla="*/ 5637065 h 5753325"/>
              <a:gd name="connsiteX100" fmla="*/ 767822 w 6443456"/>
              <a:gd name="connsiteY100" fmla="*/ 5623450 h 5753325"/>
              <a:gd name="connsiteX101" fmla="*/ 765791 w 6443456"/>
              <a:gd name="connsiteY101" fmla="*/ 5612539 h 5753325"/>
              <a:gd name="connsiteX102" fmla="*/ 751230 w 6443456"/>
              <a:gd name="connsiteY102" fmla="*/ 5608092 h 5753325"/>
              <a:gd name="connsiteX103" fmla="*/ 748008 w 6443456"/>
              <a:gd name="connsiteY103" fmla="*/ 5605052 h 5753325"/>
              <a:gd name="connsiteX104" fmla="*/ 728871 w 6443456"/>
              <a:gd name="connsiteY104" fmla="*/ 5589469 h 5753325"/>
              <a:gd name="connsiteX105" fmla="*/ 671898 w 6443456"/>
              <a:gd name="connsiteY105" fmla="*/ 5602363 h 5753325"/>
              <a:gd name="connsiteX106" fmla="*/ 615065 w 6443456"/>
              <a:gd name="connsiteY106" fmla="*/ 5580257 h 5753325"/>
              <a:gd name="connsiteX107" fmla="*/ 355785 w 6443456"/>
              <a:gd name="connsiteY107" fmla="*/ 5514383 h 5753325"/>
              <a:gd name="connsiteX108" fmla="*/ 102269 w 6443456"/>
              <a:gd name="connsiteY108" fmla="*/ 5524347 h 5753325"/>
              <a:gd name="connsiteX109" fmla="*/ 13160 w 6443456"/>
              <a:gd name="connsiteY109" fmla="*/ 5514159 h 5753325"/>
              <a:gd name="connsiteX110" fmla="*/ 0 w 6443456"/>
              <a:gd name="connsiteY110" fmla="*/ 5511735 h 5753325"/>
              <a:gd name="connsiteX111" fmla="*/ 0 w 6443456"/>
              <a:gd name="connsiteY111" fmla="*/ 0 h 5753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443456" h="5753325">
                <a:moveTo>
                  <a:pt x="0" y="0"/>
                </a:moveTo>
                <a:lnTo>
                  <a:pt x="6438980" y="0"/>
                </a:lnTo>
                <a:cubicBezTo>
                  <a:pt x="6439002" y="49"/>
                  <a:pt x="6439025" y="98"/>
                  <a:pt x="6439047" y="147"/>
                </a:cubicBezTo>
                <a:lnTo>
                  <a:pt x="6443456" y="130105"/>
                </a:lnTo>
                <a:cubicBezTo>
                  <a:pt x="6430828" y="154008"/>
                  <a:pt x="6411458" y="168030"/>
                  <a:pt x="6422751" y="174163"/>
                </a:cubicBezTo>
                <a:cubicBezTo>
                  <a:pt x="6418487" y="214830"/>
                  <a:pt x="6390727" y="235497"/>
                  <a:pt x="6396598" y="274847"/>
                </a:cubicBezTo>
                <a:cubicBezTo>
                  <a:pt x="6403386" y="335822"/>
                  <a:pt x="6333127" y="414969"/>
                  <a:pt x="6337615" y="471794"/>
                </a:cubicBezTo>
                <a:cubicBezTo>
                  <a:pt x="6324407" y="534783"/>
                  <a:pt x="6296331" y="556933"/>
                  <a:pt x="6304423" y="582623"/>
                </a:cubicBezTo>
                <a:cubicBezTo>
                  <a:pt x="6293676" y="611941"/>
                  <a:pt x="6296956" y="631352"/>
                  <a:pt x="6303977" y="664291"/>
                </a:cubicBezTo>
                <a:cubicBezTo>
                  <a:pt x="6302444" y="677879"/>
                  <a:pt x="6301462" y="685268"/>
                  <a:pt x="6299372" y="697330"/>
                </a:cubicBezTo>
                <a:cubicBezTo>
                  <a:pt x="6314387" y="714913"/>
                  <a:pt x="6313827" y="721408"/>
                  <a:pt x="6309888" y="754001"/>
                </a:cubicBezTo>
                <a:cubicBezTo>
                  <a:pt x="6306930" y="769492"/>
                  <a:pt x="6343751" y="814234"/>
                  <a:pt x="6339879" y="811136"/>
                </a:cubicBezTo>
                <a:lnTo>
                  <a:pt x="6330065" y="893399"/>
                </a:lnTo>
                <a:cubicBezTo>
                  <a:pt x="6341065" y="929331"/>
                  <a:pt x="6340586" y="969703"/>
                  <a:pt x="6328618" y="1009766"/>
                </a:cubicBezTo>
                <a:cubicBezTo>
                  <a:pt x="6286987" y="1110847"/>
                  <a:pt x="6336677" y="1067927"/>
                  <a:pt x="6320797" y="1146964"/>
                </a:cubicBezTo>
                <a:cubicBezTo>
                  <a:pt x="6308238" y="1199586"/>
                  <a:pt x="6355190" y="1221191"/>
                  <a:pt x="6334400" y="1280757"/>
                </a:cubicBezTo>
                <a:lnTo>
                  <a:pt x="6356023" y="1356227"/>
                </a:lnTo>
                <a:cubicBezTo>
                  <a:pt x="6356068" y="1358140"/>
                  <a:pt x="6356112" y="1360054"/>
                  <a:pt x="6356157" y="1361967"/>
                </a:cubicBezTo>
                <a:cubicBezTo>
                  <a:pt x="6355533" y="1373512"/>
                  <a:pt x="6353847" y="1384370"/>
                  <a:pt x="6350613" y="1393569"/>
                </a:cubicBezTo>
                <a:cubicBezTo>
                  <a:pt x="6364468" y="1383914"/>
                  <a:pt x="6345614" y="1435855"/>
                  <a:pt x="6357062" y="1444071"/>
                </a:cubicBezTo>
                <a:cubicBezTo>
                  <a:pt x="6366618" y="1448518"/>
                  <a:pt x="6363125" y="1465312"/>
                  <a:pt x="6364832" y="1478763"/>
                </a:cubicBezTo>
                <a:cubicBezTo>
                  <a:pt x="6367033" y="1481449"/>
                  <a:pt x="6368644" y="1487606"/>
                  <a:pt x="6369745" y="1495680"/>
                </a:cubicBezTo>
                <a:cubicBezTo>
                  <a:pt x="6370129" y="1501564"/>
                  <a:pt x="6370514" y="1507447"/>
                  <a:pt x="6370898" y="1513331"/>
                </a:cubicBezTo>
                <a:lnTo>
                  <a:pt x="6339773" y="1527414"/>
                </a:lnTo>
                <a:cubicBezTo>
                  <a:pt x="6334226" y="1566662"/>
                  <a:pt x="6321052" y="1604564"/>
                  <a:pt x="6321854" y="1635366"/>
                </a:cubicBezTo>
                <a:cubicBezTo>
                  <a:pt x="6320655" y="1701187"/>
                  <a:pt x="6292278" y="1721205"/>
                  <a:pt x="6299489" y="1784860"/>
                </a:cubicBezTo>
                <a:cubicBezTo>
                  <a:pt x="6294212" y="1831400"/>
                  <a:pt x="6277478" y="1829559"/>
                  <a:pt x="6267878" y="1858572"/>
                </a:cubicBezTo>
                <a:lnTo>
                  <a:pt x="6251146" y="1926167"/>
                </a:lnTo>
                <a:lnTo>
                  <a:pt x="6210686" y="2014834"/>
                </a:lnTo>
                <a:lnTo>
                  <a:pt x="6106652" y="2150572"/>
                </a:lnTo>
                <a:lnTo>
                  <a:pt x="6097813" y="2172208"/>
                </a:lnTo>
                <a:lnTo>
                  <a:pt x="6095990" y="2181185"/>
                </a:lnTo>
                <a:cubicBezTo>
                  <a:pt x="6094176" y="2187056"/>
                  <a:pt x="6092249" y="2190556"/>
                  <a:pt x="6090126" y="2192533"/>
                </a:cubicBezTo>
                <a:lnTo>
                  <a:pt x="6089503" y="2192543"/>
                </a:lnTo>
                <a:lnTo>
                  <a:pt x="6084946" y="2203694"/>
                </a:lnTo>
                <a:cubicBezTo>
                  <a:pt x="6068006" y="2222414"/>
                  <a:pt x="6006445" y="2274546"/>
                  <a:pt x="5987861" y="2304868"/>
                </a:cubicBezTo>
                <a:lnTo>
                  <a:pt x="5973439" y="2385635"/>
                </a:lnTo>
                <a:lnTo>
                  <a:pt x="5916727" y="2458777"/>
                </a:lnTo>
                <a:cubicBezTo>
                  <a:pt x="5897241" y="2491718"/>
                  <a:pt x="5869630" y="2534165"/>
                  <a:pt x="5856524" y="2583281"/>
                </a:cubicBezTo>
                <a:cubicBezTo>
                  <a:pt x="5857506" y="2592319"/>
                  <a:pt x="5833326" y="2744711"/>
                  <a:pt x="5838091" y="2753474"/>
                </a:cubicBezTo>
                <a:cubicBezTo>
                  <a:pt x="5785248" y="2871502"/>
                  <a:pt x="5778642" y="2803565"/>
                  <a:pt x="5744296" y="2893276"/>
                </a:cubicBezTo>
                <a:cubicBezTo>
                  <a:pt x="5695297" y="2988328"/>
                  <a:pt x="5724634" y="2958553"/>
                  <a:pt x="5682522" y="3044368"/>
                </a:cubicBezTo>
                <a:cubicBezTo>
                  <a:pt x="5632185" y="3125072"/>
                  <a:pt x="5597317" y="3217236"/>
                  <a:pt x="5557886" y="3304853"/>
                </a:cubicBezTo>
                <a:cubicBezTo>
                  <a:pt x="5482395" y="3325072"/>
                  <a:pt x="5519234" y="3371478"/>
                  <a:pt x="5483942" y="3416604"/>
                </a:cubicBezTo>
                <a:cubicBezTo>
                  <a:pt x="5462927" y="3437263"/>
                  <a:pt x="5484515" y="3475608"/>
                  <a:pt x="5461007" y="3503742"/>
                </a:cubicBezTo>
                <a:cubicBezTo>
                  <a:pt x="5452964" y="3510933"/>
                  <a:pt x="5447709" y="3554203"/>
                  <a:pt x="5437889" y="3559927"/>
                </a:cubicBezTo>
                <a:lnTo>
                  <a:pt x="5432770" y="3562948"/>
                </a:lnTo>
                <a:lnTo>
                  <a:pt x="5406795" y="3578594"/>
                </a:lnTo>
                <a:lnTo>
                  <a:pt x="5381495" y="3599883"/>
                </a:lnTo>
                <a:cubicBezTo>
                  <a:pt x="5373777" y="3608845"/>
                  <a:pt x="5367528" y="3619642"/>
                  <a:pt x="5363689" y="3633299"/>
                </a:cubicBezTo>
                <a:cubicBezTo>
                  <a:pt x="5370837" y="3689178"/>
                  <a:pt x="5280250" y="3728687"/>
                  <a:pt x="5291870" y="3799039"/>
                </a:cubicBezTo>
                <a:cubicBezTo>
                  <a:pt x="5291660" y="3823262"/>
                  <a:pt x="5263601" y="3888134"/>
                  <a:pt x="5241600" y="3894238"/>
                </a:cubicBezTo>
                <a:cubicBezTo>
                  <a:pt x="5232312" y="3906493"/>
                  <a:pt x="5231731" y="3924583"/>
                  <a:pt x="5211041" y="3924184"/>
                </a:cubicBezTo>
                <a:cubicBezTo>
                  <a:pt x="5184976" y="3926521"/>
                  <a:pt x="5198956" y="3986438"/>
                  <a:pt x="5176073" y="3970179"/>
                </a:cubicBezTo>
                <a:lnTo>
                  <a:pt x="5172826" y="3991773"/>
                </a:lnTo>
                <a:lnTo>
                  <a:pt x="5157053" y="3997708"/>
                </a:lnTo>
                <a:cubicBezTo>
                  <a:pt x="5140589" y="4003541"/>
                  <a:pt x="5128715" y="4008828"/>
                  <a:pt x="5127922" y="4022660"/>
                </a:cubicBezTo>
                <a:cubicBezTo>
                  <a:pt x="5105225" y="4035701"/>
                  <a:pt x="5043623" y="4065128"/>
                  <a:pt x="5020872" y="4075951"/>
                </a:cubicBezTo>
                <a:cubicBezTo>
                  <a:pt x="5006705" y="4069570"/>
                  <a:pt x="5001251" y="4081880"/>
                  <a:pt x="4991410" y="4087598"/>
                </a:cubicBezTo>
                <a:cubicBezTo>
                  <a:pt x="4974522" y="4085320"/>
                  <a:pt x="4937025" y="4121806"/>
                  <a:pt x="4930112" y="4138459"/>
                </a:cubicBezTo>
                <a:cubicBezTo>
                  <a:pt x="4918473" y="4190437"/>
                  <a:pt x="4844909" y="4190974"/>
                  <a:pt x="4834224" y="4231643"/>
                </a:cubicBezTo>
                <a:cubicBezTo>
                  <a:pt x="4827758" y="4239937"/>
                  <a:pt x="4820427" y="4245543"/>
                  <a:pt x="4812599" y="4249449"/>
                </a:cubicBezTo>
                <a:lnTo>
                  <a:pt x="4789188" y="4256678"/>
                </a:lnTo>
                <a:lnTo>
                  <a:pt x="4779554" y="4251313"/>
                </a:lnTo>
                <a:lnTo>
                  <a:pt x="4766885" y="4259812"/>
                </a:lnTo>
                <a:lnTo>
                  <a:pt x="4762510" y="4260383"/>
                </a:lnTo>
                <a:cubicBezTo>
                  <a:pt x="4754131" y="4261437"/>
                  <a:pt x="4745977" y="4262766"/>
                  <a:pt x="4738416" y="4265355"/>
                </a:cubicBezTo>
                <a:cubicBezTo>
                  <a:pt x="4764694" y="4302719"/>
                  <a:pt x="4678447" y="4293536"/>
                  <a:pt x="4712007" y="4317892"/>
                </a:cubicBezTo>
                <a:cubicBezTo>
                  <a:pt x="4675039" y="4338619"/>
                  <a:pt x="4716682" y="4356361"/>
                  <a:pt x="4658930" y="4348041"/>
                </a:cubicBezTo>
                <a:cubicBezTo>
                  <a:pt x="4614182" y="4379702"/>
                  <a:pt x="4505053" y="4447283"/>
                  <a:pt x="4443526" y="4507851"/>
                </a:cubicBezTo>
                <a:cubicBezTo>
                  <a:pt x="4410144" y="4540439"/>
                  <a:pt x="4338540" y="4659677"/>
                  <a:pt x="4289766" y="4711450"/>
                </a:cubicBezTo>
                <a:cubicBezTo>
                  <a:pt x="4238344" y="4747694"/>
                  <a:pt x="4215457" y="4807131"/>
                  <a:pt x="4150870" y="4818480"/>
                </a:cubicBezTo>
                <a:cubicBezTo>
                  <a:pt x="4103683" y="4855538"/>
                  <a:pt x="4148748" y="4891762"/>
                  <a:pt x="4006639" y="4933815"/>
                </a:cubicBezTo>
                <a:cubicBezTo>
                  <a:pt x="3736045" y="4990755"/>
                  <a:pt x="3474704" y="5040115"/>
                  <a:pt x="3298210" y="5070790"/>
                </a:cubicBezTo>
                <a:cubicBezTo>
                  <a:pt x="3121717" y="5101466"/>
                  <a:pt x="3041810" y="5115566"/>
                  <a:pt x="2947678" y="5117869"/>
                </a:cubicBezTo>
                <a:cubicBezTo>
                  <a:pt x="2853544" y="5120174"/>
                  <a:pt x="2858560" y="5135060"/>
                  <a:pt x="2822169" y="5129396"/>
                </a:cubicBezTo>
                <a:lnTo>
                  <a:pt x="2538773" y="5313397"/>
                </a:lnTo>
                <a:cubicBezTo>
                  <a:pt x="2405817" y="5334661"/>
                  <a:pt x="2144167" y="5431620"/>
                  <a:pt x="2014500" y="5519744"/>
                </a:cubicBezTo>
                <a:cubicBezTo>
                  <a:pt x="1982084" y="5541774"/>
                  <a:pt x="1956346" y="5565847"/>
                  <a:pt x="1934391" y="5591335"/>
                </a:cubicBezTo>
                <a:lnTo>
                  <a:pt x="1892550" y="5649708"/>
                </a:lnTo>
                <a:lnTo>
                  <a:pt x="1854769" y="5647691"/>
                </a:lnTo>
                <a:cubicBezTo>
                  <a:pt x="1838936" y="5647705"/>
                  <a:pt x="1823701" y="5648312"/>
                  <a:pt x="1809461" y="5648628"/>
                </a:cubicBezTo>
                <a:cubicBezTo>
                  <a:pt x="1834147" y="5698228"/>
                  <a:pt x="1737274" y="5633540"/>
                  <a:pt x="1745150" y="5693879"/>
                </a:cubicBezTo>
                <a:cubicBezTo>
                  <a:pt x="1734532" y="5692199"/>
                  <a:pt x="1724002" y="5688669"/>
                  <a:pt x="1713375" y="5684672"/>
                </a:cubicBezTo>
                <a:lnTo>
                  <a:pt x="1707808" y="5682611"/>
                </a:lnTo>
                <a:lnTo>
                  <a:pt x="1679313" y="5672360"/>
                </a:lnTo>
                <a:lnTo>
                  <a:pt x="1646933" y="5666227"/>
                </a:lnTo>
                <a:cubicBezTo>
                  <a:pt x="1635170" y="5665926"/>
                  <a:pt x="1622939" y="5667937"/>
                  <a:pt x="1610055" y="5673643"/>
                </a:cubicBezTo>
                <a:cubicBezTo>
                  <a:pt x="1571890" y="5714775"/>
                  <a:pt x="1484024" y="5669440"/>
                  <a:pt x="1437641" y="5723266"/>
                </a:cubicBezTo>
                <a:cubicBezTo>
                  <a:pt x="1418992" y="5738521"/>
                  <a:pt x="1351540" y="5757985"/>
                  <a:pt x="1332869" y="5744752"/>
                </a:cubicBezTo>
                <a:cubicBezTo>
                  <a:pt x="1317589" y="5745326"/>
                  <a:pt x="1303391" y="5756388"/>
                  <a:pt x="1290525" y="5740036"/>
                </a:cubicBezTo>
                <a:cubicBezTo>
                  <a:pt x="1272146" y="5721242"/>
                  <a:pt x="1235243" y="5770261"/>
                  <a:pt x="1233107" y="5742106"/>
                </a:cubicBezTo>
                <a:lnTo>
                  <a:pt x="1214532" y="5753325"/>
                </a:lnTo>
                <a:lnTo>
                  <a:pt x="1199955" y="5744831"/>
                </a:lnTo>
                <a:cubicBezTo>
                  <a:pt x="1185016" y="5735734"/>
                  <a:pt x="1173414" y="5729861"/>
                  <a:pt x="1162337" y="5738048"/>
                </a:cubicBezTo>
                <a:cubicBezTo>
                  <a:pt x="1137920" y="5728689"/>
                  <a:pt x="1076212" y="5699490"/>
                  <a:pt x="1053457" y="5688676"/>
                </a:cubicBezTo>
                <a:cubicBezTo>
                  <a:pt x="1049315" y="5673592"/>
                  <a:pt x="1036434" y="5677184"/>
                  <a:pt x="1025798" y="5673166"/>
                </a:cubicBezTo>
                <a:cubicBezTo>
                  <a:pt x="1016787" y="5658576"/>
                  <a:pt x="965030" y="5652626"/>
                  <a:pt x="947900" y="5657848"/>
                </a:cubicBezTo>
                <a:cubicBezTo>
                  <a:pt x="900757" y="5681878"/>
                  <a:pt x="853518" y="5624981"/>
                  <a:pt x="815627" y="5642557"/>
                </a:cubicBezTo>
                <a:cubicBezTo>
                  <a:pt x="805172" y="5642805"/>
                  <a:pt x="796221" y="5640669"/>
                  <a:pt x="788251" y="5637065"/>
                </a:cubicBezTo>
                <a:lnTo>
                  <a:pt x="767822" y="5623450"/>
                </a:lnTo>
                <a:lnTo>
                  <a:pt x="765791" y="5612539"/>
                </a:lnTo>
                <a:lnTo>
                  <a:pt x="751230" y="5608092"/>
                </a:lnTo>
                <a:lnTo>
                  <a:pt x="748008" y="5605052"/>
                </a:lnTo>
                <a:cubicBezTo>
                  <a:pt x="741868" y="5599203"/>
                  <a:pt x="735661" y="5593704"/>
                  <a:pt x="728871" y="5589469"/>
                </a:cubicBezTo>
                <a:cubicBezTo>
                  <a:pt x="717035" y="5633700"/>
                  <a:pt x="669153" y="5560747"/>
                  <a:pt x="671898" y="5602363"/>
                </a:cubicBezTo>
                <a:cubicBezTo>
                  <a:pt x="632522" y="5586794"/>
                  <a:pt x="645467" y="5630489"/>
                  <a:pt x="615065" y="5580257"/>
                </a:cubicBezTo>
                <a:cubicBezTo>
                  <a:pt x="562379" y="5565593"/>
                  <a:pt x="441250" y="5523701"/>
                  <a:pt x="355785" y="5514383"/>
                </a:cubicBezTo>
                <a:cubicBezTo>
                  <a:pt x="309622" y="5509152"/>
                  <a:pt x="172894" y="5529342"/>
                  <a:pt x="102269" y="5524347"/>
                </a:cubicBezTo>
                <a:cubicBezTo>
                  <a:pt x="72050" y="5515878"/>
                  <a:pt x="41939" y="5516649"/>
                  <a:pt x="13160" y="5514159"/>
                </a:cubicBezTo>
                <a:lnTo>
                  <a:pt x="0" y="551173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56E4341-7CE6-087F-2615-25E113B0C06B}"/>
              </a:ext>
            </a:extLst>
          </p:cNvPr>
          <p:cNvSpPr>
            <a:spLocks noGrp="1"/>
          </p:cNvSpPr>
          <p:nvPr>
            <p:ph type="title"/>
          </p:nvPr>
        </p:nvSpPr>
        <p:spPr>
          <a:xfrm>
            <a:off x="-5686" y="1487791"/>
            <a:ext cx="4200160" cy="728384"/>
          </a:xfrm>
        </p:spPr>
        <p:txBody>
          <a:bodyPr anchor="b">
            <a:normAutofit fontScale="90000"/>
          </a:bodyPr>
          <a:lstStyle/>
          <a:p>
            <a:r>
              <a:rPr lang="en-US" b="1" dirty="0"/>
              <a:t>Data Description</a:t>
            </a:r>
            <a:endParaRPr lang="en-UG" b="1" dirty="0"/>
          </a:p>
        </p:txBody>
      </p:sp>
      <p:sp>
        <p:nvSpPr>
          <p:cNvPr id="13" name="Freeform: Shape 12">
            <a:extLst>
              <a:ext uri="{FF2B5EF4-FFF2-40B4-BE49-F238E27FC236}">
                <a16:creationId xmlns:a16="http://schemas.microsoft.com/office/drawing/2014/main" id="{CF93DC6C-1BFD-4414-BF23-471C8831C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998" y="3440576"/>
            <a:ext cx="3086100" cy="2675059"/>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 name="Picture 3" descr="A person looking at a computer screen&#10;&#10;AI-generated content may be incorrect.">
            <a:extLst>
              <a:ext uri="{FF2B5EF4-FFF2-40B4-BE49-F238E27FC236}">
                <a16:creationId xmlns:a16="http://schemas.microsoft.com/office/drawing/2014/main" id="{A340F9B0-ABCA-9EB1-13BF-1FF8A318AD7F}"/>
              </a:ext>
            </a:extLst>
          </p:cNvPr>
          <p:cNvPicPr>
            <a:picLocks noChangeAspect="1"/>
          </p:cNvPicPr>
          <p:nvPr/>
        </p:nvPicPr>
        <p:blipFill>
          <a:blip r:embed="rId2"/>
          <a:srcRect l="24482" r="9474" b="2"/>
          <a:stretch>
            <a:fillRect/>
          </a:stretch>
        </p:blipFill>
        <p:spPr>
          <a:xfrm>
            <a:off x="787212" y="3555468"/>
            <a:ext cx="2877671" cy="2450885"/>
          </a:xfrm>
          <a:prstGeom prst="rect">
            <a:avLst/>
          </a:prstGeom>
        </p:spPr>
      </p:pic>
      <p:sp>
        <p:nvSpPr>
          <p:cNvPr id="15" name="Rectangle 6">
            <a:extLst>
              <a:ext uri="{FF2B5EF4-FFF2-40B4-BE49-F238E27FC236}">
                <a16:creationId xmlns:a16="http://schemas.microsoft.com/office/drawing/2014/main" id="{001928A5-13A8-4372-8A77-BCAAE5553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5641" y="5904203"/>
            <a:ext cx="901130" cy="365125"/>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1E6E28C-81A8-AD37-A989-7971817A7AE2}"/>
              </a:ext>
            </a:extLst>
          </p:cNvPr>
          <p:cNvSpPr>
            <a:spLocks noGrp="1"/>
          </p:cNvSpPr>
          <p:nvPr>
            <p:ph idx="1"/>
          </p:nvPr>
        </p:nvSpPr>
        <p:spPr>
          <a:xfrm>
            <a:off x="4568785" y="5038"/>
            <a:ext cx="4577789" cy="6852649"/>
          </a:xfrm>
        </p:spPr>
        <p:txBody>
          <a:bodyPr vert="horz" lIns="91440" tIns="45720" rIns="91440" bIns="45720" rtlCol="0" anchor="ctr">
            <a:noAutofit/>
          </a:bodyPr>
          <a:lstStyle/>
          <a:p>
            <a:pPr marL="0" indent="0" algn="just">
              <a:lnSpc>
                <a:spcPct val="90000"/>
              </a:lnSpc>
              <a:buNone/>
            </a:pPr>
            <a:r>
              <a:rPr lang="en-US" sz="1800" b="1" dirty="0"/>
              <a:t>Type of Machine Learning</a:t>
            </a:r>
            <a:endParaRPr lang="en-US" sz="1800" dirty="0">
              <a:ea typeface="Calibri"/>
              <a:cs typeface="Calibri"/>
            </a:endParaRPr>
          </a:p>
          <a:p>
            <a:pPr algn="just">
              <a:lnSpc>
                <a:spcPct val="90000"/>
              </a:lnSpc>
            </a:pPr>
            <a:r>
              <a:rPr lang="en-US" sz="1800" dirty="0"/>
              <a:t>Supervised learning-Binary Classificati</a:t>
            </a:r>
            <a:r>
              <a:rPr lang="en-US" sz="1800" b="1" dirty="0"/>
              <a:t>on</a:t>
            </a:r>
            <a:endParaRPr lang="en-US" sz="1800" dirty="0">
              <a:ea typeface="Calibri"/>
              <a:cs typeface="Calibri"/>
            </a:endParaRPr>
          </a:p>
          <a:p>
            <a:pPr marL="0" indent="0" algn="just">
              <a:lnSpc>
                <a:spcPct val="90000"/>
              </a:lnSpc>
              <a:buNone/>
            </a:pPr>
            <a:r>
              <a:rPr lang="en-US" sz="1800" b="1" dirty="0"/>
              <a:t>Target (y):</a:t>
            </a:r>
            <a:endParaRPr lang="en-US" sz="1800" dirty="0">
              <a:ea typeface="Calibri"/>
              <a:cs typeface="Calibri"/>
            </a:endParaRPr>
          </a:p>
          <a:p>
            <a:pPr algn="just">
              <a:lnSpc>
                <a:spcPct val="90000"/>
              </a:lnSpc>
            </a:pPr>
            <a:r>
              <a:rPr lang="en-US" sz="1800" i="1" dirty="0"/>
              <a:t>heart_attack_or_stroke_occurred</a:t>
            </a:r>
            <a:r>
              <a:rPr lang="en-US" sz="1800" dirty="0"/>
              <a:t> (0 = No, 1 = Yes)</a:t>
            </a:r>
            <a:endParaRPr lang="en-US" sz="1800" dirty="0">
              <a:ea typeface="Calibri"/>
              <a:cs typeface="Calibri"/>
            </a:endParaRPr>
          </a:p>
          <a:p>
            <a:pPr marL="0" indent="0" algn="just">
              <a:lnSpc>
                <a:spcPct val="90000"/>
              </a:lnSpc>
              <a:buNone/>
            </a:pPr>
            <a:r>
              <a:rPr lang="en-US" sz="1800" b="1" dirty="0"/>
              <a:t>Features (X):</a:t>
            </a:r>
            <a:endParaRPr lang="en-US" sz="1800" b="1" dirty="0">
              <a:ea typeface="Calibri"/>
              <a:cs typeface="Calibri"/>
            </a:endParaRPr>
          </a:p>
          <a:p>
            <a:pPr algn="just">
              <a:lnSpc>
                <a:spcPct val="90000"/>
              </a:lnSpc>
              <a:buFont typeface="Arial" panose="020B0604020202020204" pitchFamily="34" charset="0"/>
              <a:buChar char="•"/>
            </a:pPr>
            <a:r>
              <a:rPr lang="en-US" sz="1800" dirty="0"/>
              <a:t>Identifier, Demographic, Anthropometric, clinical, Lifestyle Risk Factor, Clinical Measurements, Family History, Follow-up and comorbidity variables (N=15), 100,000 patient records .</a:t>
            </a:r>
            <a:endParaRPr lang="en-US" sz="1800" dirty="0">
              <a:ea typeface="Calibri"/>
              <a:cs typeface="Calibri"/>
            </a:endParaRPr>
          </a:p>
          <a:p>
            <a:pPr marL="0" indent="0" algn="just">
              <a:lnSpc>
                <a:spcPct val="90000"/>
              </a:lnSpc>
              <a:buNone/>
            </a:pPr>
            <a:r>
              <a:rPr lang="en-US" sz="1800" b="1" dirty="0"/>
              <a:t>Dataset Source:</a:t>
            </a:r>
            <a:endParaRPr lang="en-US" sz="1800" b="1" dirty="0">
              <a:ea typeface="Calibri"/>
              <a:cs typeface="Calibri"/>
            </a:endParaRPr>
          </a:p>
          <a:p>
            <a:pPr algn="just">
              <a:lnSpc>
                <a:spcPct val="90000"/>
              </a:lnSpc>
              <a:buFont typeface="Arial" panose="020B0604020202020204" pitchFamily="34" charset="0"/>
              <a:buChar char="•"/>
            </a:pPr>
            <a:r>
              <a:rPr lang="en-US" sz="1800" dirty="0"/>
              <a:t>This  was obtained from </a:t>
            </a:r>
            <a:r>
              <a:rPr lang="en-US" sz="1800" dirty="0">
                <a:hlinkClick r:id="rId3"/>
              </a:rPr>
              <a:t>https://zenodo.org/records/12567416</a:t>
            </a:r>
            <a:r>
              <a:rPr lang="en-US" sz="1800" dirty="0"/>
              <a:t>, developed under the NIHR ARC Wessex and the National Centre for Research Methods (NCRM) initiatives</a:t>
            </a:r>
            <a:endParaRPr lang="en-US" sz="1800" dirty="0">
              <a:ea typeface="Calibri"/>
              <a:cs typeface="Calibri"/>
            </a:endParaRPr>
          </a:p>
          <a:p>
            <a:pPr marL="0" indent="0" algn="just">
              <a:lnSpc>
                <a:spcPct val="90000"/>
              </a:lnSpc>
              <a:buNone/>
            </a:pPr>
            <a:r>
              <a:rPr lang="en-US" sz="1800" b="1" dirty="0"/>
              <a:t>Why a Binary Classification?</a:t>
            </a:r>
            <a:endParaRPr lang="en-US" sz="1800" b="1" dirty="0">
              <a:ea typeface="Calibri"/>
              <a:cs typeface="Calibri"/>
            </a:endParaRPr>
          </a:p>
          <a:p>
            <a:pPr algn="just">
              <a:lnSpc>
                <a:spcPct val="90000"/>
              </a:lnSpc>
            </a:pPr>
            <a:r>
              <a:rPr lang="en-US" sz="1800" dirty="0"/>
              <a:t>It reflects a </a:t>
            </a:r>
            <a:r>
              <a:rPr lang="en-US" sz="1800" b="1" dirty="0"/>
              <a:t>clear clinical outcome</a:t>
            </a:r>
            <a:r>
              <a:rPr lang="en-US" sz="1800" dirty="0"/>
              <a:t> and allows the model to distinguish whether or not a person will experience a </a:t>
            </a:r>
            <a:r>
              <a:rPr lang="en-US" sz="1800" b="1" dirty="0"/>
              <a:t>heart attack or stroke</a:t>
            </a:r>
            <a:r>
              <a:rPr lang="en-US" sz="1800" dirty="0"/>
              <a:t> within the next 10 years.</a:t>
            </a:r>
            <a:endParaRPr lang="en-US" sz="1800" dirty="0">
              <a:ea typeface="Calibri"/>
              <a:cs typeface="Calibri"/>
            </a:endParaRPr>
          </a:p>
          <a:p>
            <a:pPr algn="just">
              <a:lnSpc>
                <a:spcPct val="90000"/>
              </a:lnSpc>
              <a:buFont typeface="Arial" panose="020B0604020202020204" pitchFamily="34" charset="0"/>
              <a:buChar char="•"/>
            </a:pPr>
            <a:endParaRPr lang="en-US" sz="1800" dirty="0">
              <a:ea typeface="Calibri"/>
              <a:cs typeface="Calibri"/>
            </a:endParaRPr>
          </a:p>
        </p:txBody>
      </p:sp>
    </p:spTree>
    <p:extLst>
      <p:ext uri="{BB962C8B-B14F-4D97-AF65-F5344CB8AC3E}">
        <p14:creationId xmlns:p14="http://schemas.microsoft.com/office/powerpoint/2010/main" val="3979340345"/>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55942"/>
          </a:xfrm>
        </p:spPr>
        <p:txBody>
          <a:bodyPr>
            <a:normAutofit fontScale="90000"/>
          </a:bodyPr>
          <a:lstStyle/>
          <a:p>
            <a:r>
              <a:rPr lang="en-US" b="1" dirty="0"/>
              <a:t>A: Exploratory Data Analysis- EDA</a:t>
            </a:r>
            <a:endParaRPr dirty="0"/>
          </a:p>
        </p:txBody>
      </p:sp>
      <p:sp>
        <p:nvSpPr>
          <p:cNvPr id="7" name="Text Placeholder 6">
            <a:extLst>
              <a:ext uri="{FF2B5EF4-FFF2-40B4-BE49-F238E27FC236}">
                <a16:creationId xmlns:a16="http://schemas.microsoft.com/office/drawing/2014/main" id="{0D8DCE60-9D4A-EAA1-326B-BB1EDB990FF5}"/>
              </a:ext>
            </a:extLst>
          </p:cNvPr>
          <p:cNvSpPr>
            <a:spLocks noGrp="1"/>
          </p:cNvSpPr>
          <p:nvPr>
            <p:ph type="body" idx="1"/>
          </p:nvPr>
        </p:nvSpPr>
        <p:spPr>
          <a:xfrm>
            <a:off x="457198" y="1105926"/>
            <a:ext cx="4040188" cy="436637"/>
          </a:xfrm>
        </p:spPr>
        <p:txBody>
          <a:bodyPr>
            <a:normAutofit fontScale="85000" lnSpcReduction="10000"/>
          </a:bodyPr>
          <a:lstStyle/>
          <a:p>
            <a:pPr algn="just"/>
            <a:r>
              <a:rPr lang="en-US" dirty="0"/>
              <a:t>Data Quality and Target Distribution</a:t>
            </a:r>
            <a:endParaRPr lang="en-UG" dirty="0"/>
          </a:p>
        </p:txBody>
      </p:sp>
      <p:graphicFrame>
        <p:nvGraphicFramePr>
          <p:cNvPr id="10" name="Content Placeholder 9">
            <a:extLst>
              <a:ext uri="{FF2B5EF4-FFF2-40B4-BE49-F238E27FC236}">
                <a16:creationId xmlns:a16="http://schemas.microsoft.com/office/drawing/2014/main" id="{CFA2A36A-5AEE-2692-9675-81728044B1DF}"/>
              </a:ext>
            </a:extLst>
          </p:cNvPr>
          <p:cNvGraphicFramePr>
            <a:graphicFrameLocks noGrp="1"/>
          </p:cNvGraphicFramePr>
          <p:nvPr>
            <p:ph sz="half" idx="2"/>
            <p:extLst>
              <p:ext uri="{D42A27DB-BD31-4B8C-83A1-F6EECF244321}">
                <p14:modId xmlns:p14="http://schemas.microsoft.com/office/powerpoint/2010/main" val="3314923754"/>
              </p:ext>
            </p:extLst>
          </p:nvPr>
        </p:nvGraphicFramePr>
        <p:xfrm>
          <a:off x="432807" y="1967701"/>
          <a:ext cx="4166211" cy="2553680"/>
        </p:xfrm>
        <a:graphic>
          <a:graphicData uri="http://schemas.openxmlformats.org/drawingml/2006/table">
            <a:tbl>
              <a:tblPr>
                <a:tableStyleId>{E8B1032C-EA38-4F05-BA0D-38AFFFC7BED3}</a:tableStyleId>
              </a:tblPr>
              <a:tblGrid>
                <a:gridCol w="1388737">
                  <a:extLst>
                    <a:ext uri="{9D8B030D-6E8A-4147-A177-3AD203B41FA5}">
                      <a16:colId xmlns:a16="http://schemas.microsoft.com/office/drawing/2014/main" val="4241426228"/>
                    </a:ext>
                  </a:extLst>
                </a:gridCol>
                <a:gridCol w="1388737">
                  <a:extLst>
                    <a:ext uri="{9D8B030D-6E8A-4147-A177-3AD203B41FA5}">
                      <a16:colId xmlns:a16="http://schemas.microsoft.com/office/drawing/2014/main" val="46719390"/>
                    </a:ext>
                  </a:extLst>
                </a:gridCol>
                <a:gridCol w="1388737">
                  <a:extLst>
                    <a:ext uri="{9D8B030D-6E8A-4147-A177-3AD203B41FA5}">
                      <a16:colId xmlns:a16="http://schemas.microsoft.com/office/drawing/2014/main" val="3115900706"/>
                    </a:ext>
                  </a:extLst>
                </a:gridCol>
              </a:tblGrid>
              <a:tr h="179649">
                <a:tc>
                  <a:txBody>
                    <a:bodyPr/>
                    <a:lstStyle/>
                    <a:p>
                      <a:pPr>
                        <a:buNone/>
                      </a:pPr>
                      <a:r>
                        <a:rPr lang="en-US" sz="900" dirty="0"/>
                        <a:t>Issue</a:t>
                      </a:r>
                    </a:p>
                  </a:txBody>
                  <a:tcPr marL="44891" marR="44891" marT="22445" marB="22445" anchor="ctr"/>
                </a:tc>
                <a:tc>
                  <a:txBody>
                    <a:bodyPr/>
                    <a:lstStyle/>
                    <a:p>
                      <a:pPr>
                        <a:buNone/>
                      </a:pPr>
                      <a:r>
                        <a:rPr lang="en-US" sz="900" dirty="0"/>
                        <a:t>Finding</a:t>
                      </a:r>
                    </a:p>
                  </a:txBody>
                  <a:tcPr marL="44891" marR="44891" marT="22445" marB="22445" anchor="ctr"/>
                </a:tc>
                <a:tc>
                  <a:txBody>
                    <a:bodyPr/>
                    <a:lstStyle/>
                    <a:p>
                      <a:pPr>
                        <a:buNone/>
                      </a:pPr>
                      <a:r>
                        <a:rPr lang="en-US" sz="900" dirty="0"/>
                        <a:t>Action  Taken</a:t>
                      </a:r>
                    </a:p>
                  </a:txBody>
                  <a:tcPr marL="44891" marR="44891" marT="22445" marB="22445" anchor="ctr"/>
                </a:tc>
                <a:extLst>
                  <a:ext uri="{0D108BD9-81ED-4DB2-BD59-A6C34878D82A}">
                    <a16:rowId xmlns:a16="http://schemas.microsoft.com/office/drawing/2014/main" val="1296886307"/>
                  </a:ext>
                </a:extLst>
              </a:tr>
              <a:tr h="315000">
                <a:tc>
                  <a:txBody>
                    <a:bodyPr/>
                    <a:lstStyle/>
                    <a:p>
                      <a:pPr>
                        <a:buNone/>
                      </a:pPr>
                      <a:r>
                        <a:rPr lang="en-US" sz="900" b="1" dirty="0"/>
                        <a:t>Duplicate rows</a:t>
                      </a:r>
                      <a:endParaRPr lang="en-US" sz="900" dirty="0"/>
                    </a:p>
                  </a:txBody>
                  <a:tcPr marL="44891" marR="44891" marT="22445" marB="22445" anchor="ctr"/>
                </a:tc>
                <a:tc>
                  <a:txBody>
                    <a:bodyPr/>
                    <a:lstStyle/>
                    <a:p>
                      <a:pPr>
                        <a:buNone/>
                      </a:pPr>
                      <a:r>
                        <a:rPr lang="en-US" sz="900"/>
                        <a:t>7,084 duplicate records found</a:t>
                      </a:r>
                    </a:p>
                  </a:txBody>
                  <a:tcPr marL="44891" marR="44891" marT="22445" marB="22445" anchor="ctr"/>
                </a:tc>
                <a:tc>
                  <a:txBody>
                    <a:bodyPr/>
                    <a:lstStyle/>
                    <a:p>
                      <a:pPr>
                        <a:buNone/>
                      </a:pPr>
                      <a:r>
                        <a:rPr lang="en-US" sz="900" dirty="0"/>
                        <a:t>Removed (7,084 rows deleted)</a:t>
                      </a:r>
                    </a:p>
                  </a:txBody>
                  <a:tcPr marL="44891" marR="44891" marT="22445" marB="22445" anchor="ctr"/>
                </a:tc>
                <a:extLst>
                  <a:ext uri="{0D108BD9-81ED-4DB2-BD59-A6C34878D82A}">
                    <a16:rowId xmlns:a16="http://schemas.microsoft.com/office/drawing/2014/main" val="2732590209"/>
                  </a:ext>
                </a:extLst>
              </a:tr>
              <a:tr h="315000">
                <a:tc rowSpan="3">
                  <a:txBody>
                    <a:bodyPr/>
                    <a:lstStyle/>
                    <a:p>
                      <a:pPr>
                        <a:buNone/>
                      </a:pPr>
                      <a:r>
                        <a:rPr lang="en-US" sz="900" b="1" dirty="0"/>
                        <a:t>Missing values</a:t>
                      </a:r>
                      <a:endParaRPr lang="en-US" sz="900" dirty="0"/>
                    </a:p>
                  </a:txBody>
                  <a:tcPr marL="44891" marR="44891" marT="22445" marB="22445" anchor="ctr"/>
                </a:tc>
                <a:tc>
                  <a:txBody>
                    <a:bodyPr/>
                    <a:lstStyle/>
                    <a:p>
                      <a:pPr>
                        <a:buNone/>
                      </a:pPr>
                      <a:r>
                        <a:rPr lang="en-US" sz="900" dirty="0" err="1"/>
                        <a:t>body_mass_index</a:t>
                      </a:r>
                      <a:r>
                        <a:rPr lang="en-US" sz="900" dirty="0"/>
                        <a:t>    </a:t>
                      </a:r>
                      <a:r>
                        <a:rPr lang="en-US" sz="900" b="1" i="1" dirty="0"/>
                        <a:t>23,289 (25.06%)</a:t>
                      </a:r>
                    </a:p>
                  </a:txBody>
                  <a:tcPr marL="44891" marR="44891" marT="22445" marB="22445" anchor="ctr"/>
                </a:tc>
                <a:tc>
                  <a:txBody>
                    <a:bodyPr/>
                    <a:lstStyle/>
                    <a:p>
                      <a:pPr>
                        <a:buNone/>
                      </a:pPr>
                      <a:r>
                        <a:rPr lang="en-US" sz="900" dirty="0"/>
                        <a:t>Imputed with </a:t>
                      </a:r>
                      <a:r>
                        <a:rPr lang="en-US" sz="900" b="1" dirty="0"/>
                        <a:t>mean (Normally distributed)</a:t>
                      </a:r>
                      <a:endParaRPr lang="en-US" sz="900" dirty="0"/>
                    </a:p>
                  </a:txBody>
                  <a:tcPr marL="44891" marR="44891" marT="22445" marB="22445" anchor="ctr"/>
                </a:tc>
                <a:extLst>
                  <a:ext uri="{0D108BD9-81ED-4DB2-BD59-A6C34878D82A}">
                    <a16:rowId xmlns:a16="http://schemas.microsoft.com/office/drawing/2014/main" val="1978958276"/>
                  </a:ext>
                </a:extLst>
              </a:tr>
              <a:tr h="315000">
                <a:tc vMerge="1">
                  <a:txBody>
                    <a:bodyPr/>
                    <a:lstStyle/>
                    <a:p>
                      <a:pPr>
                        <a:buNone/>
                      </a:pPr>
                      <a:endParaRPr lang="en-UG" sz="900" dirty="0"/>
                    </a:p>
                  </a:txBody>
                  <a:tcPr marL="44891" marR="44891" marT="22445" marB="22445" anchor="ctr"/>
                </a:tc>
                <a:tc>
                  <a:txBody>
                    <a:bodyPr/>
                    <a:lstStyle/>
                    <a:p>
                      <a:pPr>
                        <a:buNone/>
                      </a:pPr>
                      <a:r>
                        <a:rPr lang="en-US" sz="900" dirty="0" err="1"/>
                        <a:t>systolic_blood_pressure</a:t>
                      </a:r>
                      <a:r>
                        <a:rPr lang="en-US" sz="900" dirty="0"/>
                        <a:t>  </a:t>
                      </a:r>
                      <a:r>
                        <a:rPr lang="en-US" sz="900" b="1" i="1" dirty="0"/>
                        <a:t>8,444 (9.09%)</a:t>
                      </a:r>
                    </a:p>
                  </a:txBody>
                  <a:tcPr marL="44891" marR="44891" marT="22445" marB="22445" anchor="ctr"/>
                </a:tc>
                <a:tc>
                  <a:txBody>
                    <a:bodyPr/>
                    <a:lstStyle/>
                    <a:p>
                      <a:pPr>
                        <a:buNone/>
                      </a:pPr>
                      <a:r>
                        <a:rPr lang="en-US" sz="900" dirty="0"/>
                        <a:t>Imputed with </a:t>
                      </a:r>
                      <a:r>
                        <a:rPr lang="en-US" sz="900" b="1" dirty="0"/>
                        <a:t>mean (normally distributed)</a:t>
                      </a:r>
                      <a:endParaRPr lang="en-US" sz="900" dirty="0"/>
                    </a:p>
                  </a:txBody>
                  <a:tcPr marL="44891" marR="44891" marT="22445" marB="22445" anchor="ctr"/>
                </a:tc>
                <a:extLst>
                  <a:ext uri="{0D108BD9-81ED-4DB2-BD59-A6C34878D82A}">
                    <a16:rowId xmlns:a16="http://schemas.microsoft.com/office/drawing/2014/main" val="589170765"/>
                  </a:ext>
                </a:extLst>
              </a:tr>
              <a:tr h="315000">
                <a:tc vMerge="1">
                  <a:txBody>
                    <a:bodyPr/>
                    <a:lstStyle/>
                    <a:p>
                      <a:pPr>
                        <a:buNone/>
                      </a:pPr>
                      <a:endParaRPr lang="en-UG" sz="900" dirty="0"/>
                    </a:p>
                  </a:txBody>
                  <a:tcPr marL="44891" marR="44891" marT="22445" marB="22445" anchor="ctr"/>
                </a:tc>
                <a:tc>
                  <a:txBody>
                    <a:bodyPr/>
                    <a:lstStyle/>
                    <a:p>
                      <a:pPr>
                        <a:buNone/>
                      </a:pPr>
                      <a:r>
                        <a:rPr lang="en-US" sz="900" dirty="0"/>
                        <a:t>forced_expiratory_volume_1 </a:t>
                      </a:r>
                      <a:r>
                        <a:rPr lang="en-US" sz="900" b="1" i="1" dirty="0"/>
                        <a:t>62,241 (66.99%)</a:t>
                      </a:r>
                    </a:p>
                  </a:txBody>
                  <a:tcPr marL="44891" marR="44891" marT="22445" marB="22445" anchor="ctr"/>
                </a:tc>
                <a:tc>
                  <a:txBody>
                    <a:bodyPr/>
                    <a:lstStyle/>
                    <a:p>
                      <a:pPr>
                        <a:buNone/>
                      </a:pPr>
                      <a:r>
                        <a:rPr lang="en-US" sz="900"/>
                        <a:t>Imputed with </a:t>
                      </a:r>
                      <a:r>
                        <a:rPr lang="en-US" sz="900" b="1"/>
                        <a:t>median</a:t>
                      </a:r>
                      <a:r>
                        <a:rPr lang="en-US" sz="900"/>
                        <a:t> (highly skewed)</a:t>
                      </a:r>
                    </a:p>
                  </a:txBody>
                  <a:tcPr marL="44891" marR="44891" marT="22445" marB="22445" anchor="ctr"/>
                </a:tc>
                <a:extLst>
                  <a:ext uri="{0D108BD9-81ED-4DB2-BD59-A6C34878D82A}">
                    <a16:rowId xmlns:a16="http://schemas.microsoft.com/office/drawing/2014/main" val="2529107055"/>
                  </a:ext>
                </a:extLst>
              </a:tr>
              <a:tr h="315000">
                <a:tc>
                  <a:txBody>
                    <a:bodyPr/>
                    <a:lstStyle/>
                    <a:p>
                      <a:pPr>
                        <a:buNone/>
                      </a:pPr>
                      <a:r>
                        <a:rPr lang="en-US" sz="900" b="1" dirty="0"/>
                        <a:t>Target distribution</a:t>
                      </a:r>
                      <a:endParaRPr lang="en-US" sz="900" dirty="0"/>
                    </a:p>
                  </a:txBody>
                  <a:tcPr marL="44891" marR="44891" marT="22445" marB="22445" anchor="ctr"/>
                </a:tc>
                <a:tc>
                  <a:txBody>
                    <a:bodyPr/>
                    <a:lstStyle/>
                    <a:p>
                      <a:pPr>
                        <a:buNone/>
                      </a:pPr>
                      <a:r>
                        <a:rPr lang="en-US" sz="900" dirty="0"/>
                        <a:t>heart_attack_or_stroke_occurred</a:t>
                      </a:r>
                    </a:p>
                  </a:txBody>
                  <a:tcPr marL="44891" marR="44891" marT="22445" marB="22445" anchor="ctr"/>
                </a:tc>
                <a:tc>
                  <a:txBody>
                    <a:bodyPr/>
                    <a:lstStyle/>
                    <a:p>
                      <a:pPr>
                        <a:buNone/>
                      </a:pPr>
                      <a:r>
                        <a:rPr lang="en-US" sz="900" dirty="0"/>
                        <a:t>Severe class imbalance</a:t>
                      </a:r>
                    </a:p>
                  </a:txBody>
                  <a:tcPr marL="44891" marR="44891" marT="22445" marB="22445" anchor="ctr"/>
                </a:tc>
                <a:extLst>
                  <a:ext uri="{0D108BD9-81ED-4DB2-BD59-A6C34878D82A}">
                    <a16:rowId xmlns:a16="http://schemas.microsoft.com/office/drawing/2014/main" val="4032042604"/>
                  </a:ext>
                </a:extLst>
              </a:tr>
              <a:tr h="450351">
                <a:tc>
                  <a:txBody>
                    <a:bodyPr/>
                    <a:lstStyle/>
                    <a:p>
                      <a:pPr>
                        <a:buNone/>
                      </a:pPr>
                      <a:r>
                        <a:rPr lang="en-US" sz="900" dirty="0"/>
                        <a:t>   No event</a:t>
                      </a:r>
                    </a:p>
                  </a:txBody>
                  <a:tcPr marL="44891" marR="44891" marT="22445" marB="22445" anchor="ctr"/>
                </a:tc>
                <a:tc>
                  <a:txBody>
                    <a:bodyPr/>
                    <a:lstStyle/>
                    <a:p>
                      <a:pPr>
                        <a:buNone/>
                      </a:pPr>
                      <a:r>
                        <a:rPr lang="en-UG" sz="900"/>
                        <a:t>92.89%</a:t>
                      </a:r>
                    </a:p>
                  </a:txBody>
                  <a:tcPr marL="44891" marR="44891" marT="22445" marB="22445" anchor="ctr"/>
                </a:tc>
                <a:tc>
                  <a:txBody>
                    <a:bodyPr/>
                    <a:lstStyle/>
                    <a:p>
                      <a:pPr>
                        <a:buNone/>
                      </a:pPr>
                      <a:r>
                        <a:rPr lang="en-US" sz="900" dirty="0"/>
                        <a:t>Used </a:t>
                      </a:r>
                      <a:r>
                        <a:rPr lang="en-US" sz="900" b="1" dirty="0"/>
                        <a:t>SMOTE</a:t>
                      </a:r>
                      <a:r>
                        <a:rPr lang="en-US" sz="900" dirty="0"/>
                        <a:t> + Alternative evaluation metrics + Specialized algorithms</a:t>
                      </a:r>
                    </a:p>
                  </a:txBody>
                  <a:tcPr marL="44891" marR="44891" marT="22445" marB="22445" anchor="ctr"/>
                </a:tc>
                <a:extLst>
                  <a:ext uri="{0D108BD9-81ED-4DB2-BD59-A6C34878D82A}">
                    <a16:rowId xmlns:a16="http://schemas.microsoft.com/office/drawing/2014/main" val="4057614934"/>
                  </a:ext>
                </a:extLst>
              </a:tr>
              <a:tr h="315000">
                <a:tc>
                  <a:txBody>
                    <a:bodyPr/>
                    <a:lstStyle/>
                    <a:p>
                      <a:pPr>
                        <a:buNone/>
                      </a:pPr>
                      <a:r>
                        <a:rPr lang="en-US" sz="900" dirty="0"/>
                        <a:t>   Yes event (heart attack/stroke)</a:t>
                      </a:r>
                    </a:p>
                  </a:txBody>
                  <a:tcPr marL="44891" marR="44891" marT="22445" marB="22445" anchor="ctr"/>
                </a:tc>
                <a:tc>
                  <a:txBody>
                    <a:bodyPr/>
                    <a:lstStyle/>
                    <a:p>
                      <a:pPr>
                        <a:buNone/>
                      </a:pPr>
                      <a:r>
                        <a:rPr lang="en-UG" sz="900" b="1" dirty="0"/>
                        <a:t>7.11%</a:t>
                      </a:r>
                      <a:endParaRPr lang="en-UG" sz="900" dirty="0"/>
                    </a:p>
                  </a:txBody>
                  <a:tcPr marL="44891" marR="44891" marT="22445" marB="22445" anchor="ctr"/>
                </a:tc>
                <a:tc>
                  <a:txBody>
                    <a:bodyPr/>
                    <a:lstStyle/>
                    <a:p>
                      <a:pPr>
                        <a:buNone/>
                      </a:pPr>
                      <a:r>
                        <a:rPr lang="en-US" sz="900" dirty="0"/>
                        <a:t>(appx. 14:1 negative-to-positive ratio)</a:t>
                      </a:r>
                    </a:p>
                  </a:txBody>
                  <a:tcPr marL="44891" marR="44891" marT="22445" marB="22445" anchor="ctr"/>
                </a:tc>
                <a:extLst>
                  <a:ext uri="{0D108BD9-81ED-4DB2-BD59-A6C34878D82A}">
                    <a16:rowId xmlns:a16="http://schemas.microsoft.com/office/drawing/2014/main" val="4113665256"/>
                  </a:ext>
                </a:extLst>
              </a:tr>
            </a:tbl>
          </a:graphicData>
        </a:graphic>
      </p:graphicFrame>
      <p:sp>
        <p:nvSpPr>
          <p:cNvPr id="14" name="Text Placeholder 13">
            <a:extLst>
              <a:ext uri="{FF2B5EF4-FFF2-40B4-BE49-F238E27FC236}">
                <a16:creationId xmlns:a16="http://schemas.microsoft.com/office/drawing/2014/main" id="{033C4346-909B-33C8-C234-588A4527FF92}"/>
              </a:ext>
            </a:extLst>
          </p:cNvPr>
          <p:cNvSpPr>
            <a:spLocks noGrp="1"/>
          </p:cNvSpPr>
          <p:nvPr>
            <p:ph type="body" sz="quarter" idx="3"/>
          </p:nvPr>
        </p:nvSpPr>
        <p:spPr>
          <a:xfrm>
            <a:off x="4645025" y="1099333"/>
            <a:ext cx="4041775" cy="440467"/>
          </a:xfrm>
        </p:spPr>
        <p:txBody>
          <a:bodyPr>
            <a:normAutofit fontScale="85000" lnSpcReduction="10000"/>
          </a:bodyPr>
          <a:lstStyle/>
          <a:p>
            <a:r>
              <a:rPr lang="en-US" dirty="0"/>
              <a:t>Univariate Analysis</a:t>
            </a:r>
            <a:endParaRPr lang="en-UG" dirty="0"/>
          </a:p>
        </p:txBody>
      </p:sp>
      <p:sp>
        <p:nvSpPr>
          <p:cNvPr id="11" name="TextBox 10">
            <a:extLst>
              <a:ext uri="{FF2B5EF4-FFF2-40B4-BE49-F238E27FC236}">
                <a16:creationId xmlns:a16="http://schemas.microsoft.com/office/drawing/2014/main" id="{44B37B5D-5EF9-4D63-140C-4FCFBF5394B2}"/>
              </a:ext>
            </a:extLst>
          </p:cNvPr>
          <p:cNvSpPr txBox="1"/>
          <p:nvPr/>
        </p:nvSpPr>
        <p:spPr>
          <a:xfrm>
            <a:off x="457200" y="4668327"/>
            <a:ext cx="4040187" cy="1600438"/>
          </a:xfrm>
          <a:prstGeom prst="rect">
            <a:avLst/>
          </a:prstGeom>
          <a:noFill/>
        </p:spPr>
        <p:txBody>
          <a:bodyPr wrap="square" rtlCol="0">
            <a:spAutoFit/>
          </a:bodyPr>
          <a:lstStyle/>
          <a:p>
            <a:pPr algn="just"/>
            <a:r>
              <a:rPr lang="en-US" sz="1400" b="1" dirty="0"/>
              <a:t>Key Insight (Class Imbalance): </a:t>
            </a:r>
            <a:r>
              <a:rPr lang="en-US" sz="1400" dirty="0"/>
              <a:t>Due to the 93:7 class imbalance, accuracy alone is misleading. We prioritized on utilizing specialized algorithms, evaluation metrics and resampling techniques (SMOTE) on the minority class (Yes event) to ensure the model reliably identifies high-risk patients: the primary goal of preventive cardiology.</a:t>
            </a:r>
            <a:endParaRPr lang="en-UG" sz="1400" dirty="0"/>
          </a:p>
        </p:txBody>
      </p:sp>
      <p:sp>
        <p:nvSpPr>
          <p:cNvPr id="16" name="TextBox 15">
            <a:extLst>
              <a:ext uri="{FF2B5EF4-FFF2-40B4-BE49-F238E27FC236}">
                <a16:creationId xmlns:a16="http://schemas.microsoft.com/office/drawing/2014/main" id="{D91B998E-0AD1-C988-3A0E-A380892A4668}"/>
              </a:ext>
            </a:extLst>
          </p:cNvPr>
          <p:cNvSpPr txBox="1"/>
          <p:nvPr/>
        </p:nvSpPr>
        <p:spPr>
          <a:xfrm>
            <a:off x="4645025" y="1539801"/>
            <a:ext cx="4064578" cy="307777"/>
          </a:xfrm>
          <a:prstGeom prst="rect">
            <a:avLst/>
          </a:prstGeom>
          <a:noFill/>
        </p:spPr>
        <p:txBody>
          <a:bodyPr wrap="square" rtlCol="0">
            <a:spAutoFit/>
          </a:bodyPr>
          <a:lstStyle/>
          <a:p>
            <a:r>
              <a:rPr lang="en-US" sz="1400" dirty="0"/>
              <a:t>Figure 1: Descriptive Summary-Numeric Features</a:t>
            </a:r>
            <a:endParaRPr lang="en-UG" sz="1400" dirty="0"/>
          </a:p>
        </p:txBody>
      </p:sp>
      <p:sp>
        <p:nvSpPr>
          <p:cNvPr id="17" name="TextBox 16">
            <a:extLst>
              <a:ext uri="{FF2B5EF4-FFF2-40B4-BE49-F238E27FC236}">
                <a16:creationId xmlns:a16="http://schemas.microsoft.com/office/drawing/2014/main" id="{D88047F8-F9E0-9E3A-E7E5-3FA8860DAF21}"/>
              </a:ext>
            </a:extLst>
          </p:cNvPr>
          <p:cNvSpPr txBox="1"/>
          <p:nvPr/>
        </p:nvSpPr>
        <p:spPr>
          <a:xfrm>
            <a:off x="432807" y="1543756"/>
            <a:ext cx="4064578" cy="307777"/>
          </a:xfrm>
          <a:prstGeom prst="rect">
            <a:avLst/>
          </a:prstGeom>
          <a:noFill/>
        </p:spPr>
        <p:txBody>
          <a:bodyPr wrap="square" rtlCol="0">
            <a:spAutoFit/>
          </a:bodyPr>
          <a:lstStyle/>
          <a:p>
            <a:r>
              <a:rPr lang="en-US" sz="1400" dirty="0"/>
              <a:t>Table 1: Descriptive Summary-Numeric Features</a:t>
            </a:r>
            <a:endParaRPr lang="en-UG" sz="1400" dirty="0"/>
          </a:p>
        </p:txBody>
      </p:sp>
      <p:sp>
        <p:nvSpPr>
          <p:cNvPr id="22" name="TextBox 21">
            <a:extLst>
              <a:ext uri="{FF2B5EF4-FFF2-40B4-BE49-F238E27FC236}">
                <a16:creationId xmlns:a16="http://schemas.microsoft.com/office/drawing/2014/main" id="{5AF0A19B-9371-C5A2-C9A7-08A45CFC4277}"/>
              </a:ext>
            </a:extLst>
          </p:cNvPr>
          <p:cNvSpPr txBox="1"/>
          <p:nvPr/>
        </p:nvSpPr>
        <p:spPr>
          <a:xfrm>
            <a:off x="4599018" y="4627226"/>
            <a:ext cx="4331286" cy="1815882"/>
          </a:xfrm>
          <a:prstGeom prst="rect">
            <a:avLst/>
          </a:prstGeom>
          <a:noFill/>
        </p:spPr>
        <p:txBody>
          <a:bodyPr wrap="square" rtlCol="0">
            <a:spAutoFit/>
          </a:bodyPr>
          <a:lstStyle/>
          <a:p>
            <a:pPr algn="just"/>
            <a:r>
              <a:rPr lang="en-US" sz="1400" b="1" dirty="0"/>
              <a:t>Key Insight (Age): </a:t>
            </a:r>
            <a:r>
              <a:rPr lang="en-US" sz="1400" dirty="0"/>
              <a:t>The dataset contains age information for 100,000 participants ranging from 18 to 79 years old (mean = 46.9, SD = 17.0). </a:t>
            </a:r>
          </a:p>
          <a:p>
            <a:pPr algn="just"/>
            <a:endParaRPr lang="en-US" sz="1400" dirty="0"/>
          </a:p>
          <a:p>
            <a:pPr algn="just"/>
            <a:r>
              <a:rPr lang="en-US" sz="1400" dirty="0"/>
              <a:t>The interquartile range suggests that the majority of participants fall within early adulthood to late middle age. The close alignment between the mean and average implies that the age distribution is roughly normal.</a:t>
            </a:r>
            <a:endParaRPr lang="en-UG" sz="1400" dirty="0"/>
          </a:p>
        </p:txBody>
      </p:sp>
      <p:pic>
        <p:nvPicPr>
          <p:cNvPr id="2050" name="Picture 2">
            <a:extLst>
              <a:ext uri="{FF2B5EF4-FFF2-40B4-BE49-F238E27FC236}">
                <a16:creationId xmlns:a16="http://schemas.microsoft.com/office/drawing/2014/main" id="{AF2508D2-F25A-A051-E0DA-0641C450C128}"/>
              </a:ext>
            </a:extLst>
          </p:cNvPr>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4645025" y="1967701"/>
            <a:ext cx="4388514" cy="25536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cover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0-#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additive="base">
                                        <p:cTn id="29" dur="500" fill="hold"/>
                                        <p:tgtEl>
                                          <p:spTgt spid="16"/>
                                        </p:tgtEl>
                                        <p:attrNameLst>
                                          <p:attrName>ppt_x</p:attrName>
                                        </p:attrNameLst>
                                      </p:cBhvr>
                                      <p:tavLst>
                                        <p:tav tm="0">
                                          <p:val>
                                            <p:strVal val="1+#ppt_w/2"/>
                                          </p:val>
                                        </p:tav>
                                        <p:tav tm="100000">
                                          <p:val>
                                            <p:strVal val="#ppt_x"/>
                                          </p:val>
                                        </p:tav>
                                      </p:tavLst>
                                    </p:anim>
                                    <p:anim calcmode="lin" valueType="num">
                                      <p:cBhvr additive="base">
                                        <p:cTn id="30" dur="500" fill="hold"/>
                                        <p:tgtEl>
                                          <p:spTgt spid="16"/>
                                        </p:tgtEl>
                                        <p:attrNameLst>
                                          <p:attrName>ppt_y</p:attrName>
                                        </p:attrNameLst>
                                      </p:cBhvr>
                                      <p:tavLst>
                                        <p:tav tm="0">
                                          <p:val>
                                            <p:strVal val="#ppt_y"/>
                                          </p:val>
                                        </p:tav>
                                        <p:tav tm="100000">
                                          <p:val>
                                            <p:strVal val="#ppt_y"/>
                                          </p:val>
                                        </p:tav>
                                      </p:tavLst>
                                    </p:anim>
                                  </p:childTnLst>
                                </p:cTn>
                              </p:par>
                              <p:par>
                                <p:cTn id="31" presetID="2" presetClass="entr" presetSubtype="2" fill="hold" nodeType="withEffect">
                                  <p:stCondLst>
                                    <p:cond delay="0"/>
                                  </p:stCondLst>
                                  <p:childTnLst>
                                    <p:set>
                                      <p:cBhvr>
                                        <p:cTn id="32" dur="1" fill="hold">
                                          <p:stCondLst>
                                            <p:cond delay="0"/>
                                          </p:stCondLst>
                                        </p:cTn>
                                        <p:tgtEl>
                                          <p:spTgt spid="2050"/>
                                        </p:tgtEl>
                                        <p:attrNameLst>
                                          <p:attrName>style.visibility</p:attrName>
                                        </p:attrNameLst>
                                      </p:cBhvr>
                                      <p:to>
                                        <p:strVal val="visible"/>
                                      </p:to>
                                    </p:set>
                                    <p:anim calcmode="lin" valueType="num">
                                      <p:cBhvr additive="base">
                                        <p:cTn id="33" dur="500" fill="hold"/>
                                        <p:tgtEl>
                                          <p:spTgt spid="2050"/>
                                        </p:tgtEl>
                                        <p:attrNameLst>
                                          <p:attrName>ppt_x</p:attrName>
                                        </p:attrNameLst>
                                      </p:cBhvr>
                                      <p:tavLst>
                                        <p:tav tm="0">
                                          <p:val>
                                            <p:strVal val="1+#ppt_w/2"/>
                                          </p:val>
                                        </p:tav>
                                        <p:tav tm="100000">
                                          <p:val>
                                            <p:strVal val="#ppt_x"/>
                                          </p:val>
                                        </p:tav>
                                      </p:tavLst>
                                    </p:anim>
                                    <p:anim calcmode="lin" valueType="num">
                                      <p:cBhvr additive="base">
                                        <p:cTn id="34" dur="500" fill="hold"/>
                                        <p:tgtEl>
                                          <p:spTgt spid="2050"/>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 calcmode="lin" valueType="num">
                                      <p:cBhvr additive="base">
                                        <p:cTn id="37" dur="500" fill="hold"/>
                                        <p:tgtEl>
                                          <p:spTgt spid="22"/>
                                        </p:tgtEl>
                                        <p:attrNameLst>
                                          <p:attrName>ppt_x</p:attrName>
                                        </p:attrNameLst>
                                      </p:cBhvr>
                                      <p:tavLst>
                                        <p:tav tm="0">
                                          <p:val>
                                            <p:strVal val="1+#ppt_w/2"/>
                                          </p:val>
                                        </p:tav>
                                        <p:tav tm="100000">
                                          <p:val>
                                            <p:strVal val="#ppt_x"/>
                                          </p:val>
                                        </p:tav>
                                      </p:tavLst>
                                    </p:anim>
                                    <p:anim calcmode="lin" valueType="num">
                                      <p:cBhvr additive="base">
                                        <p:cTn id="38"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4" grpId="0" build="p"/>
      <p:bldP spid="11" grpId="0"/>
      <p:bldP spid="16" grpId="0"/>
      <p:bldP spid="17" grpId="0"/>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086E4-F554-A930-318E-130A3ADFB735}"/>
              </a:ext>
            </a:extLst>
          </p:cNvPr>
          <p:cNvSpPr>
            <a:spLocks noGrp="1"/>
          </p:cNvSpPr>
          <p:nvPr>
            <p:ph type="title"/>
          </p:nvPr>
        </p:nvSpPr>
        <p:spPr>
          <a:xfrm>
            <a:off x="432089" y="57143"/>
            <a:ext cx="8229600" cy="674694"/>
          </a:xfrm>
        </p:spPr>
        <p:txBody>
          <a:bodyPr>
            <a:normAutofit fontScale="90000"/>
          </a:bodyPr>
          <a:lstStyle/>
          <a:p>
            <a:r>
              <a:rPr lang="en-US" b="1" dirty="0"/>
              <a:t>A: Exploratory Data Analysis- EDA</a:t>
            </a:r>
            <a:endParaRPr lang="en-UG" dirty="0"/>
          </a:p>
        </p:txBody>
      </p:sp>
      <p:sp>
        <p:nvSpPr>
          <p:cNvPr id="3" name="Text Placeholder 2">
            <a:extLst>
              <a:ext uri="{FF2B5EF4-FFF2-40B4-BE49-F238E27FC236}">
                <a16:creationId xmlns:a16="http://schemas.microsoft.com/office/drawing/2014/main" id="{343E8511-EB80-FC0C-98A6-2317527B1E55}"/>
              </a:ext>
            </a:extLst>
          </p:cNvPr>
          <p:cNvSpPr>
            <a:spLocks noGrp="1"/>
          </p:cNvSpPr>
          <p:nvPr>
            <p:ph type="body" idx="1"/>
          </p:nvPr>
        </p:nvSpPr>
        <p:spPr>
          <a:xfrm>
            <a:off x="350520" y="776228"/>
            <a:ext cx="4040188" cy="639762"/>
          </a:xfrm>
        </p:spPr>
        <p:txBody>
          <a:bodyPr>
            <a:normAutofit/>
          </a:bodyPr>
          <a:lstStyle/>
          <a:p>
            <a:r>
              <a:rPr lang="en-US" dirty="0"/>
              <a:t>Bivariate Analysis</a:t>
            </a:r>
            <a:endParaRPr lang="en-UG" dirty="0"/>
          </a:p>
        </p:txBody>
      </p:sp>
      <p:graphicFrame>
        <p:nvGraphicFramePr>
          <p:cNvPr id="25" name="Content Placeholder 24">
            <a:extLst>
              <a:ext uri="{FF2B5EF4-FFF2-40B4-BE49-F238E27FC236}">
                <a16:creationId xmlns:a16="http://schemas.microsoft.com/office/drawing/2014/main" id="{9018CB43-0D6A-26F4-27DC-4678BB246CAC}"/>
              </a:ext>
            </a:extLst>
          </p:cNvPr>
          <p:cNvGraphicFramePr>
            <a:graphicFrameLocks noGrp="1"/>
          </p:cNvGraphicFramePr>
          <p:nvPr>
            <p:ph sz="half" idx="2"/>
            <p:extLst>
              <p:ext uri="{D42A27DB-BD31-4B8C-83A1-F6EECF244321}">
                <p14:modId xmlns:p14="http://schemas.microsoft.com/office/powerpoint/2010/main" val="890816210"/>
              </p:ext>
            </p:extLst>
          </p:nvPr>
        </p:nvGraphicFramePr>
        <p:xfrm>
          <a:off x="457201" y="1661808"/>
          <a:ext cx="4140000" cy="2033972"/>
        </p:xfrm>
        <a:graphic>
          <a:graphicData uri="http://schemas.openxmlformats.org/drawingml/2006/table">
            <a:tbl>
              <a:tblPr>
                <a:tableStyleId>{E8B1032C-EA38-4F05-BA0D-38AFFFC7BED3}</a:tableStyleId>
              </a:tblPr>
              <a:tblGrid>
                <a:gridCol w="2381516">
                  <a:extLst>
                    <a:ext uri="{9D8B030D-6E8A-4147-A177-3AD203B41FA5}">
                      <a16:colId xmlns:a16="http://schemas.microsoft.com/office/drawing/2014/main" val="3565448058"/>
                    </a:ext>
                  </a:extLst>
                </a:gridCol>
                <a:gridCol w="1143086">
                  <a:extLst>
                    <a:ext uri="{9D8B030D-6E8A-4147-A177-3AD203B41FA5}">
                      <a16:colId xmlns:a16="http://schemas.microsoft.com/office/drawing/2014/main" val="3905865318"/>
                    </a:ext>
                  </a:extLst>
                </a:gridCol>
                <a:gridCol w="615398">
                  <a:extLst>
                    <a:ext uri="{9D8B030D-6E8A-4147-A177-3AD203B41FA5}">
                      <a16:colId xmlns:a16="http://schemas.microsoft.com/office/drawing/2014/main" val="2509891192"/>
                    </a:ext>
                  </a:extLst>
                </a:gridCol>
              </a:tblGrid>
              <a:tr h="204394">
                <a:tc>
                  <a:txBody>
                    <a:bodyPr/>
                    <a:lstStyle/>
                    <a:p>
                      <a:pPr algn="ctr" rtl="0" fontAlgn="b">
                        <a:buNone/>
                      </a:pPr>
                      <a:r>
                        <a:rPr lang="en-US" sz="1100" b="1" dirty="0">
                          <a:effectLst/>
                        </a:rPr>
                        <a:t>Clinical Question</a:t>
                      </a:r>
                    </a:p>
                  </a:txBody>
                  <a:tcPr marL="15680" marR="15680" marT="0" marB="0" anchor="b"/>
                </a:tc>
                <a:tc>
                  <a:txBody>
                    <a:bodyPr/>
                    <a:lstStyle/>
                    <a:p>
                      <a:pPr algn="ctr" rtl="0" fontAlgn="b">
                        <a:buNone/>
                      </a:pPr>
                      <a:r>
                        <a:rPr lang="en-US" sz="1100" b="1">
                          <a:effectLst/>
                        </a:rPr>
                        <a:t>Test Used</a:t>
                      </a:r>
                    </a:p>
                  </a:txBody>
                  <a:tcPr marL="15680" marR="15680" marT="0" marB="0" anchor="b"/>
                </a:tc>
                <a:tc>
                  <a:txBody>
                    <a:bodyPr/>
                    <a:lstStyle/>
                    <a:p>
                      <a:pPr algn="ctr" rtl="0" fontAlgn="b">
                        <a:buNone/>
                      </a:pPr>
                      <a:r>
                        <a:rPr lang="en-US" sz="1100" b="1">
                          <a:effectLst/>
                        </a:rPr>
                        <a:t>p-value</a:t>
                      </a:r>
                    </a:p>
                  </a:txBody>
                  <a:tcPr marL="15680" marR="15680" marT="0" marB="0" anchor="b"/>
                </a:tc>
                <a:extLst>
                  <a:ext uri="{0D108BD9-81ED-4DB2-BD59-A6C34878D82A}">
                    <a16:rowId xmlns:a16="http://schemas.microsoft.com/office/drawing/2014/main" val="3547134911"/>
                  </a:ext>
                </a:extLst>
              </a:tr>
              <a:tr h="408783">
                <a:tc>
                  <a:txBody>
                    <a:bodyPr/>
                    <a:lstStyle/>
                    <a:p>
                      <a:pPr rtl="0" fontAlgn="b">
                        <a:buNone/>
                      </a:pPr>
                      <a:r>
                        <a:rPr lang="en-US" sz="1100" dirty="0">
                          <a:effectLst/>
                        </a:rPr>
                        <a:t>Is age higher in patients who had an event?</a:t>
                      </a:r>
                    </a:p>
                  </a:txBody>
                  <a:tcPr marL="15680" marR="15680" marT="0" marB="0" anchor="b"/>
                </a:tc>
                <a:tc>
                  <a:txBody>
                    <a:bodyPr/>
                    <a:lstStyle/>
                    <a:p>
                      <a:pPr rtl="0" fontAlgn="b">
                        <a:buNone/>
                      </a:pPr>
                      <a:r>
                        <a:rPr lang="en-US" sz="1100" dirty="0">
                          <a:effectLst/>
                        </a:rPr>
                        <a:t>Mann-Whitney U</a:t>
                      </a:r>
                    </a:p>
                  </a:txBody>
                  <a:tcPr marL="15680" marR="15680" marT="0" marB="0" anchor="b"/>
                </a:tc>
                <a:tc>
                  <a:txBody>
                    <a:bodyPr/>
                    <a:lstStyle/>
                    <a:p>
                      <a:pPr rtl="0" fontAlgn="b">
                        <a:buNone/>
                      </a:pPr>
                      <a:r>
                        <a:rPr lang="en-UG" sz="1100" dirty="0">
                          <a:effectLst/>
                        </a:rPr>
                        <a:t>&lt; 0.00001</a:t>
                      </a:r>
                    </a:p>
                  </a:txBody>
                  <a:tcPr marL="15680" marR="15680" marT="0" marB="0" anchor="b"/>
                </a:tc>
                <a:extLst>
                  <a:ext uri="{0D108BD9-81ED-4DB2-BD59-A6C34878D82A}">
                    <a16:rowId xmlns:a16="http://schemas.microsoft.com/office/drawing/2014/main" val="2889565295"/>
                  </a:ext>
                </a:extLst>
              </a:tr>
              <a:tr h="403809">
                <a:tc>
                  <a:txBody>
                    <a:bodyPr/>
                    <a:lstStyle/>
                    <a:p>
                      <a:pPr rtl="0" fontAlgn="b">
                        <a:buNone/>
                      </a:pPr>
                      <a:r>
                        <a:rPr lang="en-US" sz="1100" dirty="0">
                          <a:effectLst/>
                        </a:rPr>
                        <a:t>Is SBP higher in the event group?</a:t>
                      </a:r>
                    </a:p>
                  </a:txBody>
                  <a:tcPr marL="15680" marR="15680" marT="0" marB="0" anchor="b"/>
                </a:tc>
                <a:tc>
                  <a:txBody>
                    <a:bodyPr/>
                    <a:lstStyle/>
                    <a:p>
                      <a:pPr rtl="0" fontAlgn="b">
                        <a:buNone/>
                      </a:pPr>
                      <a:r>
                        <a:rPr lang="en-US" sz="1100" dirty="0">
                          <a:effectLst/>
                        </a:rPr>
                        <a:t>Mann-Whitney U</a:t>
                      </a:r>
                    </a:p>
                  </a:txBody>
                  <a:tcPr marL="15680" marR="15680" marT="0" marB="0" anchor="b"/>
                </a:tc>
                <a:tc>
                  <a:txBody>
                    <a:bodyPr/>
                    <a:lstStyle/>
                    <a:p>
                      <a:pPr rtl="0" fontAlgn="b">
                        <a:buNone/>
                      </a:pPr>
                      <a:r>
                        <a:rPr lang="en-UG" sz="1100">
                          <a:effectLst/>
                        </a:rPr>
                        <a:t>&lt; 0.00001</a:t>
                      </a:r>
                    </a:p>
                  </a:txBody>
                  <a:tcPr marL="15680" marR="15680" marT="0" marB="0" anchor="b"/>
                </a:tc>
                <a:extLst>
                  <a:ext uri="{0D108BD9-81ED-4DB2-BD59-A6C34878D82A}">
                    <a16:rowId xmlns:a16="http://schemas.microsoft.com/office/drawing/2014/main" val="2310125391"/>
                  </a:ext>
                </a:extLst>
              </a:tr>
              <a:tr h="403809">
                <a:tc>
                  <a:txBody>
                    <a:bodyPr/>
                    <a:lstStyle/>
                    <a:p>
                      <a:pPr rtl="0" fontAlgn="b">
                        <a:buNone/>
                      </a:pPr>
                      <a:r>
                        <a:rPr lang="en-US" sz="1100" dirty="0">
                          <a:effectLst/>
                        </a:rPr>
                        <a:t>Is BMI different between groups?</a:t>
                      </a:r>
                    </a:p>
                  </a:txBody>
                  <a:tcPr marL="15680" marR="15680" marT="0" marB="0" anchor="b"/>
                </a:tc>
                <a:tc>
                  <a:txBody>
                    <a:bodyPr/>
                    <a:lstStyle/>
                    <a:p>
                      <a:pPr rtl="0" fontAlgn="b">
                        <a:buNone/>
                      </a:pPr>
                      <a:r>
                        <a:rPr lang="en-US" sz="1100" dirty="0">
                          <a:effectLst/>
                        </a:rPr>
                        <a:t>Mann-Whitney U</a:t>
                      </a:r>
                    </a:p>
                  </a:txBody>
                  <a:tcPr marL="15680" marR="15680" marT="0" marB="0" anchor="b"/>
                </a:tc>
                <a:tc>
                  <a:txBody>
                    <a:bodyPr/>
                    <a:lstStyle/>
                    <a:p>
                      <a:pPr rtl="0" fontAlgn="b">
                        <a:buNone/>
                      </a:pPr>
                      <a:r>
                        <a:rPr lang="en-UG" sz="1100" dirty="0">
                          <a:effectLst/>
                        </a:rPr>
                        <a:t>&lt; 0.00001</a:t>
                      </a:r>
                    </a:p>
                  </a:txBody>
                  <a:tcPr marL="15680" marR="15680" marT="0" marB="0" anchor="b"/>
                </a:tc>
                <a:extLst>
                  <a:ext uri="{0D108BD9-81ED-4DB2-BD59-A6C34878D82A}">
                    <a16:rowId xmlns:a16="http://schemas.microsoft.com/office/drawing/2014/main" val="3281284477"/>
                  </a:ext>
                </a:extLst>
              </a:tr>
              <a:tr h="408783">
                <a:tc>
                  <a:txBody>
                    <a:bodyPr/>
                    <a:lstStyle/>
                    <a:p>
                      <a:pPr rtl="0" fontAlgn="b">
                        <a:buNone/>
                      </a:pPr>
                      <a:r>
                        <a:rPr lang="en-US" sz="1100" dirty="0">
                          <a:effectLst/>
                        </a:rPr>
                        <a:t>Is risk different between males &amp; females?</a:t>
                      </a:r>
                    </a:p>
                  </a:txBody>
                  <a:tcPr marL="15680" marR="15680" marT="0" marB="0" anchor="b"/>
                </a:tc>
                <a:tc>
                  <a:txBody>
                    <a:bodyPr/>
                    <a:lstStyle/>
                    <a:p>
                      <a:pPr rtl="0" fontAlgn="b">
                        <a:buNone/>
                      </a:pPr>
                      <a:r>
                        <a:rPr lang="en-US" sz="1100" dirty="0">
                          <a:effectLst/>
                        </a:rPr>
                        <a:t>Chi-square</a:t>
                      </a:r>
                    </a:p>
                  </a:txBody>
                  <a:tcPr marL="15680" marR="15680" marT="0" marB="0" anchor="b"/>
                </a:tc>
                <a:tc>
                  <a:txBody>
                    <a:bodyPr/>
                    <a:lstStyle/>
                    <a:p>
                      <a:pPr rtl="0" fontAlgn="b">
                        <a:buNone/>
                      </a:pPr>
                      <a:r>
                        <a:rPr lang="en-UG" sz="1100" dirty="0">
                          <a:effectLst/>
                        </a:rPr>
                        <a:t>&lt; 0.00001</a:t>
                      </a:r>
                    </a:p>
                  </a:txBody>
                  <a:tcPr marL="15680" marR="15680" marT="0" marB="0" anchor="b"/>
                </a:tc>
                <a:extLst>
                  <a:ext uri="{0D108BD9-81ED-4DB2-BD59-A6C34878D82A}">
                    <a16:rowId xmlns:a16="http://schemas.microsoft.com/office/drawing/2014/main" val="2429029041"/>
                  </a:ext>
                </a:extLst>
              </a:tr>
              <a:tr h="204394">
                <a:tc>
                  <a:txBody>
                    <a:bodyPr/>
                    <a:lstStyle/>
                    <a:p>
                      <a:pPr rtl="0" fontAlgn="b">
                        <a:buNone/>
                      </a:pPr>
                      <a:r>
                        <a:rPr lang="en-US" sz="1100">
                          <a:effectLst/>
                        </a:rPr>
                        <a:t>Does smoking increase 10-year risk?</a:t>
                      </a:r>
                    </a:p>
                  </a:txBody>
                  <a:tcPr marL="15680" marR="15680" marT="0" marB="0" anchor="b"/>
                </a:tc>
                <a:tc>
                  <a:txBody>
                    <a:bodyPr/>
                    <a:lstStyle/>
                    <a:p>
                      <a:pPr rtl="0" fontAlgn="b">
                        <a:buNone/>
                      </a:pPr>
                      <a:r>
                        <a:rPr lang="en-US" sz="1100" dirty="0">
                          <a:effectLst/>
                        </a:rPr>
                        <a:t>Chi-square</a:t>
                      </a:r>
                    </a:p>
                  </a:txBody>
                  <a:tcPr marL="15680" marR="15680" marT="0" marB="0" anchor="b"/>
                </a:tc>
                <a:tc>
                  <a:txBody>
                    <a:bodyPr/>
                    <a:lstStyle/>
                    <a:p>
                      <a:pPr algn="r" rtl="0" fontAlgn="b">
                        <a:buNone/>
                      </a:pPr>
                      <a:r>
                        <a:rPr lang="en-UG" sz="1100" dirty="0">
                          <a:effectLst/>
                        </a:rPr>
                        <a:t>0.066</a:t>
                      </a:r>
                    </a:p>
                  </a:txBody>
                  <a:tcPr marL="15680" marR="15680" marT="0" marB="0" anchor="b"/>
                </a:tc>
                <a:extLst>
                  <a:ext uri="{0D108BD9-81ED-4DB2-BD59-A6C34878D82A}">
                    <a16:rowId xmlns:a16="http://schemas.microsoft.com/office/drawing/2014/main" val="1556127751"/>
                  </a:ext>
                </a:extLst>
              </a:tr>
            </a:tbl>
          </a:graphicData>
        </a:graphic>
      </p:graphicFrame>
      <p:sp>
        <p:nvSpPr>
          <p:cNvPr id="5" name="Text Placeholder 4">
            <a:extLst>
              <a:ext uri="{FF2B5EF4-FFF2-40B4-BE49-F238E27FC236}">
                <a16:creationId xmlns:a16="http://schemas.microsoft.com/office/drawing/2014/main" id="{F9164BFF-9A5C-8AEB-EBD4-2861FB116D60}"/>
              </a:ext>
            </a:extLst>
          </p:cNvPr>
          <p:cNvSpPr>
            <a:spLocks noGrp="1"/>
          </p:cNvSpPr>
          <p:nvPr>
            <p:ph type="body" sz="quarter" idx="3"/>
          </p:nvPr>
        </p:nvSpPr>
        <p:spPr>
          <a:xfrm>
            <a:off x="4645025" y="776228"/>
            <a:ext cx="4041775" cy="639762"/>
          </a:xfrm>
        </p:spPr>
        <p:txBody>
          <a:bodyPr>
            <a:normAutofit/>
          </a:bodyPr>
          <a:lstStyle/>
          <a:p>
            <a:r>
              <a:rPr lang="en-US" dirty="0"/>
              <a:t>Multivariate</a:t>
            </a:r>
            <a:endParaRPr lang="en-UG" dirty="0"/>
          </a:p>
        </p:txBody>
      </p:sp>
      <p:sp>
        <p:nvSpPr>
          <p:cNvPr id="26" name="TextBox 25">
            <a:extLst>
              <a:ext uri="{FF2B5EF4-FFF2-40B4-BE49-F238E27FC236}">
                <a16:creationId xmlns:a16="http://schemas.microsoft.com/office/drawing/2014/main" id="{59E8C0B2-06A0-C58C-C760-A671A3E34762}"/>
              </a:ext>
            </a:extLst>
          </p:cNvPr>
          <p:cNvSpPr txBox="1"/>
          <p:nvPr/>
        </p:nvSpPr>
        <p:spPr>
          <a:xfrm>
            <a:off x="350520" y="1315932"/>
            <a:ext cx="4246592" cy="307777"/>
          </a:xfrm>
          <a:prstGeom prst="rect">
            <a:avLst/>
          </a:prstGeom>
          <a:noFill/>
        </p:spPr>
        <p:txBody>
          <a:bodyPr wrap="square" rtlCol="0">
            <a:spAutoFit/>
          </a:bodyPr>
          <a:lstStyle/>
          <a:p>
            <a:r>
              <a:rPr lang="en-US" sz="1400" dirty="0"/>
              <a:t>Table 2: Statistical Tests &amp; Clinical Pattern Insights</a:t>
            </a:r>
            <a:endParaRPr lang="en-UG" sz="1400" dirty="0"/>
          </a:p>
        </p:txBody>
      </p:sp>
      <p:sp>
        <p:nvSpPr>
          <p:cNvPr id="27" name="TextBox 26">
            <a:extLst>
              <a:ext uri="{FF2B5EF4-FFF2-40B4-BE49-F238E27FC236}">
                <a16:creationId xmlns:a16="http://schemas.microsoft.com/office/drawing/2014/main" id="{001C7D96-364B-0278-5FBD-BF6DBC039D0F}"/>
              </a:ext>
            </a:extLst>
          </p:cNvPr>
          <p:cNvSpPr txBox="1"/>
          <p:nvPr/>
        </p:nvSpPr>
        <p:spPr>
          <a:xfrm>
            <a:off x="406978" y="3695780"/>
            <a:ext cx="4139911" cy="3000821"/>
          </a:xfrm>
          <a:prstGeom prst="rect">
            <a:avLst/>
          </a:prstGeom>
          <a:noFill/>
        </p:spPr>
        <p:txBody>
          <a:bodyPr wrap="square" rtlCol="0">
            <a:spAutoFit/>
          </a:bodyPr>
          <a:lstStyle/>
          <a:p>
            <a:pPr algn="ctr"/>
            <a:r>
              <a:rPr lang="en-US" sz="1050" b="1" dirty="0"/>
              <a:t>Key Uncovers</a:t>
            </a:r>
          </a:p>
          <a:p>
            <a:pPr algn="just"/>
            <a:r>
              <a:rPr lang="en-US" sz="1050" b="1" dirty="0"/>
              <a:t>Age, SBP, BMI vs Event:</a:t>
            </a:r>
            <a:r>
              <a:rPr lang="en-US" sz="1050" dirty="0"/>
              <a:t> </a:t>
            </a:r>
          </a:p>
          <a:p>
            <a:pPr marL="171450" indent="-171450" algn="just">
              <a:buFont typeface="Wingdings" panose="05000000000000000000" pitchFamily="2" charset="2"/>
              <a:buChar char="§"/>
            </a:pPr>
            <a:r>
              <a:rPr lang="en-US" sz="1050" dirty="0"/>
              <a:t>The bivariate analysis shows that </a:t>
            </a:r>
            <a:r>
              <a:rPr lang="en-US" sz="1050" b="1" dirty="0"/>
              <a:t>age, systolic blood pressure (SBP), and body mass index (BMI)</a:t>
            </a:r>
            <a:r>
              <a:rPr lang="en-US" sz="1050" dirty="0"/>
              <a:t> all differ significantly between individuals who experienced a cardiovascular event and those who did not.  </a:t>
            </a:r>
          </a:p>
          <a:p>
            <a:pPr marL="171450" indent="-171450" algn="just">
              <a:buFont typeface="Wingdings" panose="05000000000000000000" pitchFamily="2" charset="2"/>
              <a:buChar char="§"/>
            </a:pPr>
            <a:r>
              <a:rPr lang="en-US" sz="1050" dirty="0"/>
              <a:t>This implies that Age, systolic blood pressure (SBP), and BMI all show statistically significant differences between event and non-event groups, confirming that these factors play a major role in predicting cardiovascular risk.</a:t>
            </a:r>
            <a:endParaRPr lang="en-US" sz="1050" b="1" dirty="0"/>
          </a:p>
          <a:p>
            <a:pPr algn="just"/>
            <a:r>
              <a:rPr lang="en-US" sz="1050" b="1" dirty="0"/>
              <a:t>Gender vs Event: </a:t>
            </a:r>
            <a:r>
              <a:rPr lang="en-US" sz="1050" dirty="0"/>
              <a:t>There is a statistically significant association between gender and 10-year CVD events (χ² = 290.17, p &lt; 0.00001). </a:t>
            </a:r>
          </a:p>
          <a:p>
            <a:pPr marL="171450" indent="-171450" algn="just">
              <a:buFont typeface="Wingdings" panose="05000000000000000000" pitchFamily="2" charset="2"/>
              <a:buChar char="§"/>
            </a:pPr>
            <a:r>
              <a:rPr lang="en-US" sz="1050" dirty="0"/>
              <a:t>Men experience significantly more heart attacks and strokes than women, with an event rate nearly 50% higher. </a:t>
            </a:r>
          </a:p>
          <a:p>
            <a:pPr algn="just"/>
            <a:r>
              <a:rPr lang="en-US" sz="1050" b="1" dirty="0"/>
              <a:t>Smoking vs Event: </a:t>
            </a:r>
            <a:r>
              <a:rPr lang="en-US" sz="1050" dirty="0"/>
              <a:t>There is no statistically significant association between smoking status and occurrence of a heart attack or stroke in this dataset. </a:t>
            </a:r>
          </a:p>
          <a:p>
            <a:pPr marL="171450" indent="-171450" algn="just">
              <a:buFont typeface="Wingdings" panose="05000000000000000000" pitchFamily="2" charset="2"/>
              <a:buChar char="§"/>
            </a:pPr>
            <a:r>
              <a:rPr lang="en-US" sz="1050" dirty="0"/>
              <a:t>This Implies that smoking does not appear to influence the likelihood of experiencing a heart attack or stroke based on the statistical test.</a:t>
            </a:r>
            <a:endParaRPr lang="en-UG" sz="1050" dirty="0"/>
          </a:p>
        </p:txBody>
      </p:sp>
      <p:pic>
        <p:nvPicPr>
          <p:cNvPr id="3075" name="Picture 3">
            <a:extLst>
              <a:ext uri="{FF2B5EF4-FFF2-40B4-BE49-F238E27FC236}">
                <a16:creationId xmlns:a16="http://schemas.microsoft.com/office/drawing/2014/main" id="{5F220CA0-D8C4-EC40-3F0C-F82FEBF79219}"/>
              </a:ext>
            </a:extLst>
          </p:cNvPr>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rcRect/>
          <a:stretch>
            <a:fillRect/>
          </a:stretch>
        </p:blipFill>
        <p:spPr bwMode="auto">
          <a:xfrm>
            <a:off x="4669775" y="1623709"/>
            <a:ext cx="4296092" cy="2506923"/>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B9AAF597-5DB7-9D66-1522-5FB4AAA97F75}"/>
              </a:ext>
            </a:extLst>
          </p:cNvPr>
          <p:cNvSpPr txBox="1"/>
          <p:nvPr/>
        </p:nvSpPr>
        <p:spPr>
          <a:xfrm>
            <a:off x="4694525" y="1315932"/>
            <a:ext cx="4246592" cy="307777"/>
          </a:xfrm>
          <a:prstGeom prst="rect">
            <a:avLst/>
          </a:prstGeom>
          <a:noFill/>
        </p:spPr>
        <p:txBody>
          <a:bodyPr wrap="square" rtlCol="0">
            <a:spAutoFit/>
          </a:bodyPr>
          <a:lstStyle/>
          <a:p>
            <a:r>
              <a:rPr lang="en-US" sz="1400" dirty="0"/>
              <a:t>Figure 2: Statistical Tests &amp; Clinical Pattern Insights</a:t>
            </a:r>
            <a:endParaRPr lang="en-UG" sz="1400" dirty="0"/>
          </a:p>
        </p:txBody>
      </p:sp>
      <p:sp>
        <p:nvSpPr>
          <p:cNvPr id="29" name="TextBox 28">
            <a:extLst>
              <a:ext uri="{FF2B5EF4-FFF2-40B4-BE49-F238E27FC236}">
                <a16:creationId xmlns:a16="http://schemas.microsoft.com/office/drawing/2014/main" id="{9ED97A91-71F1-D4A8-B479-10C6FE3D084D}"/>
              </a:ext>
            </a:extLst>
          </p:cNvPr>
          <p:cNvSpPr txBox="1"/>
          <p:nvPr/>
        </p:nvSpPr>
        <p:spPr>
          <a:xfrm>
            <a:off x="4825956" y="4342110"/>
            <a:ext cx="4139911" cy="1708160"/>
          </a:xfrm>
          <a:prstGeom prst="rect">
            <a:avLst/>
          </a:prstGeom>
          <a:noFill/>
        </p:spPr>
        <p:txBody>
          <a:bodyPr wrap="square" rtlCol="0">
            <a:spAutoFit/>
          </a:bodyPr>
          <a:lstStyle/>
          <a:p>
            <a:pPr algn="just"/>
            <a:r>
              <a:rPr lang="en-US" sz="1050" b="1" dirty="0"/>
              <a:t>Figure 2 </a:t>
            </a:r>
            <a:r>
              <a:rPr lang="en-US" sz="1050" dirty="0"/>
              <a:t>reveals a clear dose-response relationship; i.e. as the number of comorbidities increases, the proportion of participants experiencing a CVD event rises sharply and vice versa.</a:t>
            </a:r>
          </a:p>
          <a:p>
            <a:pPr algn="just"/>
            <a:endParaRPr lang="en-US" sz="1050" dirty="0"/>
          </a:p>
          <a:p>
            <a:pPr algn="just"/>
            <a:r>
              <a:rPr lang="en-US" sz="1050" dirty="0"/>
              <a:t>This demonstrates that CVD risk accelerates with multiple chronic conditions, reflecting the cumulative burden of disease.</a:t>
            </a:r>
          </a:p>
          <a:p>
            <a:pPr algn="just"/>
            <a:endParaRPr lang="en-US" sz="1050" dirty="0"/>
          </a:p>
          <a:p>
            <a:pPr marL="171450" indent="-171450" algn="just">
              <a:buFont typeface="Wingdings" panose="05000000000000000000" pitchFamily="2" charset="2"/>
              <a:buChar char="§"/>
            </a:pPr>
            <a:r>
              <a:rPr lang="en-US" sz="1050" dirty="0"/>
              <a:t>Thus, this means that patients with multiple comorbidities (CKD, AF, diabetes) are at substantially higher risk, highlighting the importance of integrated care and early intervention</a:t>
            </a:r>
            <a:endParaRPr lang="en-UG" sz="1050" dirty="0"/>
          </a:p>
        </p:txBody>
      </p:sp>
    </p:spTree>
    <p:extLst>
      <p:ext uri="{BB962C8B-B14F-4D97-AF65-F5344CB8AC3E}">
        <p14:creationId xmlns:p14="http://schemas.microsoft.com/office/powerpoint/2010/main" val="240777778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randombar(horizontal)">
                                      <p:cBhvr>
                                        <p:cTn id="7" dur="500"/>
                                        <p:tgtEl>
                                          <p:spTgt spid="26"/>
                                        </p:tgtEl>
                                      </p:cBhvr>
                                    </p:animEffect>
                                  </p:childTnLst>
                                </p:cTn>
                              </p:par>
                              <p:par>
                                <p:cTn id="8" presetID="14" presetClass="entr" presetSubtype="1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randombar(horizontal)">
                                      <p:cBhvr>
                                        <p:cTn id="10" dur="500"/>
                                        <p:tgtEl>
                                          <p:spTgt spid="25"/>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randombar(horizontal)">
                                      <p:cBhvr>
                                        <p:cTn id="13" dur="500"/>
                                        <p:tgtEl>
                                          <p:spTgt spid="27"/>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barn(outHorizontal)">
                                      <p:cBhvr>
                                        <p:cTn id="22" dur="500"/>
                                        <p:tgtEl>
                                          <p:spTgt spid="28"/>
                                        </p:tgtEl>
                                      </p:cBhvr>
                                    </p:animEffect>
                                  </p:childTnLst>
                                </p:cTn>
                              </p:par>
                              <p:par>
                                <p:cTn id="23" presetID="16" presetClass="entr" presetSubtype="42" fill="hold" nodeType="withEffect">
                                  <p:stCondLst>
                                    <p:cond delay="0"/>
                                  </p:stCondLst>
                                  <p:childTnLst>
                                    <p:set>
                                      <p:cBhvr>
                                        <p:cTn id="24" dur="1" fill="hold">
                                          <p:stCondLst>
                                            <p:cond delay="0"/>
                                          </p:stCondLst>
                                        </p:cTn>
                                        <p:tgtEl>
                                          <p:spTgt spid="3075"/>
                                        </p:tgtEl>
                                        <p:attrNameLst>
                                          <p:attrName>style.visibility</p:attrName>
                                        </p:attrNameLst>
                                      </p:cBhvr>
                                      <p:to>
                                        <p:strVal val="visible"/>
                                      </p:to>
                                    </p:set>
                                    <p:animEffect transition="in" filter="barn(outHorizontal)">
                                      <p:cBhvr>
                                        <p:cTn id="25" dur="500"/>
                                        <p:tgtEl>
                                          <p:spTgt spid="3075"/>
                                        </p:tgtEl>
                                      </p:cBhvr>
                                    </p:animEffect>
                                  </p:childTnLst>
                                </p:cTn>
                              </p:par>
                              <p:par>
                                <p:cTn id="26" presetID="16" presetClass="entr" presetSubtype="42"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barn(outHorizontal)">
                                      <p:cBhvr>
                                        <p:cTn id="2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26" grpId="0"/>
      <p:bldP spid="27" grpId="0"/>
      <p:bldP spid="28" grpId="0"/>
      <p:bldP spid="2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96B65CE-4676-A893-89F0-3F6E3FAFC39F}"/>
              </a:ext>
            </a:extLst>
          </p:cNvPr>
          <p:cNvSpPr>
            <a:spLocks noGrp="1"/>
          </p:cNvSpPr>
          <p:nvPr>
            <p:ph type="title"/>
          </p:nvPr>
        </p:nvSpPr>
        <p:spPr>
          <a:xfrm>
            <a:off x="457201" y="123339"/>
            <a:ext cx="8229600" cy="639762"/>
          </a:xfrm>
        </p:spPr>
        <p:txBody>
          <a:bodyPr>
            <a:normAutofit fontScale="90000"/>
          </a:bodyPr>
          <a:lstStyle/>
          <a:p>
            <a:r>
              <a:rPr lang="en-US" dirty="0"/>
              <a:t>B: Machine learning Modelling</a:t>
            </a:r>
            <a:endParaRPr lang="en-UG" dirty="0"/>
          </a:p>
        </p:txBody>
      </p:sp>
      <p:sp>
        <p:nvSpPr>
          <p:cNvPr id="9" name="Text Placeholder 8">
            <a:extLst>
              <a:ext uri="{FF2B5EF4-FFF2-40B4-BE49-F238E27FC236}">
                <a16:creationId xmlns:a16="http://schemas.microsoft.com/office/drawing/2014/main" id="{98EA97BC-FB4F-3F24-842C-029D7EEE3A7F}"/>
              </a:ext>
            </a:extLst>
          </p:cNvPr>
          <p:cNvSpPr>
            <a:spLocks noGrp="1"/>
          </p:cNvSpPr>
          <p:nvPr>
            <p:ph type="body" idx="1"/>
          </p:nvPr>
        </p:nvSpPr>
        <p:spPr>
          <a:xfrm>
            <a:off x="240081" y="829195"/>
            <a:ext cx="4040188" cy="439176"/>
          </a:xfrm>
        </p:spPr>
        <p:txBody>
          <a:bodyPr>
            <a:normAutofit lnSpcReduction="10000"/>
          </a:bodyPr>
          <a:lstStyle/>
          <a:p>
            <a:r>
              <a:rPr lang="en-US" dirty="0"/>
              <a:t>Training and Approach used</a:t>
            </a:r>
            <a:endParaRPr lang="en-UG" dirty="0"/>
          </a:p>
        </p:txBody>
      </p:sp>
      <p:sp>
        <p:nvSpPr>
          <p:cNvPr id="10" name="Content Placeholder 9">
            <a:extLst>
              <a:ext uri="{FF2B5EF4-FFF2-40B4-BE49-F238E27FC236}">
                <a16:creationId xmlns:a16="http://schemas.microsoft.com/office/drawing/2014/main" id="{5998309B-119F-C97F-900C-AE399CBC3755}"/>
              </a:ext>
            </a:extLst>
          </p:cNvPr>
          <p:cNvSpPr>
            <a:spLocks noGrp="1"/>
          </p:cNvSpPr>
          <p:nvPr>
            <p:ph sz="half" idx="2"/>
          </p:nvPr>
        </p:nvSpPr>
        <p:spPr>
          <a:xfrm>
            <a:off x="392418" y="1350003"/>
            <a:ext cx="3564000" cy="5238401"/>
          </a:xfrm>
        </p:spPr>
        <p:txBody>
          <a:bodyPr>
            <a:noAutofit/>
          </a:bodyPr>
          <a:lstStyle/>
          <a:p>
            <a:pPr marL="0" indent="0" algn="just">
              <a:buNone/>
            </a:pPr>
            <a:r>
              <a:rPr lang="en-US" sz="1350" b="1" dirty="0"/>
              <a:t>Models Trained</a:t>
            </a:r>
          </a:p>
          <a:p>
            <a:pPr algn="just"/>
            <a:r>
              <a:rPr lang="en-US" sz="1350" dirty="0"/>
              <a:t>Logistic Regression</a:t>
            </a:r>
          </a:p>
          <a:p>
            <a:pPr algn="just"/>
            <a:r>
              <a:rPr lang="en-US" sz="1350" dirty="0"/>
              <a:t>Random Forest</a:t>
            </a:r>
          </a:p>
          <a:p>
            <a:pPr algn="just"/>
            <a:r>
              <a:rPr lang="en-US" sz="1350" dirty="0"/>
              <a:t>KNN (n=15)</a:t>
            </a:r>
          </a:p>
          <a:p>
            <a:pPr marL="0" indent="0" algn="just">
              <a:buNone/>
            </a:pPr>
            <a:r>
              <a:rPr lang="en-US" sz="1350" b="1" dirty="0"/>
              <a:t>Approach</a:t>
            </a:r>
          </a:p>
          <a:p>
            <a:pPr algn="just"/>
            <a:r>
              <a:rPr lang="en-US" sz="1350" dirty="0"/>
              <a:t>SMOTE was applied to correct class imbalance</a:t>
            </a:r>
          </a:p>
          <a:p>
            <a:pPr algn="just"/>
            <a:r>
              <a:rPr lang="en-US" sz="1350" dirty="0"/>
              <a:t>Models evaluated with:</a:t>
            </a:r>
          </a:p>
          <a:p>
            <a:pPr lvl="1" algn="just">
              <a:buFont typeface="Wingdings" panose="05000000000000000000" pitchFamily="2" charset="2"/>
              <a:buChar char="v"/>
            </a:pPr>
            <a:r>
              <a:rPr lang="en-US" sz="1350" dirty="0"/>
              <a:t>Precision</a:t>
            </a:r>
          </a:p>
          <a:p>
            <a:pPr lvl="1" algn="just">
              <a:buFont typeface="Wingdings" panose="05000000000000000000" pitchFamily="2" charset="2"/>
              <a:buChar char="v"/>
            </a:pPr>
            <a:r>
              <a:rPr lang="en-US" sz="1350" dirty="0"/>
              <a:t>Recall</a:t>
            </a:r>
          </a:p>
          <a:p>
            <a:pPr lvl="1" algn="just">
              <a:buFont typeface="Wingdings" panose="05000000000000000000" pitchFamily="2" charset="2"/>
              <a:buChar char="v"/>
            </a:pPr>
            <a:r>
              <a:rPr lang="en-US" sz="1350" dirty="0"/>
              <a:t>F1 Score</a:t>
            </a:r>
          </a:p>
          <a:p>
            <a:pPr lvl="1" algn="just">
              <a:buFont typeface="Wingdings" panose="05000000000000000000" pitchFamily="2" charset="2"/>
              <a:buChar char="v"/>
            </a:pPr>
            <a:r>
              <a:rPr lang="en-US" sz="1350" i="1" dirty="0"/>
              <a:t>Confusion Matrix (Notebooks)</a:t>
            </a:r>
            <a:endParaRPr lang="en-US" sz="1350" b="1" i="1" dirty="0"/>
          </a:p>
          <a:p>
            <a:pPr marL="57150" indent="0" algn="just">
              <a:buNone/>
            </a:pPr>
            <a:r>
              <a:rPr lang="en-US" sz="1350" b="1" i="1" dirty="0"/>
              <a:t>Steps followed to avoid target and train-test contaminations</a:t>
            </a:r>
          </a:p>
          <a:p>
            <a:pPr marL="800100" lvl="1" indent="-342900" algn="just">
              <a:buAutoNum type="arabicPeriod"/>
            </a:pPr>
            <a:r>
              <a:rPr lang="en-US" sz="1350" dirty="0"/>
              <a:t>Load &amp; Initial Examination</a:t>
            </a:r>
          </a:p>
          <a:p>
            <a:pPr marL="800100" lvl="1" indent="-342900" algn="just">
              <a:buAutoNum type="arabicPeriod"/>
            </a:pPr>
            <a:r>
              <a:rPr lang="en-US" sz="1350" dirty="0"/>
              <a:t>Train-Test Split (stratified) (FIRST!)</a:t>
            </a:r>
          </a:p>
          <a:p>
            <a:pPr marL="800100" lvl="1" indent="-342900" algn="just">
              <a:buAutoNum type="arabicPeriod"/>
            </a:pPr>
            <a:r>
              <a:rPr lang="en-US" sz="1350" dirty="0"/>
              <a:t>Preprocessing Pipeline (Column Transformer)</a:t>
            </a:r>
          </a:p>
          <a:p>
            <a:pPr marL="800100" lvl="1" indent="-342900" algn="just">
              <a:buAutoNum type="arabicPeriod"/>
            </a:pPr>
            <a:r>
              <a:rPr lang="en-US" sz="1350" dirty="0"/>
              <a:t>Full ImbPipeline (preprocessor + SMOTE + model)</a:t>
            </a:r>
          </a:p>
          <a:p>
            <a:pPr marL="800100" lvl="1" indent="-342900" algn="just">
              <a:buAutoNum type="arabicPeriod"/>
            </a:pPr>
            <a:r>
              <a:rPr lang="en-US" sz="1350" dirty="0"/>
              <a:t>Model Training &amp; Evaluation</a:t>
            </a:r>
          </a:p>
          <a:p>
            <a:pPr marL="800100" lvl="1" indent="-342900" algn="just">
              <a:buAutoNum type="arabicPeriod"/>
            </a:pPr>
            <a:r>
              <a:rPr lang="en-US" sz="1350" dirty="0"/>
              <a:t>Final Model Saving</a:t>
            </a:r>
            <a:endParaRPr lang="en-UG" sz="1350" dirty="0"/>
          </a:p>
        </p:txBody>
      </p:sp>
      <p:sp>
        <p:nvSpPr>
          <p:cNvPr id="11" name="Text Placeholder 10">
            <a:extLst>
              <a:ext uri="{FF2B5EF4-FFF2-40B4-BE49-F238E27FC236}">
                <a16:creationId xmlns:a16="http://schemas.microsoft.com/office/drawing/2014/main" id="{3211797E-3118-2255-803E-5DA5142C7FEA}"/>
              </a:ext>
            </a:extLst>
          </p:cNvPr>
          <p:cNvSpPr>
            <a:spLocks noGrp="1"/>
          </p:cNvSpPr>
          <p:nvPr>
            <p:ph type="body" sz="quarter" idx="3"/>
          </p:nvPr>
        </p:nvSpPr>
        <p:spPr>
          <a:xfrm>
            <a:off x="4177344" y="886015"/>
            <a:ext cx="4318974" cy="439176"/>
          </a:xfrm>
        </p:spPr>
        <p:txBody>
          <a:bodyPr>
            <a:normAutofit lnSpcReduction="10000"/>
          </a:bodyPr>
          <a:lstStyle/>
          <a:p>
            <a:r>
              <a:rPr lang="en-US" dirty="0"/>
              <a:t>Machine Learning-Results</a:t>
            </a:r>
            <a:endParaRPr lang="en-UG" dirty="0"/>
          </a:p>
        </p:txBody>
      </p:sp>
      <p:graphicFrame>
        <p:nvGraphicFramePr>
          <p:cNvPr id="13" name="Content Placeholder 12">
            <a:extLst>
              <a:ext uri="{FF2B5EF4-FFF2-40B4-BE49-F238E27FC236}">
                <a16:creationId xmlns:a16="http://schemas.microsoft.com/office/drawing/2014/main" id="{69CADACF-73B8-0292-FA4A-3B1F332E1557}"/>
              </a:ext>
            </a:extLst>
          </p:cNvPr>
          <p:cNvGraphicFramePr>
            <a:graphicFrameLocks noGrp="1"/>
          </p:cNvGraphicFramePr>
          <p:nvPr>
            <p:ph sz="quarter" idx="4"/>
            <p:extLst>
              <p:ext uri="{D42A27DB-BD31-4B8C-83A1-F6EECF244321}">
                <p14:modId xmlns:p14="http://schemas.microsoft.com/office/powerpoint/2010/main" val="3009063756"/>
              </p:ext>
            </p:extLst>
          </p:nvPr>
        </p:nvGraphicFramePr>
        <p:xfrm>
          <a:off x="4177344" y="1905752"/>
          <a:ext cx="4677164" cy="1094032"/>
        </p:xfrm>
        <a:graphic>
          <a:graphicData uri="http://schemas.openxmlformats.org/drawingml/2006/table">
            <a:tbl>
              <a:tblPr>
                <a:tableStyleId>{E8B1032C-EA38-4F05-BA0D-38AFFFC7BED3}</a:tableStyleId>
              </a:tblPr>
              <a:tblGrid>
                <a:gridCol w="1169291">
                  <a:extLst>
                    <a:ext uri="{9D8B030D-6E8A-4147-A177-3AD203B41FA5}">
                      <a16:colId xmlns:a16="http://schemas.microsoft.com/office/drawing/2014/main" val="387734226"/>
                    </a:ext>
                  </a:extLst>
                </a:gridCol>
                <a:gridCol w="1169291">
                  <a:extLst>
                    <a:ext uri="{9D8B030D-6E8A-4147-A177-3AD203B41FA5}">
                      <a16:colId xmlns:a16="http://schemas.microsoft.com/office/drawing/2014/main" val="2298034022"/>
                    </a:ext>
                  </a:extLst>
                </a:gridCol>
                <a:gridCol w="1169291">
                  <a:extLst>
                    <a:ext uri="{9D8B030D-6E8A-4147-A177-3AD203B41FA5}">
                      <a16:colId xmlns:a16="http://schemas.microsoft.com/office/drawing/2014/main" val="4255253083"/>
                    </a:ext>
                  </a:extLst>
                </a:gridCol>
                <a:gridCol w="1169291">
                  <a:extLst>
                    <a:ext uri="{9D8B030D-6E8A-4147-A177-3AD203B41FA5}">
                      <a16:colId xmlns:a16="http://schemas.microsoft.com/office/drawing/2014/main" val="2616968428"/>
                    </a:ext>
                  </a:extLst>
                </a:gridCol>
              </a:tblGrid>
              <a:tr h="144037">
                <a:tc>
                  <a:txBody>
                    <a:bodyPr/>
                    <a:lstStyle/>
                    <a:p>
                      <a:pPr>
                        <a:buNone/>
                      </a:pPr>
                      <a:r>
                        <a:rPr lang="en-US" sz="1200" dirty="0"/>
                        <a:t>Model</a:t>
                      </a:r>
                    </a:p>
                  </a:txBody>
                  <a:tcPr marL="44909" marR="44909" marT="22454" marB="22454" anchor="ctr"/>
                </a:tc>
                <a:tc>
                  <a:txBody>
                    <a:bodyPr/>
                    <a:lstStyle/>
                    <a:p>
                      <a:pPr>
                        <a:buNone/>
                      </a:pPr>
                      <a:r>
                        <a:rPr lang="en-US" sz="1200" dirty="0"/>
                        <a:t>Precision (Yes)</a:t>
                      </a:r>
                    </a:p>
                  </a:txBody>
                  <a:tcPr marL="44909" marR="44909" marT="22454" marB="22454" anchor="ctr"/>
                </a:tc>
                <a:tc>
                  <a:txBody>
                    <a:bodyPr/>
                    <a:lstStyle/>
                    <a:p>
                      <a:pPr>
                        <a:buNone/>
                      </a:pPr>
                      <a:r>
                        <a:rPr lang="en-US" sz="1200" dirty="0"/>
                        <a:t>Recall (Yes)</a:t>
                      </a:r>
                    </a:p>
                  </a:txBody>
                  <a:tcPr marL="44909" marR="44909" marT="22454" marB="22454" anchor="ctr"/>
                </a:tc>
                <a:tc>
                  <a:txBody>
                    <a:bodyPr/>
                    <a:lstStyle/>
                    <a:p>
                      <a:pPr>
                        <a:buNone/>
                      </a:pPr>
                      <a:r>
                        <a:rPr lang="en-US" sz="1200"/>
                        <a:t>F1 (Yes)</a:t>
                      </a:r>
                    </a:p>
                  </a:txBody>
                  <a:tcPr marL="44909" marR="44909" marT="22454" marB="22454" anchor="ctr"/>
                </a:tc>
                <a:extLst>
                  <a:ext uri="{0D108BD9-81ED-4DB2-BD59-A6C34878D82A}">
                    <a16:rowId xmlns:a16="http://schemas.microsoft.com/office/drawing/2014/main" val="1558540051"/>
                  </a:ext>
                </a:extLst>
              </a:tr>
              <a:tr h="144000">
                <a:tc>
                  <a:txBody>
                    <a:bodyPr/>
                    <a:lstStyle/>
                    <a:p>
                      <a:pPr>
                        <a:buNone/>
                      </a:pPr>
                      <a:r>
                        <a:rPr lang="en-US" sz="1200" dirty="0"/>
                        <a:t>Logistic Regression</a:t>
                      </a:r>
                    </a:p>
                  </a:txBody>
                  <a:tcPr marL="44909" marR="44909" marT="22454" marB="22454" anchor="ctr"/>
                </a:tc>
                <a:tc>
                  <a:txBody>
                    <a:bodyPr/>
                    <a:lstStyle/>
                    <a:p>
                      <a:pPr>
                        <a:buNone/>
                      </a:pPr>
                      <a:r>
                        <a:rPr lang="en-UG" sz="1200" dirty="0"/>
                        <a:t>0.</a:t>
                      </a:r>
                      <a:r>
                        <a:rPr lang="en-US" sz="1200" dirty="0"/>
                        <a:t>18</a:t>
                      </a:r>
                      <a:endParaRPr lang="en-UG" sz="1200" dirty="0"/>
                    </a:p>
                  </a:txBody>
                  <a:tcPr marL="44909" marR="44909" marT="22454" marB="22454" anchor="ctr"/>
                </a:tc>
                <a:tc>
                  <a:txBody>
                    <a:bodyPr/>
                    <a:lstStyle/>
                    <a:p>
                      <a:pPr>
                        <a:buNone/>
                      </a:pPr>
                      <a:r>
                        <a:rPr lang="en-UG" sz="1200" dirty="0"/>
                        <a:t>0.</a:t>
                      </a:r>
                      <a:r>
                        <a:rPr lang="en-US" sz="1200" dirty="0"/>
                        <a:t>8</a:t>
                      </a:r>
                      <a:r>
                        <a:rPr lang="en-UG" sz="1200" dirty="0"/>
                        <a:t>0</a:t>
                      </a:r>
                    </a:p>
                  </a:txBody>
                  <a:tcPr marL="44909" marR="44909" marT="22454" marB="22454" anchor="ctr"/>
                </a:tc>
                <a:tc>
                  <a:txBody>
                    <a:bodyPr/>
                    <a:lstStyle/>
                    <a:p>
                      <a:pPr>
                        <a:buNone/>
                      </a:pPr>
                      <a:r>
                        <a:rPr lang="en-UG" sz="1200" dirty="0"/>
                        <a:t>0.</a:t>
                      </a:r>
                      <a:r>
                        <a:rPr lang="en-US" sz="1200" dirty="0"/>
                        <a:t>2</a:t>
                      </a:r>
                      <a:r>
                        <a:rPr lang="en-UG" sz="1200" dirty="0"/>
                        <a:t>9</a:t>
                      </a:r>
                    </a:p>
                  </a:txBody>
                  <a:tcPr marL="44909" marR="44909" marT="22454" marB="22454" anchor="ctr"/>
                </a:tc>
                <a:extLst>
                  <a:ext uri="{0D108BD9-81ED-4DB2-BD59-A6C34878D82A}">
                    <a16:rowId xmlns:a16="http://schemas.microsoft.com/office/drawing/2014/main" val="2795988837"/>
                  </a:ext>
                </a:extLst>
              </a:tr>
              <a:tr h="150077">
                <a:tc>
                  <a:txBody>
                    <a:bodyPr/>
                    <a:lstStyle/>
                    <a:p>
                      <a:pPr>
                        <a:buNone/>
                      </a:pPr>
                      <a:r>
                        <a:rPr lang="en-US" sz="1200" b="1"/>
                        <a:t>Random Forest</a:t>
                      </a:r>
                      <a:endParaRPr lang="en-US" sz="1200"/>
                    </a:p>
                  </a:txBody>
                  <a:tcPr marL="44909" marR="44909" marT="22454" marB="22454" anchor="ctr"/>
                </a:tc>
                <a:tc>
                  <a:txBody>
                    <a:bodyPr/>
                    <a:lstStyle/>
                    <a:p>
                      <a:pPr>
                        <a:buNone/>
                      </a:pPr>
                      <a:r>
                        <a:rPr lang="en-UG" sz="1200" b="1" dirty="0"/>
                        <a:t>0.</a:t>
                      </a:r>
                      <a:r>
                        <a:rPr lang="en-US" sz="1200" b="1" dirty="0"/>
                        <a:t>1</a:t>
                      </a:r>
                      <a:r>
                        <a:rPr lang="en-UG" sz="1200" b="1" dirty="0"/>
                        <a:t>9</a:t>
                      </a:r>
                      <a:endParaRPr lang="en-UG" sz="1200" dirty="0"/>
                    </a:p>
                  </a:txBody>
                  <a:tcPr marL="44909" marR="44909" marT="22454" marB="22454" anchor="ctr"/>
                </a:tc>
                <a:tc>
                  <a:txBody>
                    <a:bodyPr/>
                    <a:lstStyle/>
                    <a:p>
                      <a:pPr>
                        <a:buNone/>
                      </a:pPr>
                      <a:r>
                        <a:rPr lang="en-UG" sz="1200" b="1" dirty="0"/>
                        <a:t>0.</a:t>
                      </a:r>
                      <a:r>
                        <a:rPr lang="en-US" sz="1200" b="1" dirty="0"/>
                        <a:t>23</a:t>
                      </a:r>
                      <a:endParaRPr lang="en-UG" sz="1200" dirty="0"/>
                    </a:p>
                  </a:txBody>
                  <a:tcPr marL="44909" marR="44909" marT="22454" marB="22454" anchor="ctr"/>
                </a:tc>
                <a:tc>
                  <a:txBody>
                    <a:bodyPr/>
                    <a:lstStyle/>
                    <a:p>
                      <a:pPr>
                        <a:buNone/>
                      </a:pPr>
                      <a:r>
                        <a:rPr lang="en-UG" sz="1200" b="1" dirty="0"/>
                        <a:t>0.</a:t>
                      </a:r>
                      <a:r>
                        <a:rPr lang="en-US" sz="1200" b="1" dirty="0"/>
                        <a:t>2</a:t>
                      </a:r>
                      <a:r>
                        <a:rPr lang="en-UG" sz="1200" b="1" dirty="0"/>
                        <a:t>1</a:t>
                      </a:r>
                      <a:endParaRPr lang="en-UG" sz="1200" dirty="0"/>
                    </a:p>
                  </a:txBody>
                  <a:tcPr marL="44909" marR="44909" marT="22454" marB="22454" anchor="ctr"/>
                </a:tc>
                <a:extLst>
                  <a:ext uri="{0D108BD9-81ED-4DB2-BD59-A6C34878D82A}">
                    <a16:rowId xmlns:a16="http://schemas.microsoft.com/office/drawing/2014/main" val="1672368175"/>
                  </a:ext>
                </a:extLst>
              </a:tr>
              <a:tr h="144000">
                <a:tc>
                  <a:txBody>
                    <a:bodyPr/>
                    <a:lstStyle/>
                    <a:p>
                      <a:pPr>
                        <a:buNone/>
                      </a:pPr>
                      <a:r>
                        <a:rPr lang="en-US" sz="1200" dirty="0"/>
                        <a:t>KNN (n=15)</a:t>
                      </a:r>
                    </a:p>
                  </a:txBody>
                  <a:tcPr marL="44909" marR="44909" marT="22454" marB="22454" anchor="ctr"/>
                </a:tc>
                <a:tc>
                  <a:txBody>
                    <a:bodyPr/>
                    <a:lstStyle/>
                    <a:p>
                      <a:pPr>
                        <a:buNone/>
                      </a:pPr>
                      <a:r>
                        <a:rPr lang="en-UG" sz="1200" dirty="0"/>
                        <a:t>0.</a:t>
                      </a:r>
                      <a:r>
                        <a:rPr lang="en-US" sz="1200" dirty="0"/>
                        <a:t>1</a:t>
                      </a:r>
                      <a:r>
                        <a:rPr lang="en-UG" sz="1200" dirty="0"/>
                        <a:t>6</a:t>
                      </a:r>
                    </a:p>
                  </a:txBody>
                  <a:tcPr marL="44909" marR="44909" marT="22454" marB="22454" anchor="ctr"/>
                </a:tc>
                <a:tc>
                  <a:txBody>
                    <a:bodyPr/>
                    <a:lstStyle/>
                    <a:p>
                      <a:pPr>
                        <a:buNone/>
                      </a:pPr>
                      <a:r>
                        <a:rPr lang="en-UG" sz="1200" dirty="0"/>
                        <a:t>0.</a:t>
                      </a:r>
                      <a:r>
                        <a:rPr lang="en-US" sz="1200" dirty="0"/>
                        <a:t>65</a:t>
                      </a:r>
                      <a:endParaRPr lang="en-UG" sz="1200" dirty="0"/>
                    </a:p>
                  </a:txBody>
                  <a:tcPr marL="44909" marR="44909" marT="22454" marB="22454" anchor="ctr"/>
                </a:tc>
                <a:tc>
                  <a:txBody>
                    <a:bodyPr/>
                    <a:lstStyle/>
                    <a:p>
                      <a:pPr>
                        <a:buNone/>
                      </a:pPr>
                      <a:r>
                        <a:rPr lang="en-UG" sz="1200" dirty="0"/>
                        <a:t>0.</a:t>
                      </a:r>
                      <a:r>
                        <a:rPr lang="en-US" sz="1200" dirty="0"/>
                        <a:t>25</a:t>
                      </a:r>
                      <a:endParaRPr lang="en-UG" sz="1200" dirty="0"/>
                    </a:p>
                  </a:txBody>
                  <a:tcPr marL="44909" marR="44909" marT="22454" marB="22454" anchor="ctr"/>
                </a:tc>
                <a:extLst>
                  <a:ext uri="{0D108BD9-81ED-4DB2-BD59-A6C34878D82A}">
                    <a16:rowId xmlns:a16="http://schemas.microsoft.com/office/drawing/2014/main" val="560917721"/>
                  </a:ext>
                </a:extLst>
              </a:tr>
            </a:tbl>
          </a:graphicData>
        </a:graphic>
      </p:graphicFrame>
      <p:sp>
        <p:nvSpPr>
          <p:cNvPr id="14" name="TextBox 13">
            <a:extLst>
              <a:ext uri="{FF2B5EF4-FFF2-40B4-BE49-F238E27FC236}">
                <a16:creationId xmlns:a16="http://schemas.microsoft.com/office/drawing/2014/main" id="{2F2E5C4B-D96E-75D8-1AA4-25C7EE30D04A}"/>
              </a:ext>
            </a:extLst>
          </p:cNvPr>
          <p:cNvSpPr txBox="1"/>
          <p:nvPr/>
        </p:nvSpPr>
        <p:spPr>
          <a:xfrm>
            <a:off x="4177344" y="1320195"/>
            <a:ext cx="4677164" cy="523220"/>
          </a:xfrm>
          <a:prstGeom prst="rect">
            <a:avLst/>
          </a:prstGeom>
          <a:noFill/>
        </p:spPr>
        <p:txBody>
          <a:bodyPr wrap="square" rtlCol="0">
            <a:spAutoFit/>
          </a:bodyPr>
          <a:lstStyle/>
          <a:p>
            <a:r>
              <a:rPr lang="en-US" sz="1400" dirty="0"/>
              <a:t>Table 4: Classification Algorithms performance  (Hold-out   	     test (N=18,584))</a:t>
            </a:r>
            <a:endParaRPr lang="en-UG" sz="1400" dirty="0"/>
          </a:p>
        </p:txBody>
      </p:sp>
      <p:sp>
        <p:nvSpPr>
          <p:cNvPr id="15" name="TextBox 14">
            <a:extLst>
              <a:ext uri="{FF2B5EF4-FFF2-40B4-BE49-F238E27FC236}">
                <a16:creationId xmlns:a16="http://schemas.microsoft.com/office/drawing/2014/main" id="{0BD17DEC-4F63-E312-86DB-5553284B0265}"/>
              </a:ext>
            </a:extLst>
          </p:cNvPr>
          <p:cNvSpPr txBox="1"/>
          <p:nvPr/>
        </p:nvSpPr>
        <p:spPr>
          <a:xfrm>
            <a:off x="4177344" y="3062121"/>
            <a:ext cx="4574238" cy="3539430"/>
          </a:xfrm>
          <a:prstGeom prst="rect">
            <a:avLst/>
          </a:prstGeom>
          <a:noFill/>
        </p:spPr>
        <p:txBody>
          <a:bodyPr wrap="square" rtlCol="0">
            <a:spAutoFit/>
          </a:bodyPr>
          <a:lstStyle/>
          <a:p>
            <a:pPr algn="just"/>
            <a:r>
              <a:rPr lang="en-US" sz="1400" b="1" dirty="0"/>
              <a:t>Logistic Regression: </a:t>
            </a:r>
            <a:r>
              <a:rPr lang="en-US" sz="1400" dirty="0"/>
              <a:t>Captures 80% of the truest events, Raises only 18% False Alarms and it’s balance (F=29%) between catching cases and avoiding false positives</a:t>
            </a:r>
          </a:p>
          <a:p>
            <a:pPr algn="just"/>
            <a:r>
              <a:rPr lang="en-US" sz="1400" b="1" dirty="0"/>
              <a:t>Random Forest: </a:t>
            </a:r>
            <a:r>
              <a:rPr lang="en-US" sz="1400" dirty="0"/>
              <a:t>Captures 23% of the truest events, Raises only 19% False Alarms and it’s a balance (F=21%) between catching cases and avoiding false positives</a:t>
            </a:r>
          </a:p>
          <a:p>
            <a:pPr algn="just"/>
            <a:r>
              <a:rPr lang="en-US" sz="1400" b="1" dirty="0"/>
              <a:t>KNN(n=15): </a:t>
            </a:r>
            <a:r>
              <a:rPr lang="en-US" sz="1400" dirty="0"/>
              <a:t>Captures 65% of the truest events, Raises only 16% False Alarms and it’s a balance (F=25%) between catching cases and avoiding false positives</a:t>
            </a:r>
          </a:p>
          <a:p>
            <a:pPr algn="just"/>
            <a:endParaRPr lang="en-US" sz="1400" dirty="0"/>
          </a:p>
          <a:p>
            <a:pPr algn="just"/>
            <a:r>
              <a:rPr lang="en-US" sz="1400" dirty="0"/>
              <a:t>Therefore, with Logistic Regression being selected as the best model with a perfect balance that correctly identifies 8 out of 10 patients who will suffer a heart attack or stroke in the next 10 yrs hence an ideal clinical excellency for population-level screening and early risk detection in resource-limited settings like Uganda.</a:t>
            </a:r>
            <a:endParaRPr lang="en-UG" sz="1400" dirty="0"/>
          </a:p>
        </p:txBody>
      </p:sp>
    </p:spTree>
    <p:extLst>
      <p:ext uri="{BB962C8B-B14F-4D97-AF65-F5344CB8AC3E}">
        <p14:creationId xmlns:p14="http://schemas.microsoft.com/office/powerpoint/2010/main" val="3647070235"/>
      </p:ext>
    </p:extLst>
  </p:cSld>
  <p:clrMapOvr>
    <a:masterClrMapping/>
  </p:clrMapOvr>
  <p:transition spd="slow">
    <p:cover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p:cTn id="7" dur="1000" fill="hold"/>
                                        <p:tgtEl>
                                          <p:spTgt spid="9">
                                            <p:txEl>
                                              <p:pRg st="0" end="0"/>
                                            </p:txEl>
                                          </p:spTgt>
                                        </p:tgtEl>
                                        <p:attrNameLst>
                                          <p:attrName>ppt_w</p:attrName>
                                        </p:attrNameLst>
                                      </p:cBhvr>
                                      <p:tavLst>
                                        <p:tav tm="0">
                                          <p:val>
                                            <p:strVal val="#ppt_w+.3"/>
                                          </p:val>
                                        </p:tav>
                                        <p:tav tm="100000">
                                          <p:val>
                                            <p:strVal val="#ppt_w"/>
                                          </p:val>
                                        </p:tav>
                                      </p:tavLst>
                                    </p:anim>
                                    <p:anim calcmode="lin" valueType="num">
                                      <p:cBhvr>
                                        <p:cTn id="8" dur="1000" fill="hold"/>
                                        <p:tgtEl>
                                          <p:spTgt spid="9">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9">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9" fill="hold" grpId="0" nodeType="clickEffect">
                                  <p:stCondLst>
                                    <p:cond delay="0"/>
                                  </p:stCondLst>
                                  <p:childTnLst>
                                    <p:set>
                                      <p:cBhvr>
                                        <p:cTn id="13" dur="1" fill="hold">
                                          <p:stCondLst>
                                            <p:cond delay="0"/>
                                          </p:stCondLst>
                                        </p:cTn>
                                        <p:tgtEl>
                                          <p:spTgt spid="10">
                                            <p:txEl>
                                              <p:pRg st="0" end="0"/>
                                            </p:txEl>
                                          </p:spTgt>
                                        </p:tgtEl>
                                        <p:attrNameLst>
                                          <p:attrName>style.visibility</p:attrName>
                                        </p:attrNameLst>
                                      </p:cBhvr>
                                      <p:to>
                                        <p:strVal val="visible"/>
                                      </p:to>
                                    </p:set>
                                    <p:anim calcmode="lin" valueType="num">
                                      <p:cBhvr additive="base">
                                        <p:cTn id="14" dur="5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15" dur="500" fill="hold"/>
                                        <p:tgtEl>
                                          <p:spTgt spid="10">
                                            <p:txEl>
                                              <p:pRg st="0" end="0"/>
                                            </p:txEl>
                                          </p:spTgt>
                                        </p:tgtEl>
                                        <p:attrNameLst>
                                          <p:attrName>ppt_y</p:attrName>
                                        </p:attrNameLst>
                                      </p:cBhvr>
                                      <p:tavLst>
                                        <p:tav tm="0">
                                          <p:val>
                                            <p:strVal val="0-#ppt_h/2"/>
                                          </p:val>
                                        </p:tav>
                                        <p:tav tm="100000">
                                          <p:val>
                                            <p:strVal val="#ppt_y"/>
                                          </p:val>
                                        </p:tav>
                                      </p:tavLst>
                                    </p:anim>
                                  </p:childTnLst>
                                </p:cTn>
                              </p:par>
                              <p:par>
                                <p:cTn id="16" presetID="2" presetClass="entr" presetSubtype="9" fill="hold" grpId="0" nodeType="withEffect">
                                  <p:stCondLst>
                                    <p:cond delay="0"/>
                                  </p:stCondLst>
                                  <p:childTnLst>
                                    <p:set>
                                      <p:cBhvr>
                                        <p:cTn id="17" dur="1" fill="hold">
                                          <p:stCondLst>
                                            <p:cond delay="0"/>
                                          </p:stCondLst>
                                        </p:cTn>
                                        <p:tgtEl>
                                          <p:spTgt spid="10">
                                            <p:txEl>
                                              <p:pRg st="1" end="1"/>
                                            </p:txEl>
                                          </p:spTgt>
                                        </p:tgtEl>
                                        <p:attrNameLst>
                                          <p:attrName>style.visibility</p:attrName>
                                        </p:attrNameLst>
                                      </p:cBhvr>
                                      <p:to>
                                        <p:strVal val="visible"/>
                                      </p:to>
                                    </p:set>
                                    <p:anim calcmode="lin" valueType="num">
                                      <p:cBhvr additive="base">
                                        <p:cTn id="18" dur="500" fill="hold"/>
                                        <p:tgtEl>
                                          <p:spTgt spid="10">
                                            <p:txEl>
                                              <p:pRg st="1" end="1"/>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10">
                                            <p:txEl>
                                              <p:pRg st="1" end="1"/>
                                            </p:txEl>
                                          </p:spTgt>
                                        </p:tgtEl>
                                        <p:attrNameLst>
                                          <p:attrName>ppt_y</p:attrName>
                                        </p:attrNameLst>
                                      </p:cBhvr>
                                      <p:tavLst>
                                        <p:tav tm="0">
                                          <p:val>
                                            <p:strVal val="0-#ppt_h/2"/>
                                          </p:val>
                                        </p:tav>
                                        <p:tav tm="100000">
                                          <p:val>
                                            <p:strVal val="#ppt_y"/>
                                          </p:val>
                                        </p:tav>
                                      </p:tavLst>
                                    </p:anim>
                                  </p:childTnLst>
                                </p:cTn>
                              </p:par>
                              <p:par>
                                <p:cTn id="20" presetID="2" presetClass="entr" presetSubtype="9" fill="hold" grpId="0" nodeType="withEffect">
                                  <p:stCondLst>
                                    <p:cond delay="0"/>
                                  </p:stCondLst>
                                  <p:childTnLst>
                                    <p:set>
                                      <p:cBhvr>
                                        <p:cTn id="21" dur="1" fill="hold">
                                          <p:stCondLst>
                                            <p:cond delay="0"/>
                                          </p:stCondLst>
                                        </p:cTn>
                                        <p:tgtEl>
                                          <p:spTgt spid="10">
                                            <p:txEl>
                                              <p:pRg st="2" end="2"/>
                                            </p:txEl>
                                          </p:spTgt>
                                        </p:tgtEl>
                                        <p:attrNameLst>
                                          <p:attrName>style.visibility</p:attrName>
                                        </p:attrNameLst>
                                      </p:cBhvr>
                                      <p:to>
                                        <p:strVal val="visible"/>
                                      </p:to>
                                    </p:set>
                                    <p:anim calcmode="lin" valueType="num">
                                      <p:cBhvr additive="base">
                                        <p:cTn id="22" dur="500" fill="hold"/>
                                        <p:tgtEl>
                                          <p:spTgt spid="10">
                                            <p:txEl>
                                              <p:pRg st="2" end="2"/>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10">
                                            <p:txEl>
                                              <p:pRg st="2" end="2"/>
                                            </p:txEl>
                                          </p:spTgt>
                                        </p:tgtEl>
                                        <p:attrNameLst>
                                          <p:attrName>ppt_y</p:attrName>
                                        </p:attrNameLst>
                                      </p:cBhvr>
                                      <p:tavLst>
                                        <p:tav tm="0">
                                          <p:val>
                                            <p:strVal val="0-#ppt_h/2"/>
                                          </p:val>
                                        </p:tav>
                                        <p:tav tm="100000">
                                          <p:val>
                                            <p:strVal val="#ppt_y"/>
                                          </p:val>
                                        </p:tav>
                                      </p:tavLst>
                                    </p:anim>
                                  </p:childTnLst>
                                </p:cTn>
                              </p:par>
                              <p:par>
                                <p:cTn id="24" presetID="2" presetClass="entr" presetSubtype="9" fill="hold" grpId="0" nodeType="withEffect">
                                  <p:stCondLst>
                                    <p:cond delay="0"/>
                                  </p:stCondLst>
                                  <p:childTnLst>
                                    <p:set>
                                      <p:cBhvr>
                                        <p:cTn id="25" dur="1" fill="hold">
                                          <p:stCondLst>
                                            <p:cond delay="0"/>
                                          </p:stCondLst>
                                        </p:cTn>
                                        <p:tgtEl>
                                          <p:spTgt spid="10">
                                            <p:txEl>
                                              <p:pRg st="3" end="3"/>
                                            </p:txEl>
                                          </p:spTgt>
                                        </p:tgtEl>
                                        <p:attrNameLst>
                                          <p:attrName>style.visibility</p:attrName>
                                        </p:attrNameLst>
                                      </p:cBhvr>
                                      <p:to>
                                        <p:strVal val="visible"/>
                                      </p:to>
                                    </p:set>
                                    <p:anim calcmode="lin" valueType="num">
                                      <p:cBhvr additive="base">
                                        <p:cTn id="26" dur="500" fill="hold"/>
                                        <p:tgtEl>
                                          <p:spTgt spid="10">
                                            <p:txEl>
                                              <p:pRg st="3" end="3"/>
                                            </p:txEl>
                                          </p:spTgt>
                                        </p:tgtEl>
                                        <p:attrNameLst>
                                          <p:attrName>ppt_x</p:attrName>
                                        </p:attrNameLst>
                                      </p:cBhvr>
                                      <p:tavLst>
                                        <p:tav tm="0">
                                          <p:val>
                                            <p:strVal val="0-#ppt_w/2"/>
                                          </p:val>
                                        </p:tav>
                                        <p:tav tm="100000">
                                          <p:val>
                                            <p:strVal val="#ppt_x"/>
                                          </p:val>
                                        </p:tav>
                                      </p:tavLst>
                                    </p:anim>
                                    <p:anim calcmode="lin" valueType="num">
                                      <p:cBhvr additive="base">
                                        <p:cTn id="27" dur="500" fill="hold"/>
                                        <p:tgtEl>
                                          <p:spTgt spid="10">
                                            <p:txEl>
                                              <p:pRg st="3" end="3"/>
                                            </p:txEl>
                                          </p:spTgt>
                                        </p:tgtEl>
                                        <p:attrNameLst>
                                          <p:attrName>ppt_y</p:attrName>
                                        </p:attrNameLst>
                                      </p:cBhvr>
                                      <p:tavLst>
                                        <p:tav tm="0">
                                          <p:val>
                                            <p:strVal val="0-#ppt_h/2"/>
                                          </p:val>
                                        </p:tav>
                                        <p:tav tm="100000">
                                          <p:val>
                                            <p:strVal val="#ppt_y"/>
                                          </p:val>
                                        </p:tav>
                                      </p:tavLst>
                                    </p:anim>
                                  </p:childTnLst>
                                </p:cTn>
                              </p:par>
                              <p:par>
                                <p:cTn id="28" presetID="2" presetClass="entr" presetSubtype="9" fill="hold" grpId="0" nodeType="withEffect">
                                  <p:stCondLst>
                                    <p:cond delay="0"/>
                                  </p:stCondLst>
                                  <p:childTnLst>
                                    <p:set>
                                      <p:cBhvr>
                                        <p:cTn id="29" dur="1" fill="hold">
                                          <p:stCondLst>
                                            <p:cond delay="0"/>
                                          </p:stCondLst>
                                        </p:cTn>
                                        <p:tgtEl>
                                          <p:spTgt spid="10">
                                            <p:txEl>
                                              <p:pRg st="4" end="4"/>
                                            </p:txEl>
                                          </p:spTgt>
                                        </p:tgtEl>
                                        <p:attrNameLst>
                                          <p:attrName>style.visibility</p:attrName>
                                        </p:attrNameLst>
                                      </p:cBhvr>
                                      <p:to>
                                        <p:strVal val="visible"/>
                                      </p:to>
                                    </p:set>
                                    <p:anim calcmode="lin" valueType="num">
                                      <p:cBhvr additive="base">
                                        <p:cTn id="30" dur="500" fill="hold"/>
                                        <p:tgtEl>
                                          <p:spTgt spid="10">
                                            <p:txEl>
                                              <p:pRg st="4" end="4"/>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10">
                                            <p:txEl>
                                              <p:pRg st="4" end="4"/>
                                            </p:txEl>
                                          </p:spTgt>
                                        </p:tgtEl>
                                        <p:attrNameLst>
                                          <p:attrName>ppt_y</p:attrName>
                                        </p:attrNameLst>
                                      </p:cBhvr>
                                      <p:tavLst>
                                        <p:tav tm="0">
                                          <p:val>
                                            <p:strVal val="0-#ppt_h/2"/>
                                          </p:val>
                                        </p:tav>
                                        <p:tav tm="100000">
                                          <p:val>
                                            <p:strVal val="#ppt_y"/>
                                          </p:val>
                                        </p:tav>
                                      </p:tavLst>
                                    </p:anim>
                                  </p:childTnLst>
                                </p:cTn>
                              </p:par>
                              <p:par>
                                <p:cTn id="32" presetID="2" presetClass="entr" presetSubtype="9" fill="hold" grpId="0" nodeType="withEffect">
                                  <p:stCondLst>
                                    <p:cond delay="0"/>
                                  </p:stCondLst>
                                  <p:childTnLst>
                                    <p:set>
                                      <p:cBhvr>
                                        <p:cTn id="33" dur="1" fill="hold">
                                          <p:stCondLst>
                                            <p:cond delay="0"/>
                                          </p:stCondLst>
                                        </p:cTn>
                                        <p:tgtEl>
                                          <p:spTgt spid="10">
                                            <p:txEl>
                                              <p:pRg st="5" end="5"/>
                                            </p:txEl>
                                          </p:spTgt>
                                        </p:tgtEl>
                                        <p:attrNameLst>
                                          <p:attrName>style.visibility</p:attrName>
                                        </p:attrNameLst>
                                      </p:cBhvr>
                                      <p:to>
                                        <p:strVal val="visible"/>
                                      </p:to>
                                    </p:set>
                                    <p:anim calcmode="lin" valueType="num">
                                      <p:cBhvr additive="base">
                                        <p:cTn id="34" dur="500" fill="hold"/>
                                        <p:tgtEl>
                                          <p:spTgt spid="10">
                                            <p:txEl>
                                              <p:pRg st="5" end="5"/>
                                            </p:txEl>
                                          </p:spTgt>
                                        </p:tgtEl>
                                        <p:attrNameLst>
                                          <p:attrName>ppt_x</p:attrName>
                                        </p:attrNameLst>
                                      </p:cBhvr>
                                      <p:tavLst>
                                        <p:tav tm="0">
                                          <p:val>
                                            <p:strVal val="0-#ppt_w/2"/>
                                          </p:val>
                                        </p:tav>
                                        <p:tav tm="100000">
                                          <p:val>
                                            <p:strVal val="#ppt_x"/>
                                          </p:val>
                                        </p:tav>
                                      </p:tavLst>
                                    </p:anim>
                                    <p:anim calcmode="lin" valueType="num">
                                      <p:cBhvr additive="base">
                                        <p:cTn id="35" dur="500" fill="hold"/>
                                        <p:tgtEl>
                                          <p:spTgt spid="10">
                                            <p:txEl>
                                              <p:pRg st="5" end="5"/>
                                            </p:txEl>
                                          </p:spTgt>
                                        </p:tgtEl>
                                        <p:attrNameLst>
                                          <p:attrName>ppt_y</p:attrName>
                                        </p:attrNameLst>
                                      </p:cBhvr>
                                      <p:tavLst>
                                        <p:tav tm="0">
                                          <p:val>
                                            <p:strVal val="0-#ppt_h/2"/>
                                          </p:val>
                                        </p:tav>
                                        <p:tav tm="100000">
                                          <p:val>
                                            <p:strVal val="#ppt_y"/>
                                          </p:val>
                                        </p:tav>
                                      </p:tavLst>
                                    </p:anim>
                                  </p:childTnLst>
                                </p:cTn>
                              </p:par>
                              <p:par>
                                <p:cTn id="36" presetID="2" presetClass="entr" presetSubtype="9" fill="hold" grpId="0" nodeType="withEffect">
                                  <p:stCondLst>
                                    <p:cond delay="0"/>
                                  </p:stCondLst>
                                  <p:childTnLst>
                                    <p:set>
                                      <p:cBhvr>
                                        <p:cTn id="37" dur="1" fill="hold">
                                          <p:stCondLst>
                                            <p:cond delay="0"/>
                                          </p:stCondLst>
                                        </p:cTn>
                                        <p:tgtEl>
                                          <p:spTgt spid="10">
                                            <p:txEl>
                                              <p:pRg st="6" end="6"/>
                                            </p:txEl>
                                          </p:spTgt>
                                        </p:tgtEl>
                                        <p:attrNameLst>
                                          <p:attrName>style.visibility</p:attrName>
                                        </p:attrNameLst>
                                      </p:cBhvr>
                                      <p:to>
                                        <p:strVal val="visible"/>
                                      </p:to>
                                    </p:set>
                                    <p:anim calcmode="lin" valueType="num">
                                      <p:cBhvr additive="base">
                                        <p:cTn id="38" dur="500" fill="hold"/>
                                        <p:tgtEl>
                                          <p:spTgt spid="10">
                                            <p:txEl>
                                              <p:pRg st="6" end="6"/>
                                            </p:txEl>
                                          </p:spTgt>
                                        </p:tgtEl>
                                        <p:attrNameLst>
                                          <p:attrName>ppt_x</p:attrName>
                                        </p:attrNameLst>
                                      </p:cBhvr>
                                      <p:tavLst>
                                        <p:tav tm="0">
                                          <p:val>
                                            <p:strVal val="0-#ppt_w/2"/>
                                          </p:val>
                                        </p:tav>
                                        <p:tav tm="100000">
                                          <p:val>
                                            <p:strVal val="#ppt_x"/>
                                          </p:val>
                                        </p:tav>
                                      </p:tavLst>
                                    </p:anim>
                                    <p:anim calcmode="lin" valueType="num">
                                      <p:cBhvr additive="base">
                                        <p:cTn id="39" dur="500" fill="hold"/>
                                        <p:tgtEl>
                                          <p:spTgt spid="10">
                                            <p:txEl>
                                              <p:pRg st="6" end="6"/>
                                            </p:txEl>
                                          </p:spTgt>
                                        </p:tgtEl>
                                        <p:attrNameLst>
                                          <p:attrName>ppt_y</p:attrName>
                                        </p:attrNameLst>
                                      </p:cBhvr>
                                      <p:tavLst>
                                        <p:tav tm="0">
                                          <p:val>
                                            <p:strVal val="0-#ppt_h/2"/>
                                          </p:val>
                                        </p:tav>
                                        <p:tav tm="100000">
                                          <p:val>
                                            <p:strVal val="#ppt_y"/>
                                          </p:val>
                                        </p:tav>
                                      </p:tavLst>
                                    </p:anim>
                                  </p:childTnLst>
                                </p:cTn>
                              </p:par>
                              <p:par>
                                <p:cTn id="40" presetID="2" presetClass="entr" presetSubtype="9" fill="hold" grpId="0" nodeType="withEffect">
                                  <p:stCondLst>
                                    <p:cond delay="0"/>
                                  </p:stCondLst>
                                  <p:childTnLst>
                                    <p:set>
                                      <p:cBhvr>
                                        <p:cTn id="41" dur="1" fill="hold">
                                          <p:stCondLst>
                                            <p:cond delay="0"/>
                                          </p:stCondLst>
                                        </p:cTn>
                                        <p:tgtEl>
                                          <p:spTgt spid="10">
                                            <p:txEl>
                                              <p:pRg st="7" end="7"/>
                                            </p:txEl>
                                          </p:spTgt>
                                        </p:tgtEl>
                                        <p:attrNameLst>
                                          <p:attrName>style.visibility</p:attrName>
                                        </p:attrNameLst>
                                      </p:cBhvr>
                                      <p:to>
                                        <p:strVal val="visible"/>
                                      </p:to>
                                    </p:set>
                                    <p:anim calcmode="lin" valueType="num">
                                      <p:cBhvr additive="base">
                                        <p:cTn id="42" dur="500" fill="hold"/>
                                        <p:tgtEl>
                                          <p:spTgt spid="10">
                                            <p:txEl>
                                              <p:pRg st="7" end="7"/>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10">
                                            <p:txEl>
                                              <p:pRg st="7" end="7"/>
                                            </p:txEl>
                                          </p:spTgt>
                                        </p:tgtEl>
                                        <p:attrNameLst>
                                          <p:attrName>ppt_y</p:attrName>
                                        </p:attrNameLst>
                                      </p:cBhvr>
                                      <p:tavLst>
                                        <p:tav tm="0">
                                          <p:val>
                                            <p:strVal val="0-#ppt_h/2"/>
                                          </p:val>
                                        </p:tav>
                                        <p:tav tm="100000">
                                          <p:val>
                                            <p:strVal val="#ppt_y"/>
                                          </p:val>
                                        </p:tav>
                                      </p:tavLst>
                                    </p:anim>
                                  </p:childTnLst>
                                </p:cTn>
                              </p:par>
                              <p:par>
                                <p:cTn id="44" presetID="2" presetClass="entr" presetSubtype="9" fill="hold" grpId="0" nodeType="withEffect">
                                  <p:stCondLst>
                                    <p:cond delay="0"/>
                                  </p:stCondLst>
                                  <p:childTnLst>
                                    <p:set>
                                      <p:cBhvr>
                                        <p:cTn id="45" dur="1" fill="hold">
                                          <p:stCondLst>
                                            <p:cond delay="0"/>
                                          </p:stCondLst>
                                        </p:cTn>
                                        <p:tgtEl>
                                          <p:spTgt spid="10">
                                            <p:txEl>
                                              <p:pRg st="8" end="8"/>
                                            </p:txEl>
                                          </p:spTgt>
                                        </p:tgtEl>
                                        <p:attrNameLst>
                                          <p:attrName>style.visibility</p:attrName>
                                        </p:attrNameLst>
                                      </p:cBhvr>
                                      <p:to>
                                        <p:strVal val="visible"/>
                                      </p:to>
                                    </p:set>
                                    <p:anim calcmode="lin" valueType="num">
                                      <p:cBhvr additive="base">
                                        <p:cTn id="46" dur="500" fill="hold"/>
                                        <p:tgtEl>
                                          <p:spTgt spid="10">
                                            <p:txEl>
                                              <p:pRg st="8" end="8"/>
                                            </p:txEl>
                                          </p:spTgt>
                                        </p:tgtEl>
                                        <p:attrNameLst>
                                          <p:attrName>ppt_x</p:attrName>
                                        </p:attrNameLst>
                                      </p:cBhvr>
                                      <p:tavLst>
                                        <p:tav tm="0">
                                          <p:val>
                                            <p:strVal val="0-#ppt_w/2"/>
                                          </p:val>
                                        </p:tav>
                                        <p:tav tm="100000">
                                          <p:val>
                                            <p:strVal val="#ppt_x"/>
                                          </p:val>
                                        </p:tav>
                                      </p:tavLst>
                                    </p:anim>
                                    <p:anim calcmode="lin" valueType="num">
                                      <p:cBhvr additive="base">
                                        <p:cTn id="47" dur="500" fill="hold"/>
                                        <p:tgtEl>
                                          <p:spTgt spid="10">
                                            <p:txEl>
                                              <p:pRg st="8" end="8"/>
                                            </p:txEl>
                                          </p:spTgt>
                                        </p:tgtEl>
                                        <p:attrNameLst>
                                          <p:attrName>ppt_y</p:attrName>
                                        </p:attrNameLst>
                                      </p:cBhvr>
                                      <p:tavLst>
                                        <p:tav tm="0">
                                          <p:val>
                                            <p:strVal val="0-#ppt_h/2"/>
                                          </p:val>
                                        </p:tav>
                                        <p:tav tm="100000">
                                          <p:val>
                                            <p:strVal val="#ppt_y"/>
                                          </p:val>
                                        </p:tav>
                                      </p:tavLst>
                                    </p:anim>
                                  </p:childTnLst>
                                </p:cTn>
                              </p:par>
                              <p:par>
                                <p:cTn id="48" presetID="2" presetClass="entr" presetSubtype="9" fill="hold" grpId="0" nodeType="withEffect">
                                  <p:stCondLst>
                                    <p:cond delay="0"/>
                                  </p:stCondLst>
                                  <p:childTnLst>
                                    <p:set>
                                      <p:cBhvr>
                                        <p:cTn id="49" dur="1" fill="hold">
                                          <p:stCondLst>
                                            <p:cond delay="0"/>
                                          </p:stCondLst>
                                        </p:cTn>
                                        <p:tgtEl>
                                          <p:spTgt spid="10">
                                            <p:txEl>
                                              <p:pRg st="9" end="9"/>
                                            </p:txEl>
                                          </p:spTgt>
                                        </p:tgtEl>
                                        <p:attrNameLst>
                                          <p:attrName>style.visibility</p:attrName>
                                        </p:attrNameLst>
                                      </p:cBhvr>
                                      <p:to>
                                        <p:strVal val="visible"/>
                                      </p:to>
                                    </p:set>
                                    <p:anim calcmode="lin" valueType="num">
                                      <p:cBhvr additive="base">
                                        <p:cTn id="50" dur="500" fill="hold"/>
                                        <p:tgtEl>
                                          <p:spTgt spid="10">
                                            <p:txEl>
                                              <p:pRg st="9" end="9"/>
                                            </p:txEl>
                                          </p:spTgt>
                                        </p:tgtEl>
                                        <p:attrNameLst>
                                          <p:attrName>ppt_x</p:attrName>
                                        </p:attrNameLst>
                                      </p:cBhvr>
                                      <p:tavLst>
                                        <p:tav tm="0">
                                          <p:val>
                                            <p:strVal val="0-#ppt_w/2"/>
                                          </p:val>
                                        </p:tav>
                                        <p:tav tm="100000">
                                          <p:val>
                                            <p:strVal val="#ppt_x"/>
                                          </p:val>
                                        </p:tav>
                                      </p:tavLst>
                                    </p:anim>
                                    <p:anim calcmode="lin" valueType="num">
                                      <p:cBhvr additive="base">
                                        <p:cTn id="51" dur="500" fill="hold"/>
                                        <p:tgtEl>
                                          <p:spTgt spid="10">
                                            <p:txEl>
                                              <p:pRg st="9" end="9"/>
                                            </p:txEl>
                                          </p:spTgt>
                                        </p:tgtEl>
                                        <p:attrNameLst>
                                          <p:attrName>ppt_y</p:attrName>
                                        </p:attrNameLst>
                                      </p:cBhvr>
                                      <p:tavLst>
                                        <p:tav tm="0">
                                          <p:val>
                                            <p:strVal val="0-#ppt_h/2"/>
                                          </p:val>
                                        </p:tav>
                                        <p:tav tm="100000">
                                          <p:val>
                                            <p:strVal val="#ppt_y"/>
                                          </p:val>
                                        </p:tav>
                                      </p:tavLst>
                                    </p:anim>
                                  </p:childTnLst>
                                </p:cTn>
                              </p:par>
                              <p:par>
                                <p:cTn id="52" presetID="2" presetClass="entr" presetSubtype="9" fill="hold" grpId="0" nodeType="withEffect">
                                  <p:stCondLst>
                                    <p:cond delay="0"/>
                                  </p:stCondLst>
                                  <p:childTnLst>
                                    <p:set>
                                      <p:cBhvr>
                                        <p:cTn id="53" dur="1" fill="hold">
                                          <p:stCondLst>
                                            <p:cond delay="0"/>
                                          </p:stCondLst>
                                        </p:cTn>
                                        <p:tgtEl>
                                          <p:spTgt spid="10">
                                            <p:txEl>
                                              <p:pRg st="10" end="10"/>
                                            </p:txEl>
                                          </p:spTgt>
                                        </p:tgtEl>
                                        <p:attrNameLst>
                                          <p:attrName>style.visibility</p:attrName>
                                        </p:attrNameLst>
                                      </p:cBhvr>
                                      <p:to>
                                        <p:strVal val="visible"/>
                                      </p:to>
                                    </p:set>
                                    <p:anim calcmode="lin" valueType="num">
                                      <p:cBhvr additive="base">
                                        <p:cTn id="54" dur="500" fill="hold"/>
                                        <p:tgtEl>
                                          <p:spTgt spid="10">
                                            <p:txEl>
                                              <p:pRg st="10" end="10"/>
                                            </p:txEl>
                                          </p:spTgt>
                                        </p:tgtEl>
                                        <p:attrNameLst>
                                          <p:attrName>ppt_x</p:attrName>
                                        </p:attrNameLst>
                                      </p:cBhvr>
                                      <p:tavLst>
                                        <p:tav tm="0">
                                          <p:val>
                                            <p:strVal val="0-#ppt_w/2"/>
                                          </p:val>
                                        </p:tav>
                                        <p:tav tm="100000">
                                          <p:val>
                                            <p:strVal val="#ppt_x"/>
                                          </p:val>
                                        </p:tav>
                                      </p:tavLst>
                                    </p:anim>
                                    <p:anim calcmode="lin" valueType="num">
                                      <p:cBhvr additive="base">
                                        <p:cTn id="55" dur="500" fill="hold"/>
                                        <p:tgtEl>
                                          <p:spTgt spid="10">
                                            <p:txEl>
                                              <p:pRg st="10" end="10"/>
                                            </p:txEl>
                                          </p:spTgt>
                                        </p:tgtEl>
                                        <p:attrNameLst>
                                          <p:attrName>ppt_y</p:attrName>
                                        </p:attrNameLst>
                                      </p:cBhvr>
                                      <p:tavLst>
                                        <p:tav tm="0">
                                          <p:val>
                                            <p:strVal val="0-#ppt_h/2"/>
                                          </p:val>
                                        </p:tav>
                                        <p:tav tm="100000">
                                          <p:val>
                                            <p:strVal val="#ppt_y"/>
                                          </p:val>
                                        </p:tav>
                                      </p:tavLst>
                                    </p:anim>
                                  </p:childTnLst>
                                </p:cTn>
                              </p:par>
                              <p:par>
                                <p:cTn id="56" presetID="2" presetClass="entr" presetSubtype="9" fill="hold" grpId="0" nodeType="withEffect">
                                  <p:stCondLst>
                                    <p:cond delay="0"/>
                                  </p:stCondLst>
                                  <p:childTnLst>
                                    <p:set>
                                      <p:cBhvr>
                                        <p:cTn id="57" dur="1" fill="hold">
                                          <p:stCondLst>
                                            <p:cond delay="0"/>
                                          </p:stCondLst>
                                        </p:cTn>
                                        <p:tgtEl>
                                          <p:spTgt spid="10">
                                            <p:txEl>
                                              <p:pRg st="11" end="11"/>
                                            </p:txEl>
                                          </p:spTgt>
                                        </p:tgtEl>
                                        <p:attrNameLst>
                                          <p:attrName>style.visibility</p:attrName>
                                        </p:attrNameLst>
                                      </p:cBhvr>
                                      <p:to>
                                        <p:strVal val="visible"/>
                                      </p:to>
                                    </p:set>
                                    <p:anim calcmode="lin" valueType="num">
                                      <p:cBhvr additive="base">
                                        <p:cTn id="58" dur="500" fill="hold"/>
                                        <p:tgtEl>
                                          <p:spTgt spid="10">
                                            <p:txEl>
                                              <p:pRg st="11" end="11"/>
                                            </p:txEl>
                                          </p:spTgt>
                                        </p:tgtEl>
                                        <p:attrNameLst>
                                          <p:attrName>ppt_x</p:attrName>
                                        </p:attrNameLst>
                                      </p:cBhvr>
                                      <p:tavLst>
                                        <p:tav tm="0">
                                          <p:val>
                                            <p:strVal val="0-#ppt_w/2"/>
                                          </p:val>
                                        </p:tav>
                                        <p:tav tm="100000">
                                          <p:val>
                                            <p:strVal val="#ppt_x"/>
                                          </p:val>
                                        </p:tav>
                                      </p:tavLst>
                                    </p:anim>
                                    <p:anim calcmode="lin" valueType="num">
                                      <p:cBhvr additive="base">
                                        <p:cTn id="59" dur="500" fill="hold"/>
                                        <p:tgtEl>
                                          <p:spTgt spid="10">
                                            <p:txEl>
                                              <p:pRg st="11" end="11"/>
                                            </p:txEl>
                                          </p:spTgt>
                                        </p:tgtEl>
                                        <p:attrNameLst>
                                          <p:attrName>ppt_y</p:attrName>
                                        </p:attrNameLst>
                                      </p:cBhvr>
                                      <p:tavLst>
                                        <p:tav tm="0">
                                          <p:val>
                                            <p:strVal val="0-#ppt_h/2"/>
                                          </p:val>
                                        </p:tav>
                                        <p:tav tm="100000">
                                          <p:val>
                                            <p:strVal val="#ppt_y"/>
                                          </p:val>
                                        </p:tav>
                                      </p:tavLst>
                                    </p:anim>
                                  </p:childTnLst>
                                </p:cTn>
                              </p:par>
                              <p:par>
                                <p:cTn id="60" presetID="2" presetClass="entr" presetSubtype="9" fill="hold" grpId="0" nodeType="withEffect">
                                  <p:stCondLst>
                                    <p:cond delay="0"/>
                                  </p:stCondLst>
                                  <p:childTnLst>
                                    <p:set>
                                      <p:cBhvr>
                                        <p:cTn id="61" dur="1" fill="hold">
                                          <p:stCondLst>
                                            <p:cond delay="0"/>
                                          </p:stCondLst>
                                        </p:cTn>
                                        <p:tgtEl>
                                          <p:spTgt spid="10">
                                            <p:txEl>
                                              <p:pRg st="12" end="12"/>
                                            </p:txEl>
                                          </p:spTgt>
                                        </p:tgtEl>
                                        <p:attrNameLst>
                                          <p:attrName>style.visibility</p:attrName>
                                        </p:attrNameLst>
                                      </p:cBhvr>
                                      <p:to>
                                        <p:strVal val="visible"/>
                                      </p:to>
                                    </p:set>
                                    <p:anim calcmode="lin" valueType="num">
                                      <p:cBhvr additive="base">
                                        <p:cTn id="62" dur="500" fill="hold"/>
                                        <p:tgtEl>
                                          <p:spTgt spid="10">
                                            <p:txEl>
                                              <p:pRg st="12" end="12"/>
                                            </p:txEl>
                                          </p:spTgt>
                                        </p:tgtEl>
                                        <p:attrNameLst>
                                          <p:attrName>ppt_x</p:attrName>
                                        </p:attrNameLst>
                                      </p:cBhvr>
                                      <p:tavLst>
                                        <p:tav tm="0">
                                          <p:val>
                                            <p:strVal val="0-#ppt_w/2"/>
                                          </p:val>
                                        </p:tav>
                                        <p:tav tm="100000">
                                          <p:val>
                                            <p:strVal val="#ppt_x"/>
                                          </p:val>
                                        </p:tav>
                                      </p:tavLst>
                                    </p:anim>
                                    <p:anim calcmode="lin" valueType="num">
                                      <p:cBhvr additive="base">
                                        <p:cTn id="63" dur="500" fill="hold"/>
                                        <p:tgtEl>
                                          <p:spTgt spid="10">
                                            <p:txEl>
                                              <p:pRg st="12" end="12"/>
                                            </p:txEl>
                                          </p:spTgt>
                                        </p:tgtEl>
                                        <p:attrNameLst>
                                          <p:attrName>ppt_y</p:attrName>
                                        </p:attrNameLst>
                                      </p:cBhvr>
                                      <p:tavLst>
                                        <p:tav tm="0">
                                          <p:val>
                                            <p:strVal val="0-#ppt_h/2"/>
                                          </p:val>
                                        </p:tav>
                                        <p:tav tm="100000">
                                          <p:val>
                                            <p:strVal val="#ppt_y"/>
                                          </p:val>
                                        </p:tav>
                                      </p:tavLst>
                                    </p:anim>
                                  </p:childTnLst>
                                </p:cTn>
                              </p:par>
                              <p:par>
                                <p:cTn id="64" presetID="2" presetClass="entr" presetSubtype="9" fill="hold" grpId="0" nodeType="withEffect">
                                  <p:stCondLst>
                                    <p:cond delay="0"/>
                                  </p:stCondLst>
                                  <p:childTnLst>
                                    <p:set>
                                      <p:cBhvr>
                                        <p:cTn id="65" dur="1" fill="hold">
                                          <p:stCondLst>
                                            <p:cond delay="0"/>
                                          </p:stCondLst>
                                        </p:cTn>
                                        <p:tgtEl>
                                          <p:spTgt spid="10">
                                            <p:txEl>
                                              <p:pRg st="13" end="13"/>
                                            </p:txEl>
                                          </p:spTgt>
                                        </p:tgtEl>
                                        <p:attrNameLst>
                                          <p:attrName>style.visibility</p:attrName>
                                        </p:attrNameLst>
                                      </p:cBhvr>
                                      <p:to>
                                        <p:strVal val="visible"/>
                                      </p:to>
                                    </p:set>
                                    <p:anim calcmode="lin" valueType="num">
                                      <p:cBhvr additive="base">
                                        <p:cTn id="66" dur="500" fill="hold"/>
                                        <p:tgtEl>
                                          <p:spTgt spid="10">
                                            <p:txEl>
                                              <p:pRg st="13" end="13"/>
                                            </p:txEl>
                                          </p:spTgt>
                                        </p:tgtEl>
                                        <p:attrNameLst>
                                          <p:attrName>ppt_x</p:attrName>
                                        </p:attrNameLst>
                                      </p:cBhvr>
                                      <p:tavLst>
                                        <p:tav tm="0">
                                          <p:val>
                                            <p:strVal val="0-#ppt_w/2"/>
                                          </p:val>
                                        </p:tav>
                                        <p:tav tm="100000">
                                          <p:val>
                                            <p:strVal val="#ppt_x"/>
                                          </p:val>
                                        </p:tav>
                                      </p:tavLst>
                                    </p:anim>
                                    <p:anim calcmode="lin" valueType="num">
                                      <p:cBhvr additive="base">
                                        <p:cTn id="67" dur="500" fill="hold"/>
                                        <p:tgtEl>
                                          <p:spTgt spid="10">
                                            <p:txEl>
                                              <p:pRg st="13" end="13"/>
                                            </p:txEl>
                                          </p:spTgt>
                                        </p:tgtEl>
                                        <p:attrNameLst>
                                          <p:attrName>ppt_y</p:attrName>
                                        </p:attrNameLst>
                                      </p:cBhvr>
                                      <p:tavLst>
                                        <p:tav tm="0">
                                          <p:val>
                                            <p:strVal val="0-#ppt_h/2"/>
                                          </p:val>
                                        </p:tav>
                                        <p:tav tm="100000">
                                          <p:val>
                                            <p:strVal val="#ppt_y"/>
                                          </p:val>
                                        </p:tav>
                                      </p:tavLst>
                                    </p:anim>
                                  </p:childTnLst>
                                </p:cTn>
                              </p:par>
                              <p:par>
                                <p:cTn id="68" presetID="2" presetClass="entr" presetSubtype="9" fill="hold" grpId="0" nodeType="withEffect">
                                  <p:stCondLst>
                                    <p:cond delay="0"/>
                                  </p:stCondLst>
                                  <p:childTnLst>
                                    <p:set>
                                      <p:cBhvr>
                                        <p:cTn id="69" dur="1" fill="hold">
                                          <p:stCondLst>
                                            <p:cond delay="0"/>
                                          </p:stCondLst>
                                        </p:cTn>
                                        <p:tgtEl>
                                          <p:spTgt spid="10">
                                            <p:txEl>
                                              <p:pRg st="14" end="14"/>
                                            </p:txEl>
                                          </p:spTgt>
                                        </p:tgtEl>
                                        <p:attrNameLst>
                                          <p:attrName>style.visibility</p:attrName>
                                        </p:attrNameLst>
                                      </p:cBhvr>
                                      <p:to>
                                        <p:strVal val="visible"/>
                                      </p:to>
                                    </p:set>
                                    <p:anim calcmode="lin" valueType="num">
                                      <p:cBhvr additive="base">
                                        <p:cTn id="70" dur="500" fill="hold"/>
                                        <p:tgtEl>
                                          <p:spTgt spid="10">
                                            <p:txEl>
                                              <p:pRg st="14" end="14"/>
                                            </p:txEl>
                                          </p:spTgt>
                                        </p:tgtEl>
                                        <p:attrNameLst>
                                          <p:attrName>ppt_x</p:attrName>
                                        </p:attrNameLst>
                                      </p:cBhvr>
                                      <p:tavLst>
                                        <p:tav tm="0">
                                          <p:val>
                                            <p:strVal val="0-#ppt_w/2"/>
                                          </p:val>
                                        </p:tav>
                                        <p:tav tm="100000">
                                          <p:val>
                                            <p:strVal val="#ppt_x"/>
                                          </p:val>
                                        </p:tav>
                                      </p:tavLst>
                                    </p:anim>
                                    <p:anim calcmode="lin" valueType="num">
                                      <p:cBhvr additive="base">
                                        <p:cTn id="71" dur="500" fill="hold"/>
                                        <p:tgtEl>
                                          <p:spTgt spid="10">
                                            <p:txEl>
                                              <p:pRg st="14" end="14"/>
                                            </p:txEl>
                                          </p:spTgt>
                                        </p:tgtEl>
                                        <p:attrNameLst>
                                          <p:attrName>ppt_y</p:attrName>
                                        </p:attrNameLst>
                                      </p:cBhvr>
                                      <p:tavLst>
                                        <p:tav tm="0">
                                          <p:val>
                                            <p:strVal val="0-#ppt_h/2"/>
                                          </p:val>
                                        </p:tav>
                                        <p:tav tm="100000">
                                          <p:val>
                                            <p:strVal val="#ppt_y"/>
                                          </p:val>
                                        </p:tav>
                                      </p:tavLst>
                                    </p:anim>
                                  </p:childTnLst>
                                </p:cTn>
                              </p:par>
                              <p:par>
                                <p:cTn id="72" presetID="2" presetClass="entr" presetSubtype="9" fill="hold" grpId="0" nodeType="withEffect">
                                  <p:stCondLst>
                                    <p:cond delay="0"/>
                                  </p:stCondLst>
                                  <p:childTnLst>
                                    <p:set>
                                      <p:cBhvr>
                                        <p:cTn id="73" dur="1" fill="hold">
                                          <p:stCondLst>
                                            <p:cond delay="0"/>
                                          </p:stCondLst>
                                        </p:cTn>
                                        <p:tgtEl>
                                          <p:spTgt spid="10">
                                            <p:txEl>
                                              <p:pRg st="15" end="15"/>
                                            </p:txEl>
                                          </p:spTgt>
                                        </p:tgtEl>
                                        <p:attrNameLst>
                                          <p:attrName>style.visibility</p:attrName>
                                        </p:attrNameLst>
                                      </p:cBhvr>
                                      <p:to>
                                        <p:strVal val="visible"/>
                                      </p:to>
                                    </p:set>
                                    <p:anim calcmode="lin" valueType="num">
                                      <p:cBhvr additive="base">
                                        <p:cTn id="74" dur="500" fill="hold"/>
                                        <p:tgtEl>
                                          <p:spTgt spid="10">
                                            <p:txEl>
                                              <p:pRg st="15" end="15"/>
                                            </p:txEl>
                                          </p:spTgt>
                                        </p:tgtEl>
                                        <p:attrNameLst>
                                          <p:attrName>ppt_x</p:attrName>
                                        </p:attrNameLst>
                                      </p:cBhvr>
                                      <p:tavLst>
                                        <p:tav tm="0">
                                          <p:val>
                                            <p:strVal val="0-#ppt_w/2"/>
                                          </p:val>
                                        </p:tav>
                                        <p:tav tm="100000">
                                          <p:val>
                                            <p:strVal val="#ppt_x"/>
                                          </p:val>
                                        </p:tav>
                                      </p:tavLst>
                                    </p:anim>
                                    <p:anim calcmode="lin" valueType="num">
                                      <p:cBhvr additive="base">
                                        <p:cTn id="75" dur="500" fill="hold"/>
                                        <p:tgtEl>
                                          <p:spTgt spid="10">
                                            <p:txEl>
                                              <p:pRg st="15" end="15"/>
                                            </p:txEl>
                                          </p:spTgt>
                                        </p:tgtEl>
                                        <p:attrNameLst>
                                          <p:attrName>ppt_y</p:attrName>
                                        </p:attrNameLst>
                                      </p:cBhvr>
                                      <p:tavLst>
                                        <p:tav tm="0">
                                          <p:val>
                                            <p:strVal val="0-#ppt_h/2"/>
                                          </p:val>
                                        </p:tav>
                                        <p:tav tm="100000">
                                          <p:val>
                                            <p:strVal val="#ppt_y"/>
                                          </p:val>
                                        </p:tav>
                                      </p:tavLst>
                                    </p:anim>
                                  </p:childTnLst>
                                </p:cTn>
                              </p:par>
                              <p:par>
                                <p:cTn id="76" presetID="2" presetClass="entr" presetSubtype="9" fill="hold" grpId="0" nodeType="withEffect">
                                  <p:stCondLst>
                                    <p:cond delay="0"/>
                                  </p:stCondLst>
                                  <p:childTnLst>
                                    <p:set>
                                      <p:cBhvr>
                                        <p:cTn id="77" dur="1" fill="hold">
                                          <p:stCondLst>
                                            <p:cond delay="0"/>
                                          </p:stCondLst>
                                        </p:cTn>
                                        <p:tgtEl>
                                          <p:spTgt spid="10">
                                            <p:txEl>
                                              <p:pRg st="16" end="16"/>
                                            </p:txEl>
                                          </p:spTgt>
                                        </p:tgtEl>
                                        <p:attrNameLst>
                                          <p:attrName>style.visibility</p:attrName>
                                        </p:attrNameLst>
                                      </p:cBhvr>
                                      <p:to>
                                        <p:strVal val="visible"/>
                                      </p:to>
                                    </p:set>
                                    <p:anim calcmode="lin" valueType="num">
                                      <p:cBhvr additive="base">
                                        <p:cTn id="78" dur="500" fill="hold"/>
                                        <p:tgtEl>
                                          <p:spTgt spid="10">
                                            <p:txEl>
                                              <p:pRg st="16" end="16"/>
                                            </p:txEl>
                                          </p:spTgt>
                                        </p:tgtEl>
                                        <p:attrNameLst>
                                          <p:attrName>ppt_x</p:attrName>
                                        </p:attrNameLst>
                                      </p:cBhvr>
                                      <p:tavLst>
                                        <p:tav tm="0">
                                          <p:val>
                                            <p:strVal val="0-#ppt_w/2"/>
                                          </p:val>
                                        </p:tav>
                                        <p:tav tm="100000">
                                          <p:val>
                                            <p:strVal val="#ppt_x"/>
                                          </p:val>
                                        </p:tav>
                                      </p:tavLst>
                                    </p:anim>
                                    <p:anim calcmode="lin" valueType="num">
                                      <p:cBhvr additive="base">
                                        <p:cTn id="79" dur="500" fill="hold"/>
                                        <p:tgtEl>
                                          <p:spTgt spid="10">
                                            <p:txEl>
                                              <p:pRg st="16" end="16"/>
                                            </p:txEl>
                                          </p:spTgt>
                                        </p:tgtEl>
                                        <p:attrNameLst>
                                          <p:attrName>ppt_y</p:attrName>
                                        </p:attrNameLst>
                                      </p:cBhvr>
                                      <p:tavLst>
                                        <p:tav tm="0">
                                          <p:val>
                                            <p:strVal val="0-#ppt_h/2"/>
                                          </p:val>
                                        </p:tav>
                                        <p:tav tm="100000">
                                          <p:val>
                                            <p:strVal val="#ppt_y"/>
                                          </p:val>
                                        </p:tav>
                                      </p:tavLst>
                                    </p:anim>
                                  </p:childTnLst>
                                </p:cTn>
                              </p:par>
                              <p:par>
                                <p:cTn id="80" presetID="2" presetClass="entr" presetSubtype="9" fill="hold" grpId="0" nodeType="withEffect">
                                  <p:stCondLst>
                                    <p:cond delay="0"/>
                                  </p:stCondLst>
                                  <p:childTnLst>
                                    <p:set>
                                      <p:cBhvr>
                                        <p:cTn id="81" dur="1" fill="hold">
                                          <p:stCondLst>
                                            <p:cond delay="0"/>
                                          </p:stCondLst>
                                        </p:cTn>
                                        <p:tgtEl>
                                          <p:spTgt spid="10">
                                            <p:txEl>
                                              <p:pRg st="17" end="17"/>
                                            </p:txEl>
                                          </p:spTgt>
                                        </p:tgtEl>
                                        <p:attrNameLst>
                                          <p:attrName>style.visibility</p:attrName>
                                        </p:attrNameLst>
                                      </p:cBhvr>
                                      <p:to>
                                        <p:strVal val="visible"/>
                                      </p:to>
                                    </p:set>
                                    <p:anim calcmode="lin" valueType="num">
                                      <p:cBhvr additive="base">
                                        <p:cTn id="82" dur="500" fill="hold"/>
                                        <p:tgtEl>
                                          <p:spTgt spid="10">
                                            <p:txEl>
                                              <p:pRg st="17" end="17"/>
                                            </p:txEl>
                                          </p:spTgt>
                                        </p:tgtEl>
                                        <p:attrNameLst>
                                          <p:attrName>ppt_x</p:attrName>
                                        </p:attrNameLst>
                                      </p:cBhvr>
                                      <p:tavLst>
                                        <p:tav tm="0">
                                          <p:val>
                                            <p:strVal val="0-#ppt_w/2"/>
                                          </p:val>
                                        </p:tav>
                                        <p:tav tm="100000">
                                          <p:val>
                                            <p:strVal val="#ppt_x"/>
                                          </p:val>
                                        </p:tav>
                                      </p:tavLst>
                                    </p:anim>
                                    <p:anim calcmode="lin" valueType="num">
                                      <p:cBhvr additive="base">
                                        <p:cTn id="83" dur="500" fill="hold"/>
                                        <p:tgtEl>
                                          <p:spTgt spid="10">
                                            <p:txEl>
                                              <p:pRg st="17" end="17"/>
                                            </p:txEl>
                                          </p:spTgt>
                                        </p:tgtEl>
                                        <p:attrNameLst>
                                          <p:attrName>ppt_y</p:attrName>
                                        </p:attrNameLst>
                                      </p:cBhvr>
                                      <p:tavLst>
                                        <p:tav tm="0">
                                          <p:val>
                                            <p:strVal val="0-#ppt_h/2"/>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22" presetClass="entr" presetSubtype="2" fill="hold" grpId="0" nodeType="clickEffect">
                                  <p:stCondLst>
                                    <p:cond delay="0"/>
                                  </p:stCondLst>
                                  <p:childTnLst>
                                    <p:set>
                                      <p:cBhvr>
                                        <p:cTn id="91" dur="1" fill="hold">
                                          <p:stCondLst>
                                            <p:cond delay="0"/>
                                          </p:stCondLst>
                                        </p:cTn>
                                        <p:tgtEl>
                                          <p:spTgt spid="14"/>
                                        </p:tgtEl>
                                        <p:attrNameLst>
                                          <p:attrName>style.visibility</p:attrName>
                                        </p:attrNameLst>
                                      </p:cBhvr>
                                      <p:to>
                                        <p:strVal val="visible"/>
                                      </p:to>
                                    </p:set>
                                    <p:animEffect transition="in" filter="wipe(right)">
                                      <p:cBhvr>
                                        <p:cTn id="92" dur="500"/>
                                        <p:tgtEl>
                                          <p:spTgt spid="14"/>
                                        </p:tgtEl>
                                      </p:cBhvr>
                                    </p:animEffect>
                                  </p:childTnLst>
                                </p:cTn>
                              </p:par>
                              <p:par>
                                <p:cTn id="93" presetID="22" presetClass="entr" presetSubtype="2" fill="hold" nodeType="withEffect">
                                  <p:stCondLst>
                                    <p:cond delay="0"/>
                                  </p:stCondLst>
                                  <p:childTnLst>
                                    <p:set>
                                      <p:cBhvr>
                                        <p:cTn id="94" dur="1" fill="hold">
                                          <p:stCondLst>
                                            <p:cond delay="0"/>
                                          </p:stCondLst>
                                        </p:cTn>
                                        <p:tgtEl>
                                          <p:spTgt spid="13"/>
                                        </p:tgtEl>
                                        <p:attrNameLst>
                                          <p:attrName>style.visibility</p:attrName>
                                        </p:attrNameLst>
                                      </p:cBhvr>
                                      <p:to>
                                        <p:strVal val="visible"/>
                                      </p:to>
                                    </p:set>
                                    <p:animEffect transition="in" filter="wipe(right)">
                                      <p:cBhvr>
                                        <p:cTn id="95" dur="500"/>
                                        <p:tgtEl>
                                          <p:spTgt spid="13"/>
                                        </p:tgtEl>
                                      </p:cBhvr>
                                    </p:animEffect>
                                  </p:childTnLst>
                                </p:cTn>
                              </p:par>
                              <p:par>
                                <p:cTn id="96" presetID="22" presetClass="entr" presetSubtype="2" fill="hold" grpId="0" nodeType="withEffect">
                                  <p:stCondLst>
                                    <p:cond delay="0"/>
                                  </p:stCondLst>
                                  <p:childTnLst>
                                    <p:set>
                                      <p:cBhvr>
                                        <p:cTn id="97" dur="1" fill="hold">
                                          <p:stCondLst>
                                            <p:cond delay="0"/>
                                          </p:stCondLst>
                                        </p:cTn>
                                        <p:tgtEl>
                                          <p:spTgt spid="15"/>
                                        </p:tgtEl>
                                        <p:attrNameLst>
                                          <p:attrName>style.visibility</p:attrName>
                                        </p:attrNameLst>
                                      </p:cBhvr>
                                      <p:to>
                                        <p:strVal val="visible"/>
                                      </p:to>
                                    </p:set>
                                    <p:animEffect transition="in" filter="wipe(right)">
                                      <p:cBhvr>
                                        <p:cTn id="9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0" grpId="0" build="allAtOnce"/>
      <p:bldP spid="11" grpId="0" build="p"/>
      <p:bldP spid="14"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932495F0-C5CB-4823-AE70-EED61EBAB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396B65CE-4676-A893-89F0-3F6E3FAFC39F}"/>
              </a:ext>
            </a:extLst>
          </p:cNvPr>
          <p:cNvSpPr>
            <a:spLocks noGrp="1"/>
          </p:cNvSpPr>
          <p:nvPr>
            <p:ph type="title"/>
          </p:nvPr>
        </p:nvSpPr>
        <p:spPr>
          <a:xfrm>
            <a:off x="638387" y="1143000"/>
            <a:ext cx="3634740" cy="2898648"/>
          </a:xfrm>
        </p:spPr>
        <p:txBody>
          <a:bodyPr vert="horz" lIns="91440" tIns="45720" rIns="91440" bIns="45720" rtlCol="0" anchor="b">
            <a:normAutofit/>
          </a:bodyPr>
          <a:lstStyle/>
          <a:p>
            <a:pPr algn="l" defTabSz="914400">
              <a:lnSpc>
                <a:spcPct val="90000"/>
              </a:lnSpc>
            </a:pPr>
            <a:r>
              <a:rPr lang="en-US" sz="4700" dirty="0"/>
              <a:t>B: Machine learning Modelling</a:t>
            </a:r>
          </a:p>
        </p:txBody>
      </p:sp>
      <p:sp>
        <p:nvSpPr>
          <p:cNvPr id="23" name="TextBox 22">
            <a:extLst>
              <a:ext uri="{FF2B5EF4-FFF2-40B4-BE49-F238E27FC236}">
                <a16:creationId xmlns:a16="http://schemas.microsoft.com/office/drawing/2014/main" id="{81D53137-69ED-8250-7BCF-85817FF3D512}"/>
              </a:ext>
            </a:extLst>
          </p:cNvPr>
          <p:cNvSpPr txBox="1"/>
          <p:nvPr/>
        </p:nvSpPr>
        <p:spPr>
          <a:xfrm>
            <a:off x="638387" y="4407408"/>
            <a:ext cx="3634740" cy="1335024"/>
          </a:xfrm>
          <a:prstGeom prst="rect">
            <a:avLst/>
          </a:prstGeom>
        </p:spPr>
        <p:txBody>
          <a:bodyPr vert="horz" lIns="91440" tIns="45720" rIns="91440" bIns="45720" rtlCol="0">
            <a:normAutofit/>
          </a:bodyPr>
          <a:lstStyle/>
          <a:p>
            <a:pPr defTabSz="914400">
              <a:lnSpc>
                <a:spcPct val="90000"/>
              </a:lnSpc>
              <a:spcBef>
                <a:spcPts val="1000"/>
              </a:spcBef>
            </a:pPr>
            <a:r>
              <a:rPr lang="en-US" sz="2100" dirty="0"/>
              <a:t>WINNING MODEL- LOGISTIC REGRESSION</a:t>
            </a:r>
          </a:p>
        </p:txBody>
      </p:sp>
      <p:sp>
        <p:nvSpPr>
          <p:cNvPr id="30" name="Rectangle 29">
            <a:extLst>
              <a:ext uri="{FF2B5EF4-FFF2-40B4-BE49-F238E27FC236}">
                <a16:creationId xmlns:a16="http://schemas.microsoft.com/office/drawing/2014/main" id="{CB8B9C25-D80D-48EC-B83A-231219A80C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6894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2" name="Rectangle 31">
            <a:extLst>
              <a:ext uri="{FF2B5EF4-FFF2-40B4-BE49-F238E27FC236}">
                <a16:creationId xmlns:a16="http://schemas.microsoft.com/office/drawing/2014/main" id="{601CC70B-8875-45A1-8AFD-7D546E3C0C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422" y="4177748"/>
            <a:ext cx="361830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1" name="Content Placeholder 20">
            <a:extLst>
              <a:ext uri="{FF2B5EF4-FFF2-40B4-BE49-F238E27FC236}">
                <a16:creationId xmlns:a16="http://schemas.microsoft.com/office/drawing/2014/main" id="{BDD136F2-AB2F-91A6-4594-9703A0FCE672}"/>
              </a:ext>
            </a:extLst>
          </p:cNvPr>
          <p:cNvPicPr>
            <a:picLocks noGrp="1" noChangeAspect="1"/>
          </p:cNvPicPr>
          <p:nvPr>
            <p:ph sz="half" idx="1"/>
          </p:nvPr>
        </p:nvPicPr>
        <p:blipFill rotWithShape="1">
          <a:blip r:embed="rId2"/>
          <a:srcRect/>
          <a:stretch/>
        </p:blipFill>
        <p:spPr>
          <a:xfrm>
            <a:off x="4689263" y="625683"/>
            <a:ext cx="4038600" cy="2173358"/>
          </a:xfrm>
        </p:spPr>
      </p:pic>
      <p:pic>
        <p:nvPicPr>
          <p:cNvPr id="18" name="Content Placeholder 17">
            <a:extLst>
              <a:ext uri="{FF2B5EF4-FFF2-40B4-BE49-F238E27FC236}">
                <a16:creationId xmlns:a16="http://schemas.microsoft.com/office/drawing/2014/main" id="{7CEC629A-DB46-11C0-ECF5-4DE5AE15E001}"/>
              </a:ext>
            </a:extLst>
          </p:cNvPr>
          <p:cNvPicPr>
            <a:picLocks noGrp="1" noChangeAspect="1"/>
          </p:cNvPicPr>
          <p:nvPr>
            <p:ph sz="half" idx="2"/>
          </p:nvPr>
        </p:nvPicPr>
        <p:blipFill rotWithShape="1">
          <a:blip r:embed="rId3"/>
          <a:srcRect l="303" t="593"/>
          <a:stretch/>
        </p:blipFill>
        <p:spPr>
          <a:xfrm>
            <a:off x="4689263" y="2856121"/>
            <a:ext cx="4026324" cy="3063994"/>
          </a:xfrm>
        </p:spPr>
      </p:pic>
    </p:spTree>
    <p:extLst>
      <p:ext uri="{BB962C8B-B14F-4D97-AF65-F5344CB8AC3E}">
        <p14:creationId xmlns:p14="http://schemas.microsoft.com/office/powerpoint/2010/main" val="659930377"/>
      </p:ext>
    </p:extLst>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1+#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1000"/>
                                        <p:tgtEl>
                                          <p:spTgt spid="18"/>
                                        </p:tgtEl>
                                      </p:cBhvr>
                                    </p:animEffect>
                                    <p:anim calcmode="lin" valueType="num">
                                      <p:cBhvr>
                                        <p:cTn id="14" dur="1000" fill="hold"/>
                                        <p:tgtEl>
                                          <p:spTgt spid="18"/>
                                        </p:tgtEl>
                                        <p:attrNameLst>
                                          <p:attrName>ppt_x</p:attrName>
                                        </p:attrNameLst>
                                      </p:cBhvr>
                                      <p:tavLst>
                                        <p:tav tm="0">
                                          <p:val>
                                            <p:strVal val="#ppt_x"/>
                                          </p:val>
                                        </p:tav>
                                        <p:tav tm="100000">
                                          <p:val>
                                            <p:strVal val="#ppt_x"/>
                                          </p:val>
                                        </p:tav>
                                      </p:tavLst>
                                    </p:anim>
                                    <p:anim calcmode="lin" valueType="num">
                                      <p:cBhvr>
                                        <p:cTn id="15"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18438"/>
          </a:xfrm>
        </p:spPr>
        <p:txBody>
          <a:bodyPr/>
          <a:lstStyle/>
          <a:p>
            <a:r>
              <a:rPr lang="en-US" dirty="0"/>
              <a:t>C: </a:t>
            </a:r>
            <a:r>
              <a:rPr dirty="0"/>
              <a:t>Deep Learning Approach</a:t>
            </a:r>
          </a:p>
        </p:txBody>
      </p:sp>
      <p:sp>
        <p:nvSpPr>
          <p:cNvPr id="4" name="Text Placeholder 3">
            <a:extLst>
              <a:ext uri="{FF2B5EF4-FFF2-40B4-BE49-F238E27FC236}">
                <a16:creationId xmlns:a16="http://schemas.microsoft.com/office/drawing/2014/main" id="{45DA791C-B59A-0FCE-87B2-F0956539E32C}"/>
              </a:ext>
            </a:extLst>
          </p:cNvPr>
          <p:cNvSpPr>
            <a:spLocks noGrp="1"/>
          </p:cNvSpPr>
          <p:nvPr>
            <p:ph type="body" idx="1"/>
          </p:nvPr>
        </p:nvSpPr>
        <p:spPr>
          <a:xfrm>
            <a:off x="457200" y="1535113"/>
            <a:ext cx="4040188" cy="472363"/>
          </a:xfrm>
        </p:spPr>
        <p:txBody>
          <a:bodyPr>
            <a:normAutofit lnSpcReduction="10000"/>
          </a:bodyPr>
          <a:lstStyle/>
          <a:p>
            <a:r>
              <a:rPr lang="en-US" dirty="0"/>
              <a:t>Why Deep Learning?</a:t>
            </a:r>
            <a:endParaRPr lang="en-UG" dirty="0"/>
          </a:p>
        </p:txBody>
      </p:sp>
      <p:sp>
        <p:nvSpPr>
          <p:cNvPr id="5" name="Content Placeholder 4">
            <a:extLst>
              <a:ext uri="{FF2B5EF4-FFF2-40B4-BE49-F238E27FC236}">
                <a16:creationId xmlns:a16="http://schemas.microsoft.com/office/drawing/2014/main" id="{C64C134A-5BCB-F8E7-9158-6451B8A2853F}"/>
              </a:ext>
            </a:extLst>
          </p:cNvPr>
          <p:cNvSpPr>
            <a:spLocks noGrp="1"/>
          </p:cNvSpPr>
          <p:nvPr>
            <p:ph sz="half" idx="2"/>
          </p:nvPr>
        </p:nvSpPr>
        <p:spPr/>
        <p:txBody>
          <a:bodyPr>
            <a:normAutofit fontScale="92500" lnSpcReduction="10000"/>
          </a:bodyPr>
          <a:lstStyle/>
          <a:p>
            <a:pPr algn="just"/>
            <a:r>
              <a:rPr lang="en-US" sz="1600" dirty="0"/>
              <a:t>Learns </a:t>
            </a:r>
            <a:r>
              <a:rPr lang="en-US" sz="1600" b="1" dirty="0"/>
              <a:t>non-linear clinical interactions</a:t>
            </a:r>
            <a:endParaRPr lang="en-US" sz="1600" dirty="0"/>
          </a:p>
          <a:p>
            <a:pPr algn="just"/>
            <a:r>
              <a:rPr lang="en-US" sz="1600" dirty="0"/>
              <a:t>Captures relationships classical models may miss</a:t>
            </a:r>
          </a:p>
          <a:p>
            <a:pPr algn="just"/>
            <a:r>
              <a:rPr lang="en-US" sz="1600" dirty="0"/>
              <a:t>Automatically learns feature combinations</a:t>
            </a:r>
          </a:p>
          <a:p>
            <a:pPr marL="0" indent="0" algn="just">
              <a:buNone/>
            </a:pPr>
            <a:r>
              <a:rPr lang="en-US" sz="1600" b="1" dirty="0"/>
              <a:t>Models Built</a:t>
            </a:r>
          </a:p>
          <a:p>
            <a:pPr algn="just"/>
            <a:r>
              <a:rPr lang="en-US" sz="1600" dirty="0"/>
              <a:t>Baseline Neural Network</a:t>
            </a:r>
          </a:p>
          <a:p>
            <a:pPr algn="just"/>
            <a:r>
              <a:rPr lang="en-US" sz="1600" dirty="0"/>
              <a:t>Improved Neural Network </a:t>
            </a:r>
          </a:p>
          <a:p>
            <a:pPr marL="0" indent="0" algn="just">
              <a:buNone/>
            </a:pPr>
            <a:r>
              <a:rPr lang="en-US" sz="1600" b="1" dirty="0"/>
              <a:t>Deep_Learning_cvd_prediction steps taken </a:t>
            </a:r>
          </a:p>
          <a:p>
            <a:pPr algn="just">
              <a:buFont typeface="+mj-lt"/>
              <a:buAutoNum type="arabicParenR"/>
            </a:pPr>
            <a:r>
              <a:rPr lang="en-US" sz="1600" dirty="0"/>
              <a:t>Load &amp; Preprocess Data (same as classical)</a:t>
            </a:r>
          </a:p>
          <a:p>
            <a:pPr algn="just">
              <a:buFont typeface="+mj-lt"/>
              <a:buAutoNum type="arabicParenR"/>
            </a:pPr>
            <a:r>
              <a:rPr lang="en-US" sz="1600" dirty="0"/>
              <a:t>Train-Test Split</a:t>
            </a:r>
          </a:p>
          <a:p>
            <a:pPr algn="just">
              <a:buFont typeface="+mj-lt"/>
              <a:buAutoNum type="arabicParenR"/>
            </a:pPr>
            <a:r>
              <a:rPr lang="en-US" sz="1600" dirty="0"/>
              <a:t>Baseline Neural Network (Simple and quick)</a:t>
            </a:r>
          </a:p>
          <a:p>
            <a:pPr algn="just">
              <a:buFont typeface="+mj-lt"/>
              <a:buAutoNum type="arabicParenR"/>
            </a:pPr>
            <a:r>
              <a:rPr lang="en-US" sz="1600" dirty="0"/>
              <a:t>Evaluate Baseline (Get your reference score)</a:t>
            </a:r>
          </a:p>
          <a:p>
            <a:pPr algn="just">
              <a:buFont typeface="+mj-lt"/>
              <a:buAutoNum type="arabicParenR"/>
            </a:pPr>
            <a:r>
              <a:rPr lang="en-US" sz="1600" dirty="0"/>
              <a:t>Improved Neural Network (Deeper + Dropout + Callbacks)</a:t>
            </a:r>
          </a:p>
          <a:p>
            <a:pPr algn="just">
              <a:buFont typeface="+mj-lt"/>
              <a:buAutoNum type="arabicParenR"/>
            </a:pPr>
            <a:r>
              <a:rPr lang="en-US" sz="1600" dirty="0"/>
              <a:t>Final Evaluation &amp; Comparison</a:t>
            </a:r>
            <a:endParaRPr lang="en-UG" sz="1600" dirty="0"/>
          </a:p>
        </p:txBody>
      </p:sp>
      <p:sp>
        <p:nvSpPr>
          <p:cNvPr id="6" name="Text Placeholder 5">
            <a:extLst>
              <a:ext uri="{FF2B5EF4-FFF2-40B4-BE49-F238E27FC236}">
                <a16:creationId xmlns:a16="http://schemas.microsoft.com/office/drawing/2014/main" id="{3E9DDB6B-DBB0-EBA3-FB86-EC3CB3454258}"/>
              </a:ext>
            </a:extLst>
          </p:cNvPr>
          <p:cNvSpPr>
            <a:spLocks noGrp="1"/>
          </p:cNvSpPr>
          <p:nvPr>
            <p:ph type="body" sz="quarter" idx="3"/>
          </p:nvPr>
        </p:nvSpPr>
        <p:spPr/>
        <p:txBody>
          <a:bodyPr>
            <a:normAutofit lnSpcReduction="10000"/>
          </a:bodyPr>
          <a:lstStyle/>
          <a:p>
            <a:r>
              <a:rPr lang="en-US" sz="1800" dirty="0"/>
              <a:t>Baseline vs Evidence Based case scenario Comparison</a:t>
            </a:r>
            <a:endParaRPr lang="en-UG" sz="1800" dirty="0"/>
          </a:p>
        </p:txBody>
      </p:sp>
      <p:graphicFrame>
        <p:nvGraphicFramePr>
          <p:cNvPr id="8" name="Content Placeholder 7">
            <a:extLst>
              <a:ext uri="{FF2B5EF4-FFF2-40B4-BE49-F238E27FC236}">
                <a16:creationId xmlns:a16="http://schemas.microsoft.com/office/drawing/2014/main" id="{978636BC-982D-F2DB-B897-4BAA9908E360}"/>
              </a:ext>
            </a:extLst>
          </p:cNvPr>
          <p:cNvGraphicFramePr>
            <a:graphicFrameLocks noGrp="1"/>
          </p:cNvGraphicFramePr>
          <p:nvPr>
            <p:ph sz="quarter" idx="4"/>
            <p:extLst>
              <p:ext uri="{D42A27DB-BD31-4B8C-83A1-F6EECF244321}">
                <p14:modId xmlns:p14="http://schemas.microsoft.com/office/powerpoint/2010/main" val="2142037879"/>
              </p:ext>
            </p:extLst>
          </p:nvPr>
        </p:nvGraphicFramePr>
        <p:xfrm>
          <a:off x="4610100" y="2325979"/>
          <a:ext cx="4176000" cy="1683988"/>
        </p:xfrm>
        <a:graphic>
          <a:graphicData uri="http://schemas.openxmlformats.org/drawingml/2006/table">
            <a:tbl>
              <a:tblPr>
                <a:tableStyleId>{E8B1032C-EA38-4F05-BA0D-38AFFFC7BED3}</a:tableStyleId>
              </a:tblPr>
              <a:tblGrid>
                <a:gridCol w="1415850">
                  <a:extLst>
                    <a:ext uri="{9D8B030D-6E8A-4147-A177-3AD203B41FA5}">
                      <a16:colId xmlns:a16="http://schemas.microsoft.com/office/drawing/2014/main" val="1139350149"/>
                    </a:ext>
                  </a:extLst>
                </a:gridCol>
                <a:gridCol w="1380075">
                  <a:extLst>
                    <a:ext uri="{9D8B030D-6E8A-4147-A177-3AD203B41FA5}">
                      <a16:colId xmlns:a16="http://schemas.microsoft.com/office/drawing/2014/main" val="2698837162"/>
                    </a:ext>
                  </a:extLst>
                </a:gridCol>
                <a:gridCol w="1380075">
                  <a:extLst>
                    <a:ext uri="{9D8B030D-6E8A-4147-A177-3AD203B41FA5}">
                      <a16:colId xmlns:a16="http://schemas.microsoft.com/office/drawing/2014/main" val="214486014"/>
                    </a:ext>
                  </a:extLst>
                </a:gridCol>
              </a:tblGrid>
              <a:tr h="248939">
                <a:tc>
                  <a:txBody>
                    <a:bodyPr/>
                    <a:lstStyle/>
                    <a:p>
                      <a:pPr>
                        <a:buNone/>
                      </a:pPr>
                      <a:r>
                        <a:rPr lang="en-US" sz="1400" kern="1200" dirty="0">
                          <a:solidFill>
                            <a:schemeClr val="tx1"/>
                          </a:solidFill>
                        </a:rPr>
                        <a:t>Metric</a:t>
                      </a:r>
                      <a:endParaRPr lang="en-US" sz="1400" kern="1200" dirty="0">
                        <a:solidFill>
                          <a:schemeClr val="tx1"/>
                        </a:solidFill>
                        <a:latin typeface="+mn-lt"/>
                        <a:ea typeface="+mn-ea"/>
                        <a:cs typeface="+mn-cs"/>
                      </a:endParaRPr>
                    </a:p>
                  </a:txBody>
                  <a:tcPr marL="44909" marR="44909" marT="22454" marB="22454" anchor="ctr"/>
                </a:tc>
                <a:tc>
                  <a:txBody>
                    <a:bodyPr/>
                    <a:lstStyle/>
                    <a:p>
                      <a:pPr>
                        <a:buNone/>
                      </a:pPr>
                      <a:r>
                        <a:rPr lang="en-US" sz="1400" kern="1200" dirty="0">
                          <a:solidFill>
                            <a:schemeClr val="tx1"/>
                          </a:solidFill>
                        </a:rPr>
                        <a:t>Baseline NN</a:t>
                      </a:r>
                      <a:endParaRPr lang="en-US" sz="1400" kern="1200" dirty="0">
                        <a:solidFill>
                          <a:schemeClr val="tx1"/>
                        </a:solidFill>
                        <a:latin typeface="+mn-lt"/>
                        <a:ea typeface="+mn-ea"/>
                        <a:cs typeface="+mn-cs"/>
                      </a:endParaRPr>
                    </a:p>
                  </a:txBody>
                  <a:tcPr marL="44909" marR="44909" marT="22454" marB="22454" anchor="ctr"/>
                </a:tc>
                <a:tc>
                  <a:txBody>
                    <a:bodyPr/>
                    <a:lstStyle/>
                    <a:p>
                      <a:pPr>
                        <a:buNone/>
                      </a:pPr>
                      <a:r>
                        <a:rPr lang="en-US" sz="1400" kern="1200" dirty="0">
                          <a:solidFill>
                            <a:schemeClr val="tx1"/>
                          </a:solidFill>
                        </a:rPr>
                        <a:t>Improved NN</a:t>
                      </a:r>
                      <a:endParaRPr lang="en-US" sz="1400" kern="1200" dirty="0">
                        <a:solidFill>
                          <a:schemeClr val="tx1"/>
                        </a:solidFill>
                        <a:latin typeface="+mn-lt"/>
                        <a:ea typeface="+mn-ea"/>
                        <a:cs typeface="+mn-cs"/>
                      </a:endParaRPr>
                    </a:p>
                  </a:txBody>
                  <a:tcPr marL="44909" marR="44909" marT="22454" marB="22454" anchor="ctr"/>
                </a:tc>
                <a:extLst>
                  <a:ext uri="{0D108BD9-81ED-4DB2-BD59-A6C34878D82A}">
                    <a16:rowId xmlns:a16="http://schemas.microsoft.com/office/drawing/2014/main" val="80148826"/>
                  </a:ext>
                </a:extLst>
              </a:tr>
              <a:tr h="248939">
                <a:tc>
                  <a:txBody>
                    <a:bodyPr/>
                    <a:lstStyle/>
                    <a:p>
                      <a:pPr marL="0" algn="l" defTabSz="457200" rtl="0" eaLnBrk="1" latinLnBrk="0" hangingPunct="1">
                        <a:buNone/>
                      </a:pPr>
                      <a:r>
                        <a:rPr lang="en-US" sz="1400" kern="1200" dirty="0">
                          <a:solidFill>
                            <a:schemeClr val="tx1"/>
                          </a:solidFill>
                        </a:rPr>
                        <a:t>Precision (Event)</a:t>
                      </a:r>
                      <a:endParaRPr lang="en-US" sz="1400" kern="1200" dirty="0">
                        <a:solidFill>
                          <a:schemeClr val="tx1"/>
                        </a:solidFill>
                        <a:latin typeface="+mn-lt"/>
                        <a:ea typeface="+mn-ea"/>
                        <a:cs typeface="+mn-cs"/>
                      </a:endParaRPr>
                    </a:p>
                  </a:txBody>
                  <a:tcPr marL="44909" marR="44909" marT="22454" marB="22454" anchor="ctr"/>
                </a:tc>
                <a:tc>
                  <a:txBody>
                    <a:bodyPr/>
                    <a:lstStyle/>
                    <a:p>
                      <a:pPr>
                        <a:buNone/>
                      </a:pPr>
                      <a:r>
                        <a:rPr lang="en-UG" sz="1400" kern="1200" dirty="0">
                          <a:solidFill>
                            <a:schemeClr val="tx1"/>
                          </a:solidFill>
                        </a:rPr>
                        <a:t>0.08 </a:t>
                      </a:r>
                      <a:endParaRPr lang="en-UG" sz="1400" kern="1200" dirty="0">
                        <a:solidFill>
                          <a:schemeClr val="tx1"/>
                        </a:solidFill>
                        <a:latin typeface="+mn-lt"/>
                        <a:ea typeface="+mn-ea"/>
                        <a:cs typeface="+mn-cs"/>
                      </a:endParaRPr>
                    </a:p>
                  </a:txBody>
                  <a:tcPr marL="44909" marR="44909" marT="22454" marB="22454" anchor="ctr"/>
                </a:tc>
                <a:tc>
                  <a:txBody>
                    <a:bodyPr/>
                    <a:lstStyle/>
                    <a:p>
                      <a:pPr>
                        <a:buNone/>
                      </a:pPr>
                      <a:r>
                        <a:rPr lang="en-UG" sz="1400" kern="1200" dirty="0">
                          <a:solidFill>
                            <a:schemeClr val="tx1"/>
                          </a:solidFill>
                        </a:rPr>
                        <a:t>0.16</a:t>
                      </a:r>
                      <a:endParaRPr lang="en-UG" sz="1400" kern="1200" dirty="0">
                        <a:solidFill>
                          <a:schemeClr val="tx1"/>
                        </a:solidFill>
                        <a:latin typeface="+mn-lt"/>
                        <a:ea typeface="+mn-ea"/>
                        <a:cs typeface="+mn-cs"/>
                      </a:endParaRPr>
                    </a:p>
                  </a:txBody>
                  <a:tcPr marL="44909" marR="44909" marT="22454" marB="22454" anchor="ctr"/>
                </a:tc>
                <a:extLst>
                  <a:ext uri="{0D108BD9-81ED-4DB2-BD59-A6C34878D82A}">
                    <a16:rowId xmlns:a16="http://schemas.microsoft.com/office/drawing/2014/main" val="2816988711"/>
                  </a:ext>
                </a:extLst>
              </a:tr>
              <a:tr h="454592">
                <a:tc>
                  <a:txBody>
                    <a:bodyPr/>
                    <a:lstStyle/>
                    <a:p>
                      <a:pPr marL="0" algn="l" defTabSz="457200" rtl="0" eaLnBrk="1" latinLnBrk="0" hangingPunct="1">
                        <a:buNone/>
                      </a:pPr>
                      <a:r>
                        <a:rPr lang="en-US" sz="1400" kern="1200" dirty="0">
                          <a:solidFill>
                            <a:schemeClr val="tx1"/>
                          </a:solidFill>
                        </a:rPr>
                        <a:t>Recall (Event)</a:t>
                      </a:r>
                      <a:endParaRPr lang="en-US" sz="1400" kern="1200" dirty="0">
                        <a:solidFill>
                          <a:schemeClr val="tx1"/>
                        </a:solidFill>
                        <a:latin typeface="+mn-lt"/>
                        <a:ea typeface="+mn-ea"/>
                        <a:cs typeface="+mn-cs"/>
                      </a:endParaRPr>
                    </a:p>
                  </a:txBody>
                  <a:tcPr marL="44909" marR="44909" marT="22454" marB="22454"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G" sz="1400" kern="1200" dirty="0">
                          <a:solidFill>
                            <a:schemeClr val="tx1"/>
                          </a:solidFill>
                        </a:rPr>
                        <a:t>0.7</a:t>
                      </a:r>
                      <a:r>
                        <a:rPr lang="en-US" sz="1400" kern="1200" dirty="0">
                          <a:solidFill>
                            <a:schemeClr val="tx1"/>
                          </a:solidFill>
                        </a:rPr>
                        <a:t>8</a:t>
                      </a:r>
                      <a:endParaRPr lang="en-UG" sz="1400" kern="1200" dirty="0">
                        <a:solidFill>
                          <a:schemeClr val="tx1"/>
                        </a:solidFill>
                        <a:latin typeface="+mn-lt"/>
                        <a:ea typeface="+mn-ea"/>
                        <a:cs typeface="+mn-cs"/>
                      </a:endParaRPr>
                    </a:p>
                  </a:txBody>
                  <a:tcPr marL="44909" marR="44909" marT="22454" marB="22454" anchor="ctr"/>
                </a:tc>
                <a:tc>
                  <a:txBody>
                    <a:bodyPr/>
                    <a:lstStyle/>
                    <a:p>
                      <a:pPr>
                        <a:buNone/>
                      </a:pPr>
                      <a:r>
                        <a:rPr lang="en-UG" sz="1400" kern="1200" dirty="0">
                          <a:solidFill>
                            <a:schemeClr val="tx1"/>
                          </a:solidFill>
                        </a:rPr>
                        <a:t>0.7</a:t>
                      </a:r>
                      <a:r>
                        <a:rPr lang="en-US" sz="1400" kern="1200" dirty="0">
                          <a:solidFill>
                            <a:schemeClr val="tx1"/>
                          </a:solidFill>
                        </a:rPr>
                        <a:t>8</a:t>
                      </a:r>
                      <a:r>
                        <a:rPr lang="en-UG" sz="1400" kern="1200" dirty="0">
                          <a:solidFill>
                            <a:schemeClr val="tx1"/>
                          </a:solidFill>
                        </a:rPr>
                        <a:t> </a:t>
                      </a:r>
                      <a:endParaRPr lang="en-UG" sz="1400" kern="1200" dirty="0">
                        <a:solidFill>
                          <a:schemeClr val="tx1"/>
                        </a:solidFill>
                        <a:latin typeface="+mn-lt"/>
                        <a:ea typeface="+mn-ea"/>
                        <a:cs typeface="+mn-cs"/>
                      </a:endParaRPr>
                    </a:p>
                  </a:txBody>
                  <a:tcPr marL="44909" marR="44909" marT="22454" marB="22454" anchor="ctr"/>
                </a:tc>
                <a:extLst>
                  <a:ext uri="{0D108BD9-81ED-4DB2-BD59-A6C34878D82A}">
                    <a16:rowId xmlns:a16="http://schemas.microsoft.com/office/drawing/2014/main" val="66312860"/>
                  </a:ext>
                </a:extLst>
              </a:tr>
              <a:tr h="454592">
                <a:tc>
                  <a:txBody>
                    <a:bodyPr/>
                    <a:lstStyle/>
                    <a:p>
                      <a:pPr marL="0" algn="l" defTabSz="457200" rtl="0" eaLnBrk="1" latinLnBrk="0" hangingPunct="1">
                        <a:buNone/>
                      </a:pPr>
                      <a:r>
                        <a:rPr lang="en-US" sz="1400" kern="1200" dirty="0">
                          <a:solidFill>
                            <a:schemeClr val="tx1"/>
                          </a:solidFill>
                        </a:rPr>
                        <a:t>F1 Score (Event)</a:t>
                      </a:r>
                      <a:endParaRPr lang="en-US" sz="1400" kern="1200" dirty="0">
                        <a:solidFill>
                          <a:schemeClr val="tx1"/>
                        </a:solidFill>
                        <a:latin typeface="+mn-lt"/>
                        <a:ea typeface="+mn-ea"/>
                        <a:cs typeface="+mn-cs"/>
                      </a:endParaRPr>
                    </a:p>
                  </a:txBody>
                  <a:tcPr marL="44909" marR="44909" marT="22454" marB="22454"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G" sz="1400" kern="1200" dirty="0">
                          <a:solidFill>
                            <a:schemeClr val="tx1"/>
                          </a:solidFill>
                        </a:rPr>
                        <a:t>0.</a:t>
                      </a:r>
                      <a:r>
                        <a:rPr lang="en-US" sz="1400" kern="1200" dirty="0">
                          <a:solidFill>
                            <a:schemeClr val="tx1"/>
                          </a:solidFill>
                        </a:rPr>
                        <a:t>14</a:t>
                      </a:r>
                      <a:endParaRPr lang="en-UG" sz="1400" kern="1200" dirty="0">
                        <a:solidFill>
                          <a:schemeClr val="tx1"/>
                        </a:solidFill>
                        <a:latin typeface="+mn-lt"/>
                        <a:ea typeface="+mn-ea"/>
                        <a:cs typeface="+mn-cs"/>
                      </a:endParaRPr>
                    </a:p>
                  </a:txBody>
                  <a:tcPr marL="44909" marR="44909" marT="22454" marB="22454" anchor="ctr"/>
                </a:tc>
                <a:tc>
                  <a:txBody>
                    <a:bodyPr/>
                    <a:lstStyle/>
                    <a:p>
                      <a:pPr>
                        <a:buNone/>
                      </a:pPr>
                      <a:r>
                        <a:rPr lang="en-UG" sz="1400" kern="1200" dirty="0">
                          <a:solidFill>
                            <a:schemeClr val="tx1"/>
                          </a:solidFill>
                        </a:rPr>
                        <a:t>0.26</a:t>
                      </a:r>
                      <a:endParaRPr lang="en-UG" sz="1400" kern="1200" dirty="0">
                        <a:solidFill>
                          <a:schemeClr val="tx1"/>
                        </a:solidFill>
                        <a:latin typeface="+mn-lt"/>
                        <a:ea typeface="+mn-ea"/>
                        <a:cs typeface="+mn-cs"/>
                      </a:endParaRPr>
                    </a:p>
                  </a:txBody>
                  <a:tcPr marL="44909" marR="44909" marT="22454" marB="22454" anchor="ctr"/>
                </a:tc>
                <a:extLst>
                  <a:ext uri="{0D108BD9-81ED-4DB2-BD59-A6C34878D82A}">
                    <a16:rowId xmlns:a16="http://schemas.microsoft.com/office/drawing/2014/main" val="2556065654"/>
                  </a:ext>
                </a:extLst>
              </a:tr>
              <a:tr h="248939">
                <a:tc>
                  <a:txBody>
                    <a:bodyPr/>
                    <a:lstStyle/>
                    <a:p>
                      <a:pPr marL="0" algn="l" defTabSz="457200" rtl="0" eaLnBrk="1" latinLnBrk="0" hangingPunct="1">
                        <a:buNone/>
                      </a:pPr>
                      <a:r>
                        <a:rPr lang="en-US" sz="1400" kern="1200" dirty="0">
                          <a:solidFill>
                            <a:schemeClr val="tx1"/>
                          </a:solidFill>
                        </a:rPr>
                        <a:t>Accuracy</a:t>
                      </a:r>
                      <a:endParaRPr lang="en-US" sz="1400" kern="1200" dirty="0">
                        <a:solidFill>
                          <a:schemeClr val="tx1"/>
                        </a:solidFill>
                        <a:latin typeface="+mn-lt"/>
                        <a:ea typeface="+mn-ea"/>
                        <a:cs typeface="+mn-cs"/>
                      </a:endParaRPr>
                    </a:p>
                  </a:txBody>
                  <a:tcPr marL="44909" marR="44909" marT="22454" marB="22454" anchor="ctr"/>
                </a:tc>
                <a:tc>
                  <a:txBody>
                    <a:bodyPr/>
                    <a:lstStyle/>
                    <a:p>
                      <a:pPr>
                        <a:buNone/>
                      </a:pPr>
                      <a:r>
                        <a:rPr lang="en-US" sz="1400" kern="1200" dirty="0">
                          <a:solidFill>
                            <a:schemeClr val="tx1"/>
                          </a:solidFill>
                        </a:rPr>
                        <a:t>0.44</a:t>
                      </a:r>
                      <a:endParaRPr lang="en-UG" sz="1400" kern="1200" dirty="0">
                        <a:solidFill>
                          <a:schemeClr val="tx1"/>
                        </a:solidFill>
                        <a:latin typeface="+mn-lt"/>
                        <a:ea typeface="+mn-ea"/>
                        <a:cs typeface="+mn-cs"/>
                      </a:endParaRPr>
                    </a:p>
                  </a:txBody>
                  <a:tcPr marL="44909" marR="44909" marT="22454" marB="22454" anchor="ctr"/>
                </a:tc>
                <a:tc>
                  <a:txBody>
                    <a:bodyPr/>
                    <a:lstStyle/>
                    <a:p>
                      <a:pPr>
                        <a:buNone/>
                      </a:pPr>
                      <a:r>
                        <a:rPr lang="en-US" sz="1400" kern="1200" dirty="0">
                          <a:solidFill>
                            <a:schemeClr val="tx1"/>
                          </a:solidFill>
                        </a:rPr>
                        <a:t>73</a:t>
                      </a:r>
                      <a:endParaRPr lang="en-UG" sz="1400" kern="1200" dirty="0">
                        <a:solidFill>
                          <a:schemeClr val="tx1"/>
                        </a:solidFill>
                        <a:latin typeface="+mn-lt"/>
                        <a:ea typeface="+mn-ea"/>
                        <a:cs typeface="+mn-cs"/>
                      </a:endParaRPr>
                    </a:p>
                  </a:txBody>
                  <a:tcPr marL="44909" marR="44909" marT="22454" marB="22454" anchor="ctr"/>
                </a:tc>
                <a:extLst>
                  <a:ext uri="{0D108BD9-81ED-4DB2-BD59-A6C34878D82A}">
                    <a16:rowId xmlns:a16="http://schemas.microsoft.com/office/drawing/2014/main" val="750280956"/>
                  </a:ext>
                </a:extLst>
              </a:tr>
            </a:tbl>
          </a:graphicData>
        </a:graphic>
      </p:graphicFrame>
      <p:sp>
        <p:nvSpPr>
          <p:cNvPr id="3" name="TextBox 2">
            <a:extLst>
              <a:ext uri="{FF2B5EF4-FFF2-40B4-BE49-F238E27FC236}">
                <a16:creationId xmlns:a16="http://schemas.microsoft.com/office/drawing/2014/main" id="{C02E6531-E836-BDD9-17D2-FF936E5EDDF0}"/>
              </a:ext>
            </a:extLst>
          </p:cNvPr>
          <p:cNvSpPr txBox="1"/>
          <p:nvPr/>
        </p:nvSpPr>
        <p:spPr>
          <a:xfrm>
            <a:off x="4645025" y="4145280"/>
            <a:ext cx="4239895" cy="2031325"/>
          </a:xfrm>
          <a:prstGeom prst="rect">
            <a:avLst/>
          </a:prstGeom>
          <a:noFill/>
        </p:spPr>
        <p:txBody>
          <a:bodyPr wrap="square" rtlCol="0">
            <a:spAutoFit/>
          </a:bodyPr>
          <a:lstStyle/>
          <a:p>
            <a:pPr marL="285750" indent="-285750" algn="just">
              <a:buFont typeface="Arial" panose="020B0604020202020204" pitchFamily="34" charset="0"/>
              <a:buChar char="•"/>
            </a:pPr>
            <a:r>
              <a:rPr lang="en-US" sz="1400" dirty="0"/>
              <a:t>Recall remained decent (78%), but;</a:t>
            </a:r>
          </a:p>
          <a:p>
            <a:pPr marL="285750" indent="-285750" algn="just">
              <a:buFont typeface="Arial" panose="020B0604020202020204" pitchFamily="34" charset="0"/>
              <a:buChar char="•"/>
            </a:pPr>
            <a:r>
              <a:rPr lang="en-US" sz="1400" dirty="0"/>
              <a:t>Precision stayed extremely low (0.16 at best) and;</a:t>
            </a:r>
          </a:p>
          <a:p>
            <a:pPr marL="285750" indent="-285750" algn="just">
              <a:buFont typeface="Arial" panose="020B0604020202020204" pitchFamily="34" charset="0"/>
              <a:buChar char="•"/>
            </a:pPr>
            <a:r>
              <a:rPr lang="en-US" sz="1400" dirty="0"/>
              <a:t>F1-score reached only 0.26 (vs Random Forest 0.91)</a:t>
            </a:r>
          </a:p>
          <a:p>
            <a:pPr marL="285750" indent="-285750" algn="just">
              <a:buFont typeface="Arial" panose="020B0604020202020204" pitchFamily="34" charset="0"/>
              <a:buChar char="•"/>
            </a:pPr>
            <a:endParaRPr lang="en-US" sz="1400" dirty="0"/>
          </a:p>
          <a:p>
            <a:pPr algn="just"/>
            <a:r>
              <a:rPr lang="en-US" sz="1400" dirty="0"/>
              <a:t>Despite extensive tuning (increasing layers, neurons, early stopping, class weighting, focal loss, dropout, etc.), the neural network approach failed to outperform the Logistic Regression model on the critical minority-class metrics.</a:t>
            </a:r>
          </a:p>
        </p:txBody>
      </p:sp>
    </p:spTree>
  </p:cSld>
  <p:clrMapOvr>
    <a:masterClrMapping/>
  </p:clrMapOvr>
  <mc:AlternateContent xmlns:mc="http://schemas.openxmlformats.org/markup-compatibility/2006" xmlns:p14="http://schemas.microsoft.com/office/powerpoint/2010/main">
    <mc:Choice Requires="p14">
      <p:transition spd="slow" p14:dur="900">
        <p14:flythrough dir="out" hasBounce="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fade">
                                      <p:cBhvr>
                                        <p:cTn id="11" dur="1000"/>
                                        <p:tgtEl>
                                          <p:spTgt spid="5">
                                            <p:txEl>
                                              <p:pRg st="0" end="0"/>
                                            </p:txEl>
                                          </p:spTgt>
                                        </p:tgtEl>
                                      </p:cBhvr>
                                    </p:animEffect>
                                    <p:anim calcmode="lin" valueType="num">
                                      <p:cBhvr>
                                        <p:cTn id="12"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5">
                                            <p:txEl>
                                              <p:pRg st="1" end="1"/>
                                            </p:txEl>
                                          </p:spTgt>
                                        </p:tgtEl>
                                        <p:attrNameLst>
                                          <p:attrName>style.visibility</p:attrName>
                                        </p:attrNameLst>
                                      </p:cBhvr>
                                      <p:to>
                                        <p:strVal val="visible"/>
                                      </p:to>
                                    </p:set>
                                    <p:animEffect transition="in" filter="fade">
                                      <p:cBhvr>
                                        <p:cTn id="16" dur="1000"/>
                                        <p:tgtEl>
                                          <p:spTgt spid="5">
                                            <p:txEl>
                                              <p:pRg st="1" end="1"/>
                                            </p:txEl>
                                          </p:spTgt>
                                        </p:tgtEl>
                                      </p:cBhvr>
                                    </p:animEffect>
                                    <p:anim calcmode="lin" valueType="num">
                                      <p:cBhvr>
                                        <p:cTn id="17"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8"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1000"/>
                                        <p:tgtEl>
                                          <p:spTgt spid="5">
                                            <p:txEl>
                                              <p:pRg st="2" end="2"/>
                                            </p:txEl>
                                          </p:spTgt>
                                        </p:tgtEl>
                                      </p:cBhvr>
                                    </p:animEffect>
                                    <p:anim calcmode="lin" valueType="num">
                                      <p:cBhvr>
                                        <p:cTn id="2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5">
                                            <p:txEl>
                                              <p:pRg st="3" end="3"/>
                                            </p:txEl>
                                          </p:spTgt>
                                        </p:tgtEl>
                                        <p:attrNameLst>
                                          <p:attrName>style.visibility</p:attrName>
                                        </p:attrNameLst>
                                      </p:cBhvr>
                                      <p:to>
                                        <p:strVal val="visible"/>
                                      </p:to>
                                    </p:set>
                                    <p:animEffect transition="in" filter="fade">
                                      <p:cBhvr>
                                        <p:cTn id="26" dur="1000"/>
                                        <p:tgtEl>
                                          <p:spTgt spid="5">
                                            <p:txEl>
                                              <p:pRg st="3" end="3"/>
                                            </p:txEl>
                                          </p:spTgt>
                                        </p:tgtEl>
                                      </p:cBhvr>
                                    </p:animEffect>
                                    <p:anim calcmode="lin" valueType="num">
                                      <p:cBhvr>
                                        <p:cTn id="27"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Effect transition="in" filter="fade">
                                      <p:cBhvr>
                                        <p:cTn id="31" dur="1000"/>
                                        <p:tgtEl>
                                          <p:spTgt spid="5">
                                            <p:txEl>
                                              <p:pRg st="4" end="4"/>
                                            </p:txEl>
                                          </p:spTgt>
                                        </p:tgtEl>
                                      </p:cBhvr>
                                    </p:animEffect>
                                    <p:anim calcmode="lin" valueType="num">
                                      <p:cBhvr>
                                        <p:cTn id="32"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5">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5">
                                            <p:txEl>
                                              <p:pRg st="5" end="5"/>
                                            </p:txEl>
                                          </p:spTgt>
                                        </p:tgtEl>
                                        <p:attrNameLst>
                                          <p:attrName>style.visibility</p:attrName>
                                        </p:attrNameLst>
                                      </p:cBhvr>
                                      <p:to>
                                        <p:strVal val="visible"/>
                                      </p:to>
                                    </p:set>
                                    <p:animEffect transition="in" filter="fade">
                                      <p:cBhvr>
                                        <p:cTn id="36" dur="1000"/>
                                        <p:tgtEl>
                                          <p:spTgt spid="5">
                                            <p:txEl>
                                              <p:pRg st="5" end="5"/>
                                            </p:txEl>
                                          </p:spTgt>
                                        </p:tgtEl>
                                      </p:cBhvr>
                                    </p:animEffect>
                                    <p:anim calcmode="lin" valueType="num">
                                      <p:cBhvr>
                                        <p:cTn id="37"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5">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5">
                                            <p:txEl>
                                              <p:pRg st="6" end="6"/>
                                            </p:txEl>
                                          </p:spTgt>
                                        </p:tgtEl>
                                        <p:attrNameLst>
                                          <p:attrName>style.visibility</p:attrName>
                                        </p:attrNameLst>
                                      </p:cBhvr>
                                      <p:to>
                                        <p:strVal val="visible"/>
                                      </p:to>
                                    </p:set>
                                    <p:animEffect transition="in" filter="fade">
                                      <p:cBhvr>
                                        <p:cTn id="41" dur="1000"/>
                                        <p:tgtEl>
                                          <p:spTgt spid="5">
                                            <p:txEl>
                                              <p:pRg st="6" end="6"/>
                                            </p:txEl>
                                          </p:spTgt>
                                        </p:tgtEl>
                                      </p:cBhvr>
                                    </p:animEffect>
                                    <p:anim calcmode="lin" valueType="num">
                                      <p:cBhvr>
                                        <p:cTn id="42"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5">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5">
                                            <p:txEl>
                                              <p:pRg st="7" end="7"/>
                                            </p:txEl>
                                          </p:spTgt>
                                        </p:tgtEl>
                                        <p:attrNameLst>
                                          <p:attrName>style.visibility</p:attrName>
                                        </p:attrNameLst>
                                      </p:cBhvr>
                                      <p:to>
                                        <p:strVal val="visible"/>
                                      </p:to>
                                    </p:set>
                                    <p:animEffect transition="in" filter="fade">
                                      <p:cBhvr>
                                        <p:cTn id="46" dur="1000"/>
                                        <p:tgtEl>
                                          <p:spTgt spid="5">
                                            <p:txEl>
                                              <p:pRg st="7" end="7"/>
                                            </p:txEl>
                                          </p:spTgt>
                                        </p:tgtEl>
                                      </p:cBhvr>
                                    </p:animEffect>
                                    <p:anim calcmode="lin" valueType="num">
                                      <p:cBhvr>
                                        <p:cTn id="47"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5">
                                            <p:txEl>
                                              <p:pRg st="7" end="7"/>
                                            </p:txEl>
                                          </p:spTgt>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5">
                                            <p:txEl>
                                              <p:pRg st="8" end="8"/>
                                            </p:txEl>
                                          </p:spTgt>
                                        </p:tgtEl>
                                        <p:attrNameLst>
                                          <p:attrName>style.visibility</p:attrName>
                                        </p:attrNameLst>
                                      </p:cBhvr>
                                      <p:to>
                                        <p:strVal val="visible"/>
                                      </p:to>
                                    </p:set>
                                    <p:animEffect transition="in" filter="fade">
                                      <p:cBhvr>
                                        <p:cTn id="51" dur="1000"/>
                                        <p:tgtEl>
                                          <p:spTgt spid="5">
                                            <p:txEl>
                                              <p:pRg st="8" end="8"/>
                                            </p:txEl>
                                          </p:spTgt>
                                        </p:tgtEl>
                                      </p:cBhvr>
                                    </p:animEffect>
                                    <p:anim calcmode="lin" valueType="num">
                                      <p:cBhvr>
                                        <p:cTn id="52"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53" dur="1000" fill="hold"/>
                                        <p:tgtEl>
                                          <p:spTgt spid="5">
                                            <p:txEl>
                                              <p:pRg st="8" end="8"/>
                                            </p:txEl>
                                          </p:spTgt>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5">
                                            <p:txEl>
                                              <p:pRg st="9" end="9"/>
                                            </p:txEl>
                                          </p:spTgt>
                                        </p:tgtEl>
                                        <p:attrNameLst>
                                          <p:attrName>style.visibility</p:attrName>
                                        </p:attrNameLst>
                                      </p:cBhvr>
                                      <p:to>
                                        <p:strVal val="visible"/>
                                      </p:to>
                                    </p:set>
                                    <p:animEffect transition="in" filter="fade">
                                      <p:cBhvr>
                                        <p:cTn id="56" dur="1000"/>
                                        <p:tgtEl>
                                          <p:spTgt spid="5">
                                            <p:txEl>
                                              <p:pRg st="9" end="9"/>
                                            </p:txEl>
                                          </p:spTgt>
                                        </p:tgtEl>
                                      </p:cBhvr>
                                    </p:animEffect>
                                    <p:anim calcmode="lin" valueType="num">
                                      <p:cBhvr>
                                        <p:cTn id="57" dur="1000" fill="hold"/>
                                        <p:tgtEl>
                                          <p:spTgt spid="5">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5">
                                            <p:txEl>
                                              <p:pRg st="9" end="9"/>
                                            </p:txEl>
                                          </p:spTgt>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5">
                                            <p:txEl>
                                              <p:pRg st="10" end="10"/>
                                            </p:txEl>
                                          </p:spTgt>
                                        </p:tgtEl>
                                        <p:attrNameLst>
                                          <p:attrName>style.visibility</p:attrName>
                                        </p:attrNameLst>
                                      </p:cBhvr>
                                      <p:to>
                                        <p:strVal val="visible"/>
                                      </p:to>
                                    </p:set>
                                    <p:animEffect transition="in" filter="fade">
                                      <p:cBhvr>
                                        <p:cTn id="61" dur="1000"/>
                                        <p:tgtEl>
                                          <p:spTgt spid="5">
                                            <p:txEl>
                                              <p:pRg st="10" end="10"/>
                                            </p:txEl>
                                          </p:spTgt>
                                        </p:tgtEl>
                                      </p:cBhvr>
                                    </p:animEffect>
                                    <p:anim calcmode="lin" valueType="num">
                                      <p:cBhvr>
                                        <p:cTn id="62" dur="1000" fill="hold"/>
                                        <p:tgtEl>
                                          <p:spTgt spid="5">
                                            <p:txEl>
                                              <p:pRg st="10" end="10"/>
                                            </p:txEl>
                                          </p:spTgt>
                                        </p:tgtEl>
                                        <p:attrNameLst>
                                          <p:attrName>ppt_x</p:attrName>
                                        </p:attrNameLst>
                                      </p:cBhvr>
                                      <p:tavLst>
                                        <p:tav tm="0">
                                          <p:val>
                                            <p:strVal val="#ppt_x"/>
                                          </p:val>
                                        </p:tav>
                                        <p:tav tm="100000">
                                          <p:val>
                                            <p:strVal val="#ppt_x"/>
                                          </p:val>
                                        </p:tav>
                                      </p:tavLst>
                                    </p:anim>
                                    <p:anim calcmode="lin" valueType="num">
                                      <p:cBhvr>
                                        <p:cTn id="63" dur="1000" fill="hold"/>
                                        <p:tgtEl>
                                          <p:spTgt spid="5">
                                            <p:txEl>
                                              <p:pRg st="10" end="10"/>
                                            </p:txEl>
                                          </p:spTgt>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5">
                                            <p:txEl>
                                              <p:pRg st="11" end="11"/>
                                            </p:txEl>
                                          </p:spTgt>
                                        </p:tgtEl>
                                        <p:attrNameLst>
                                          <p:attrName>style.visibility</p:attrName>
                                        </p:attrNameLst>
                                      </p:cBhvr>
                                      <p:to>
                                        <p:strVal val="visible"/>
                                      </p:to>
                                    </p:set>
                                    <p:animEffect transition="in" filter="fade">
                                      <p:cBhvr>
                                        <p:cTn id="66" dur="1000"/>
                                        <p:tgtEl>
                                          <p:spTgt spid="5">
                                            <p:txEl>
                                              <p:pRg st="11" end="11"/>
                                            </p:txEl>
                                          </p:spTgt>
                                        </p:tgtEl>
                                      </p:cBhvr>
                                    </p:animEffect>
                                    <p:anim calcmode="lin" valueType="num">
                                      <p:cBhvr>
                                        <p:cTn id="67" dur="1000" fill="hold"/>
                                        <p:tgtEl>
                                          <p:spTgt spid="5">
                                            <p:txEl>
                                              <p:pRg st="11" end="11"/>
                                            </p:txEl>
                                          </p:spTgt>
                                        </p:tgtEl>
                                        <p:attrNameLst>
                                          <p:attrName>ppt_x</p:attrName>
                                        </p:attrNameLst>
                                      </p:cBhvr>
                                      <p:tavLst>
                                        <p:tav tm="0">
                                          <p:val>
                                            <p:strVal val="#ppt_x"/>
                                          </p:val>
                                        </p:tav>
                                        <p:tav tm="100000">
                                          <p:val>
                                            <p:strVal val="#ppt_x"/>
                                          </p:val>
                                        </p:tav>
                                      </p:tavLst>
                                    </p:anim>
                                    <p:anim calcmode="lin" valueType="num">
                                      <p:cBhvr>
                                        <p:cTn id="68" dur="1000" fill="hold"/>
                                        <p:tgtEl>
                                          <p:spTgt spid="5">
                                            <p:txEl>
                                              <p:pRg st="11" end="11"/>
                                            </p:txEl>
                                          </p:spTgt>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5">
                                            <p:txEl>
                                              <p:pRg st="12" end="12"/>
                                            </p:txEl>
                                          </p:spTgt>
                                        </p:tgtEl>
                                        <p:attrNameLst>
                                          <p:attrName>style.visibility</p:attrName>
                                        </p:attrNameLst>
                                      </p:cBhvr>
                                      <p:to>
                                        <p:strVal val="visible"/>
                                      </p:to>
                                    </p:set>
                                    <p:animEffect transition="in" filter="fade">
                                      <p:cBhvr>
                                        <p:cTn id="71" dur="1000"/>
                                        <p:tgtEl>
                                          <p:spTgt spid="5">
                                            <p:txEl>
                                              <p:pRg st="12" end="12"/>
                                            </p:txEl>
                                          </p:spTgt>
                                        </p:tgtEl>
                                      </p:cBhvr>
                                    </p:animEffect>
                                    <p:anim calcmode="lin" valueType="num">
                                      <p:cBhvr>
                                        <p:cTn id="72" dur="1000" fill="hold"/>
                                        <p:tgtEl>
                                          <p:spTgt spid="5">
                                            <p:txEl>
                                              <p:pRg st="12" end="12"/>
                                            </p:txEl>
                                          </p:spTgt>
                                        </p:tgtEl>
                                        <p:attrNameLst>
                                          <p:attrName>ppt_x</p:attrName>
                                        </p:attrNameLst>
                                      </p:cBhvr>
                                      <p:tavLst>
                                        <p:tav tm="0">
                                          <p:val>
                                            <p:strVal val="#ppt_x"/>
                                          </p:val>
                                        </p:tav>
                                        <p:tav tm="100000">
                                          <p:val>
                                            <p:strVal val="#ppt_x"/>
                                          </p:val>
                                        </p:tav>
                                      </p:tavLst>
                                    </p:anim>
                                    <p:anim calcmode="lin" valueType="num">
                                      <p:cBhvr>
                                        <p:cTn id="73" dur="1000" fill="hold"/>
                                        <p:tgtEl>
                                          <p:spTgt spid="5">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2" presetClass="entr" presetSubtype="2" fill="hold" nodeType="clickEffect">
                                  <p:stCondLst>
                                    <p:cond delay="0"/>
                                  </p:stCondLst>
                                  <p:childTnLst>
                                    <p:set>
                                      <p:cBhvr>
                                        <p:cTn id="81" dur="1" fill="hold">
                                          <p:stCondLst>
                                            <p:cond delay="0"/>
                                          </p:stCondLst>
                                        </p:cTn>
                                        <p:tgtEl>
                                          <p:spTgt spid="8"/>
                                        </p:tgtEl>
                                        <p:attrNameLst>
                                          <p:attrName>style.visibility</p:attrName>
                                        </p:attrNameLst>
                                      </p:cBhvr>
                                      <p:to>
                                        <p:strVal val="visible"/>
                                      </p:to>
                                    </p:set>
                                    <p:anim calcmode="lin" valueType="num">
                                      <p:cBhvr additive="base">
                                        <p:cTn id="82" dur="500" fill="hold"/>
                                        <p:tgtEl>
                                          <p:spTgt spid="8"/>
                                        </p:tgtEl>
                                        <p:attrNameLst>
                                          <p:attrName>ppt_x</p:attrName>
                                        </p:attrNameLst>
                                      </p:cBhvr>
                                      <p:tavLst>
                                        <p:tav tm="0">
                                          <p:val>
                                            <p:strVal val="1+#ppt_w/2"/>
                                          </p:val>
                                        </p:tav>
                                        <p:tav tm="100000">
                                          <p:val>
                                            <p:strVal val="#ppt_x"/>
                                          </p:val>
                                        </p:tav>
                                      </p:tavLst>
                                    </p:anim>
                                    <p:anim calcmode="lin" valueType="num">
                                      <p:cBhvr additive="base">
                                        <p:cTn id="83" dur="500" fill="hold"/>
                                        <p:tgtEl>
                                          <p:spTgt spid="8"/>
                                        </p:tgtEl>
                                        <p:attrNameLst>
                                          <p:attrName>ppt_y</p:attrName>
                                        </p:attrNameLst>
                                      </p:cBhvr>
                                      <p:tavLst>
                                        <p:tav tm="0">
                                          <p:val>
                                            <p:strVal val="#ppt_y"/>
                                          </p:val>
                                        </p:tav>
                                        <p:tav tm="100000">
                                          <p:val>
                                            <p:strVal val="#ppt_y"/>
                                          </p:val>
                                        </p:tav>
                                      </p:tavLst>
                                    </p:anim>
                                  </p:childTnLst>
                                </p:cTn>
                              </p:par>
                              <p:par>
                                <p:cTn id="84" presetID="2" presetClass="entr" presetSubtype="2" fill="hold" grpId="0" nodeType="withEffect">
                                  <p:stCondLst>
                                    <p:cond delay="0"/>
                                  </p:stCondLst>
                                  <p:childTnLst>
                                    <p:set>
                                      <p:cBhvr>
                                        <p:cTn id="85" dur="1" fill="hold">
                                          <p:stCondLst>
                                            <p:cond delay="0"/>
                                          </p:stCondLst>
                                        </p:cTn>
                                        <p:tgtEl>
                                          <p:spTgt spid="3"/>
                                        </p:tgtEl>
                                        <p:attrNameLst>
                                          <p:attrName>style.visibility</p:attrName>
                                        </p:attrNameLst>
                                      </p:cBhvr>
                                      <p:to>
                                        <p:strVal val="visible"/>
                                      </p:to>
                                    </p:set>
                                    <p:anim calcmode="lin" valueType="num">
                                      <p:cBhvr additive="base">
                                        <p:cTn id="86" dur="500" fill="hold"/>
                                        <p:tgtEl>
                                          <p:spTgt spid="3"/>
                                        </p:tgtEl>
                                        <p:attrNameLst>
                                          <p:attrName>ppt_x</p:attrName>
                                        </p:attrNameLst>
                                      </p:cBhvr>
                                      <p:tavLst>
                                        <p:tav tm="0">
                                          <p:val>
                                            <p:strVal val="1+#ppt_w/2"/>
                                          </p:val>
                                        </p:tav>
                                        <p:tav tm="100000">
                                          <p:val>
                                            <p:strVal val="#ppt_x"/>
                                          </p:val>
                                        </p:tav>
                                      </p:tavLst>
                                    </p:anim>
                                    <p:anim calcmode="lin" valueType="num">
                                      <p:cBhvr additive="base">
                                        <p:cTn id="87"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allAtOnce"/>
      <p:bldP spid="6" grpId="0" build="p"/>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C45BB4-9B6A-D7DA-AF2D-C96435EC3E38}"/>
              </a:ext>
            </a:extLst>
          </p:cNvPr>
          <p:cNvSpPr>
            <a:spLocks noGrp="1"/>
          </p:cNvSpPr>
          <p:nvPr>
            <p:ph type="title"/>
          </p:nvPr>
        </p:nvSpPr>
        <p:spPr>
          <a:xfrm>
            <a:off x="630936" y="426720"/>
            <a:ext cx="7879842" cy="1919141"/>
          </a:xfrm>
        </p:spPr>
        <p:txBody>
          <a:bodyPr anchor="b">
            <a:normAutofit/>
          </a:bodyPr>
          <a:lstStyle/>
          <a:p>
            <a:r>
              <a:rPr lang="en-US" sz="5200"/>
              <a:t>D: Model Deployment</a:t>
            </a:r>
            <a:endParaRPr lang="en-UG" sz="5200"/>
          </a:p>
        </p:txBody>
      </p:sp>
      <p:sp>
        <p:nvSpPr>
          <p:cNvPr id="10" name="Rectangle 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2899927"/>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2776031"/>
            <a:ext cx="1405092"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08A918A7-2678-AD38-61D2-FF99A4909F5D}"/>
              </a:ext>
            </a:extLst>
          </p:cNvPr>
          <p:cNvSpPr>
            <a:spLocks noGrp="1"/>
          </p:cNvSpPr>
          <p:nvPr>
            <p:ph idx="1"/>
          </p:nvPr>
        </p:nvSpPr>
        <p:spPr>
          <a:xfrm>
            <a:off x="630936" y="3337269"/>
            <a:ext cx="7882128" cy="2905686"/>
          </a:xfrm>
        </p:spPr>
        <p:txBody>
          <a:bodyPr>
            <a:normAutofit/>
          </a:bodyPr>
          <a:lstStyle/>
          <a:p>
            <a:pPr marL="0" indent="0">
              <a:buNone/>
            </a:pPr>
            <a:r>
              <a:rPr lang="en-US" sz="1900" b="1"/>
              <a:t>Deployment Details</a:t>
            </a:r>
            <a:endParaRPr lang="en-US" sz="1900"/>
          </a:p>
          <a:p>
            <a:r>
              <a:rPr lang="en-US" sz="1900"/>
              <a:t>Framework: </a:t>
            </a:r>
            <a:r>
              <a:rPr lang="en-US" sz="1900" b="1"/>
              <a:t>Streamlit</a:t>
            </a:r>
            <a:r>
              <a:rPr lang="en-US" sz="1900"/>
              <a:t> (Python)</a:t>
            </a:r>
          </a:p>
          <a:p>
            <a:endParaRPr lang="en-US" sz="1900"/>
          </a:p>
          <a:p>
            <a:pPr marL="0" indent="0">
              <a:buNone/>
            </a:pPr>
            <a:r>
              <a:rPr lang="en-US" sz="1900" b="1"/>
              <a:t>Live Web Application</a:t>
            </a:r>
            <a:r>
              <a:rPr lang="en-US" sz="1900"/>
              <a:t> </a:t>
            </a:r>
            <a:r>
              <a:rPr lang="en-US" sz="1900" b="1"/>
              <a:t>URL:</a:t>
            </a:r>
            <a:r>
              <a:rPr lang="en-US" sz="1900"/>
              <a:t> </a:t>
            </a:r>
          </a:p>
          <a:p>
            <a:r>
              <a:rPr lang="en-US" sz="1900"/>
              <a:t> Local URL: </a:t>
            </a:r>
            <a:r>
              <a:rPr lang="en-US" sz="1900">
                <a:hlinkClick r:id="rId2"/>
              </a:rPr>
              <a:t>http://localhost:8501</a:t>
            </a:r>
            <a:endParaRPr lang="en-US" sz="1900"/>
          </a:p>
          <a:p>
            <a:r>
              <a:rPr lang="en-US" sz="1900"/>
              <a:t>Network URL: </a:t>
            </a:r>
            <a:r>
              <a:rPr lang="en-US" sz="1900">
                <a:hlinkClick r:id="rId3"/>
              </a:rPr>
              <a:t>http://192.168.137.169:8501</a:t>
            </a:r>
            <a:endParaRPr lang="en-US" sz="1900"/>
          </a:p>
          <a:p>
            <a:endParaRPr lang="en-UG" sz="1900"/>
          </a:p>
        </p:txBody>
      </p:sp>
    </p:spTree>
    <p:extLst>
      <p:ext uri="{BB962C8B-B14F-4D97-AF65-F5344CB8AC3E}">
        <p14:creationId xmlns:p14="http://schemas.microsoft.com/office/powerpoint/2010/main" val="627479876"/>
      </p:ext>
    </p:extLst>
  </p:cSld>
  <p:clrMapOvr>
    <a:masterClrMapping/>
  </p:clrMapOvr>
  <mc:AlternateContent xmlns:mc="http://schemas.openxmlformats.org/markup-compatibility/2006" xmlns:p14="http://schemas.microsoft.com/office/powerpoint/2010/main">
    <mc:Choice Requires="p14">
      <p:transition spd="slow" p14:dur="1200">
        <p:zoom dir="in"/>
      </p:transition>
    </mc:Choice>
    <mc:Fallback xmlns="">
      <p:transition spd="slow">
        <p:zoom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CFC599-3CB8-4887-BDF9-DC64A4E59C54}"/>
              </a:ext>
            </a:extLst>
          </p:cNvPr>
          <p:cNvSpPr>
            <a:spLocks noGrp="1"/>
          </p:cNvSpPr>
          <p:nvPr>
            <p:ph type="title"/>
          </p:nvPr>
        </p:nvSpPr>
        <p:spPr>
          <a:xfrm>
            <a:off x="200025" y="2417762"/>
            <a:ext cx="8229600" cy="2192337"/>
          </a:xfrm>
        </p:spPr>
        <p:txBody>
          <a:bodyPr>
            <a:normAutofit/>
          </a:bodyPr>
          <a:lstStyle/>
          <a:p>
            <a:r>
              <a:rPr lang="en-US" sz="9600" dirty="0">
                <a:solidFill>
                  <a:srgbClr val="7030A0"/>
                </a:solidFill>
              </a:rPr>
              <a:t>A</a:t>
            </a:r>
            <a:r>
              <a:rPr lang="en-US" sz="9600" dirty="0"/>
              <a:t>N</a:t>
            </a:r>
            <a:r>
              <a:rPr lang="en-US" sz="9600" dirty="0">
                <a:solidFill>
                  <a:schemeClr val="accent2">
                    <a:lumMod val="75000"/>
                  </a:schemeClr>
                </a:solidFill>
              </a:rPr>
              <a:t>N</a:t>
            </a:r>
            <a:r>
              <a:rPr lang="en-US" sz="9600" dirty="0"/>
              <a:t>EX</a:t>
            </a:r>
            <a:r>
              <a:rPr lang="en-US" sz="9600" dirty="0">
                <a:solidFill>
                  <a:schemeClr val="accent6">
                    <a:lumMod val="75000"/>
                  </a:schemeClr>
                </a:solidFill>
              </a:rPr>
              <a:t>E</a:t>
            </a:r>
            <a:r>
              <a:rPr lang="en-US" sz="9600" dirty="0"/>
              <a:t>S</a:t>
            </a:r>
            <a:endParaRPr lang="en-UG" sz="9600" dirty="0"/>
          </a:p>
        </p:txBody>
      </p:sp>
    </p:spTree>
    <p:extLst>
      <p:ext uri="{BB962C8B-B14F-4D97-AF65-F5344CB8AC3E}">
        <p14:creationId xmlns:p14="http://schemas.microsoft.com/office/powerpoint/2010/main" val="464028809"/>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CC7D015-0DD8-420F-A568-AC4FEDC412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1E40AE-16D4-B156-FBBC-4ECC3D7DFD09}"/>
              </a:ext>
            </a:extLst>
          </p:cNvPr>
          <p:cNvSpPr>
            <a:spLocks noGrp="1"/>
          </p:cNvSpPr>
          <p:nvPr>
            <p:ph type="title"/>
          </p:nvPr>
        </p:nvSpPr>
        <p:spPr>
          <a:xfrm>
            <a:off x="149907" y="640969"/>
            <a:ext cx="3116868" cy="5571898"/>
          </a:xfrm>
        </p:spPr>
        <p:txBody>
          <a:bodyPr>
            <a:normAutofit/>
          </a:bodyPr>
          <a:lstStyle/>
          <a:p>
            <a:r>
              <a:rPr lang="en-US" b="1" dirty="0"/>
              <a:t>Conclusions:</a:t>
            </a:r>
            <a:endParaRPr lang="en-UG" b="1" dirty="0"/>
          </a:p>
        </p:txBody>
      </p:sp>
      <p:sp>
        <p:nvSpPr>
          <p:cNvPr id="3" name="Content Placeholder 2">
            <a:extLst>
              <a:ext uri="{FF2B5EF4-FFF2-40B4-BE49-F238E27FC236}">
                <a16:creationId xmlns:a16="http://schemas.microsoft.com/office/drawing/2014/main" id="{0B798B1B-14F0-B1AD-A504-2126D95B7DEA}"/>
              </a:ext>
            </a:extLst>
          </p:cNvPr>
          <p:cNvSpPr>
            <a:spLocks noGrp="1"/>
          </p:cNvSpPr>
          <p:nvPr>
            <p:ph idx="1"/>
          </p:nvPr>
        </p:nvSpPr>
        <p:spPr>
          <a:xfrm>
            <a:off x="3052114" y="13139"/>
            <a:ext cx="6097568" cy="6858000"/>
          </a:xfrm>
        </p:spPr>
        <p:txBody>
          <a:bodyPr vert="horz" lIns="91440" tIns="45720" rIns="91440" bIns="45720" rtlCol="0" anchor="ctr">
            <a:noAutofit/>
          </a:bodyPr>
          <a:lstStyle/>
          <a:p>
            <a:pPr marL="0" indent="0" algn="just">
              <a:lnSpc>
                <a:spcPct val="90000"/>
              </a:lnSpc>
              <a:buNone/>
            </a:pPr>
            <a:r>
              <a:rPr lang="en-US" sz="2350" b="1" dirty="0">
                <a:latin typeface="+mj-lt"/>
              </a:rPr>
              <a:t>Conclusion</a:t>
            </a:r>
            <a:endParaRPr lang="en-US" sz="2350" b="1" dirty="0">
              <a:latin typeface="+mj-lt"/>
              <a:ea typeface="Calibri"/>
              <a:cs typeface="Calibri"/>
            </a:endParaRPr>
          </a:p>
          <a:p>
            <a:pPr algn="just">
              <a:lnSpc>
                <a:spcPct val="90000"/>
              </a:lnSpc>
            </a:pPr>
            <a:r>
              <a:rPr lang="en-US" sz="2350" dirty="0">
                <a:latin typeface="+mj-lt"/>
              </a:rPr>
              <a:t>Classical Machine Learning- Logistic Regression performs exceptionally well</a:t>
            </a:r>
            <a:endParaRPr lang="en-US" sz="2350" dirty="0">
              <a:latin typeface="+mj-lt"/>
              <a:ea typeface="Calibri"/>
              <a:cs typeface="Calibri"/>
            </a:endParaRPr>
          </a:p>
          <a:p>
            <a:pPr algn="just">
              <a:lnSpc>
                <a:spcPct val="90000"/>
              </a:lnSpc>
            </a:pPr>
            <a:r>
              <a:rPr lang="en-US" sz="2350" dirty="0">
                <a:latin typeface="+mj-lt"/>
              </a:rPr>
              <a:t>The majority of participants fall within early adulthood to late middle age(18-79 yrs).</a:t>
            </a:r>
            <a:endParaRPr lang="en-US" sz="2350" dirty="0">
              <a:latin typeface="+mj-lt"/>
              <a:ea typeface="Calibri"/>
              <a:cs typeface="Calibri"/>
            </a:endParaRPr>
          </a:p>
          <a:p>
            <a:pPr algn="just">
              <a:lnSpc>
                <a:spcPct val="90000"/>
              </a:lnSpc>
            </a:pPr>
            <a:r>
              <a:rPr lang="en-US" sz="2350" dirty="0">
                <a:latin typeface="+mj-lt"/>
              </a:rPr>
              <a:t>Age, systolic blood pressure (SBP), and body mass index (BMI) confirm to be factors that play a major role in predicting cardiovascular risk.</a:t>
            </a:r>
            <a:endParaRPr lang="en-US" sz="2350" dirty="0">
              <a:latin typeface="+mj-lt"/>
              <a:ea typeface="Calibri"/>
              <a:cs typeface="Calibri"/>
            </a:endParaRPr>
          </a:p>
          <a:p>
            <a:pPr algn="just">
              <a:lnSpc>
                <a:spcPct val="90000"/>
              </a:lnSpc>
            </a:pPr>
            <a:r>
              <a:rPr lang="en-US" sz="2350" dirty="0">
                <a:latin typeface="+mj-lt"/>
              </a:rPr>
              <a:t>Men experience significantly more heart attacks and strokes than women, with an event rate nearly 50% higher.</a:t>
            </a:r>
            <a:endParaRPr lang="en-US" sz="2350" dirty="0">
              <a:latin typeface="+mj-lt"/>
              <a:ea typeface="Calibri"/>
              <a:cs typeface="Calibri"/>
            </a:endParaRPr>
          </a:p>
          <a:p>
            <a:pPr algn="just">
              <a:lnSpc>
                <a:spcPct val="90000"/>
              </a:lnSpc>
            </a:pPr>
            <a:r>
              <a:rPr lang="en-US" sz="2350" dirty="0">
                <a:latin typeface="+mj-lt"/>
              </a:rPr>
              <a:t>Smoking does not appear to influence the likelihood of experiencing a heart attack or stroke.</a:t>
            </a:r>
            <a:endParaRPr lang="en-US" sz="2350" dirty="0">
              <a:latin typeface="+mj-lt"/>
              <a:ea typeface="Calibri"/>
              <a:cs typeface="Calibri"/>
            </a:endParaRPr>
          </a:p>
          <a:p>
            <a:pPr algn="just">
              <a:lnSpc>
                <a:spcPct val="90000"/>
              </a:lnSpc>
            </a:pPr>
            <a:r>
              <a:rPr lang="en-US" sz="2350" dirty="0">
                <a:latin typeface="+mj-lt"/>
              </a:rPr>
              <a:t>Patients with multiple comorbidities such as clinical Kidney Disease(CKD), Atrial Fibrillation (AF) and diabetes are at substantially higher risk of experiencing a CVD event</a:t>
            </a:r>
            <a:endParaRPr lang="en-US" sz="2350" dirty="0">
              <a:latin typeface="+mj-lt"/>
              <a:ea typeface="Calibri"/>
              <a:cs typeface="Calibri"/>
            </a:endParaRPr>
          </a:p>
        </p:txBody>
      </p:sp>
    </p:spTree>
    <p:extLst>
      <p:ext uri="{BB962C8B-B14F-4D97-AF65-F5344CB8AC3E}">
        <p14:creationId xmlns:p14="http://schemas.microsoft.com/office/powerpoint/2010/main" val="2849379476"/>
      </p:ext>
    </p:extLst>
  </p:cSld>
  <p:clrMapOvr>
    <a:masterClrMapping/>
  </p:clrMapOvr>
  <mc:AlternateContent xmlns:mc="http://schemas.openxmlformats.org/markup-compatibility/2006">
    <mc:Choice xmlns:p14="http://schemas.microsoft.com/office/powerpoint/2010/main" Requires="p14">
      <p:transition spd="slow" p14:dur="900">
        <p14:flythrough hasBounce="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p:tgtEl>
                                          <p:spTgt spid="3">
                                            <p:txEl>
                                              <p:pRg st="0" end="0"/>
                                            </p:txEl>
                                          </p:spTgt>
                                        </p:tgtEl>
                                        <p:attrNameLst>
                                          <p:attrName>ppt_x</p:attrName>
                                        </p:attrNameLst>
                                      </p:cBhvr>
                                      <p:tavLst>
                                        <p:tav tm="0">
                                          <p:val>
                                            <p:strVal val="#ppt_x+#ppt_w*1.125000"/>
                                          </p:val>
                                        </p:tav>
                                        <p:tav tm="100000">
                                          <p:val>
                                            <p:strVal val="#ppt_x"/>
                                          </p:val>
                                        </p:tav>
                                      </p:tavLst>
                                    </p:anim>
                                    <p:animEffect transition="in" filter="wipe(left)">
                                      <p:cBhvr>
                                        <p:cTn id="8" dur="500"/>
                                        <p:tgtEl>
                                          <p:spTgt spid="3">
                                            <p:txEl>
                                              <p:pRg st="0" end="0"/>
                                            </p:txEl>
                                          </p:spTgt>
                                        </p:tgtEl>
                                      </p:cBhvr>
                                    </p:animEffect>
                                  </p:childTnLst>
                                </p:cTn>
                              </p:par>
                              <p:par>
                                <p:cTn id="9" presetID="12" presetClass="entr" presetSubtype="2"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p:tgtEl>
                                          <p:spTgt spid="3">
                                            <p:txEl>
                                              <p:pRg st="1" end="1"/>
                                            </p:txEl>
                                          </p:spTgt>
                                        </p:tgtEl>
                                        <p:attrNameLst>
                                          <p:attrName>ppt_x</p:attrName>
                                        </p:attrNameLst>
                                      </p:cBhvr>
                                      <p:tavLst>
                                        <p:tav tm="0">
                                          <p:val>
                                            <p:strVal val="#ppt_x+#ppt_w*1.125000"/>
                                          </p:val>
                                        </p:tav>
                                        <p:tav tm="100000">
                                          <p:val>
                                            <p:strVal val="#ppt_x"/>
                                          </p:val>
                                        </p:tav>
                                      </p:tavLst>
                                    </p:anim>
                                    <p:animEffect transition="in" filter="wipe(left)">
                                      <p:cBhvr>
                                        <p:cTn id="12" dur="500"/>
                                        <p:tgtEl>
                                          <p:spTgt spid="3">
                                            <p:txEl>
                                              <p:pRg st="1" end="1"/>
                                            </p:txEl>
                                          </p:spTgt>
                                        </p:tgtEl>
                                      </p:cBhvr>
                                    </p:animEffect>
                                  </p:childTnLst>
                                </p:cTn>
                              </p:par>
                              <p:par>
                                <p:cTn id="13" presetID="12" presetClass="entr" presetSubtype="2"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p:tgtEl>
                                          <p:spTgt spid="3">
                                            <p:txEl>
                                              <p:pRg st="2" end="2"/>
                                            </p:txEl>
                                          </p:spTgt>
                                        </p:tgtEl>
                                        <p:attrNameLst>
                                          <p:attrName>ppt_x</p:attrName>
                                        </p:attrNameLst>
                                      </p:cBhvr>
                                      <p:tavLst>
                                        <p:tav tm="0">
                                          <p:val>
                                            <p:strVal val="#ppt_x+#ppt_w*1.125000"/>
                                          </p:val>
                                        </p:tav>
                                        <p:tav tm="100000">
                                          <p:val>
                                            <p:strVal val="#ppt_x"/>
                                          </p:val>
                                        </p:tav>
                                      </p:tavLst>
                                    </p:anim>
                                    <p:animEffect transition="in" filter="wipe(left)">
                                      <p:cBhvr>
                                        <p:cTn id="16" dur="500"/>
                                        <p:tgtEl>
                                          <p:spTgt spid="3">
                                            <p:txEl>
                                              <p:pRg st="2" end="2"/>
                                            </p:txEl>
                                          </p:spTgt>
                                        </p:tgtEl>
                                      </p:cBhvr>
                                    </p:animEffect>
                                  </p:childTnLst>
                                </p:cTn>
                              </p:par>
                              <p:par>
                                <p:cTn id="17" presetID="12" presetClass="entr" presetSubtype="2"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p:tgtEl>
                                          <p:spTgt spid="3">
                                            <p:txEl>
                                              <p:pRg st="3" end="3"/>
                                            </p:txEl>
                                          </p:spTgt>
                                        </p:tgtEl>
                                        <p:attrNameLst>
                                          <p:attrName>ppt_x</p:attrName>
                                        </p:attrNameLst>
                                      </p:cBhvr>
                                      <p:tavLst>
                                        <p:tav tm="0">
                                          <p:val>
                                            <p:strVal val="#ppt_x+#ppt_w*1.125000"/>
                                          </p:val>
                                        </p:tav>
                                        <p:tav tm="100000">
                                          <p:val>
                                            <p:strVal val="#ppt_x"/>
                                          </p:val>
                                        </p:tav>
                                      </p:tavLst>
                                    </p:anim>
                                    <p:animEffect transition="in" filter="wipe(left)">
                                      <p:cBhvr>
                                        <p:cTn id="20" dur="500"/>
                                        <p:tgtEl>
                                          <p:spTgt spid="3">
                                            <p:txEl>
                                              <p:pRg st="3" end="3"/>
                                            </p:txEl>
                                          </p:spTgt>
                                        </p:tgtEl>
                                      </p:cBhvr>
                                    </p:animEffect>
                                  </p:childTnLst>
                                </p:cTn>
                              </p:par>
                              <p:par>
                                <p:cTn id="21" presetID="12" presetClass="entr" presetSubtype="2"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p:tgtEl>
                                          <p:spTgt spid="3">
                                            <p:txEl>
                                              <p:pRg st="4" end="4"/>
                                            </p:txEl>
                                          </p:spTgt>
                                        </p:tgtEl>
                                        <p:attrNameLst>
                                          <p:attrName>ppt_x</p:attrName>
                                        </p:attrNameLst>
                                      </p:cBhvr>
                                      <p:tavLst>
                                        <p:tav tm="0">
                                          <p:val>
                                            <p:strVal val="#ppt_x+#ppt_w*1.125000"/>
                                          </p:val>
                                        </p:tav>
                                        <p:tav tm="100000">
                                          <p:val>
                                            <p:strVal val="#ppt_x"/>
                                          </p:val>
                                        </p:tav>
                                      </p:tavLst>
                                    </p:anim>
                                    <p:animEffect transition="in" filter="wipe(left)">
                                      <p:cBhvr>
                                        <p:cTn id="24" dur="500"/>
                                        <p:tgtEl>
                                          <p:spTgt spid="3">
                                            <p:txEl>
                                              <p:pRg st="4" end="4"/>
                                            </p:txEl>
                                          </p:spTgt>
                                        </p:tgtEl>
                                      </p:cBhvr>
                                    </p:animEffect>
                                  </p:childTnLst>
                                </p:cTn>
                              </p:par>
                              <p:par>
                                <p:cTn id="25" presetID="12" presetClass="entr" presetSubtype="2"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p:tgtEl>
                                          <p:spTgt spid="3">
                                            <p:txEl>
                                              <p:pRg st="5" end="5"/>
                                            </p:txEl>
                                          </p:spTgt>
                                        </p:tgtEl>
                                        <p:attrNameLst>
                                          <p:attrName>ppt_x</p:attrName>
                                        </p:attrNameLst>
                                      </p:cBhvr>
                                      <p:tavLst>
                                        <p:tav tm="0">
                                          <p:val>
                                            <p:strVal val="#ppt_x+#ppt_w*1.125000"/>
                                          </p:val>
                                        </p:tav>
                                        <p:tav tm="100000">
                                          <p:val>
                                            <p:strVal val="#ppt_x"/>
                                          </p:val>
                                        </p:tav>
                                      </p:tavLst>
                                    </p:anim>
                                    <p:animEffect transition="in" filter="wipe(left)">
                                      <p:cBhvr>
                                        <p:cTn id="28" dur="500"/>
                                        <p:tgtEl>
                                          <p:spTgt spid="3">
                                            <p:txEl>
                                              <p:pRg st="5" end="5"/>
                                            </p:txEl>
                                          </p:spTgt>
                                        </p:tgtEl>
                                      </p:cBhvr>
                                    </p:animEffect>
                                  </p:childTnLst>
                                </p:cTn>
                              </p:par>
                              <p:par>
                                <p:cTn id="29" presetID="12" presetClass="entr" presetSubtype="2"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p:tgtEl>
                                          <p:spTgt spid="3">
                                            <p:txEl>
                                              <p:pRg st="6" end="6"/>
                                            </p:txEl>
                                          </p:spTgt>
                                        </p:tgtEl>
                                        <p:attrNameLst>
                                          <p:attrName>ppt_x</p:attrName>
                                        </p:attrNameLst>
                                      </p:cBhvr>
                                      <p:tavLst>
                                        <p:tav tm="0">
                                          <p:val>
                                            <p:strVal val="#ppt_x+#ppt_w*1.125000"/>
                                          </p:val>
                                        </p:tav>
                                        <p:tav tm="100000">
                                          <p:val>
                                            <p:strVal val="#ppt_x"/>
                                          </p:val>
                                        </p:tav>
                                      </p:tavLst>
                                    </p:anim>
                                    <p:animEffect transition="in" filter="wipe(left)">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CC7D015-0DD8-420F-A568-AC4FEDC412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1E40AE-16D4-B156-FBBC-4ECC3D7DFD09}"/>
              </a:ext>
            </a:extLst>
          </p:cNvPr>
          <p:cNvSpPr>
            <a:spLocks noGrp="1"/>
          </p:cNvSpPr>
          <p:nvPr>
            <p:ph type="title"/>
          </p:nvPr>
        </p:nvSpPr>
        <p:spPr>
          <a:xfrm>
            <a:off x="149907" y="640969"/>
            <a:ext cx="3116868" cy="5571898"/>
          </a:xfrm>
        </p:spPr>
        <p:txBody>
          <a:bodyPr>
            <a:normAutofit/>
          </a:bodyPr>
          <a:lstStyle/>
          <a:p>
            <a:r>
              <a:rPr lang="en-US" sz="2800" b="1" dirty="0"/>
              <a:t>Recommendations</a:t>
            </a:r>
            <a:endParaRPr lang="en-UG" sz="2800" b="1" dirty="0"/>
          </a:p>
        </p:txBody>
      </p:sp>
      <p:sp>
        <p:nvSpPr>
          <p:cNvPr id="3" name="Content Placeholder 2">
            <a:extLst>
              <a:ext uri="{FF2B5EF4-FFF2-40B4-BE49-F238E27FC236}">
                <a16:creationId xmlns:a16="http://schemas.microsoft.com/office/drawing/2014/main" id="{0B798B1B-14F0-B1AD-A504-2126D95B7DEA}"/>
              </a:ext>
            </a:extLst>
          </p:cNvPr>
          <p:cNvSpPr>
            <a:spLocks noGrp="1"/>
          </p:cNvSpPr>
          <p:nvPr>
            <p:ph idx="1"/>
          </p:nvPr>
        </p:nvSpPr>
        <p:spPr>
          <a:xfrm>
            <a:off x="3052114" y="6635"/>
            <a:ext cx="6097568" cy="6864504"/>
          </a:xfrm>
        </p:spPr>
        <p:txBody>
          <a:bodyPr vert="horz" lIns="91440" tIns="45720" rIns="91440" bIns="45720" rtlCol="0" anchor="ctr">
            <a:noAutofit/>
          </a:bodyPr>
          <a:lstStyle/>
          <a:p>
            <a:pPr marL="0" indent="0" algn="just">
              <a:lnSpc>
                <a:spcPct val="90000"/>
              </a:lnSpc>
              <a:buNone/>
            </a:pPr>
            <a:r>
              <a:rPr lang="en-US" sz="2350" b="1" dirty="0">
                <a:latin typeface="+mj-lt"/>
              </a:rPr>
              <a:t>Recommendations</a:t>
            </a:r>
            <a:endParaRPr lang="en-US" sz="2350" b="1" dirty="0">
              <a:latin typeface="+mj-lt"/>
              <a:ea typeface="Calibri"/>
              <a:cs typeface="Calibri"/>
            </a:endParaRPr>
          </a:p>
          <a:p>
            <a:pPr algn="just">
              <a:lnSpc>
                <a:spcPct val="90000"/>
              </a:lnSpc>
              <a:buFont typeface="Arial" panose="020B0604020202020204" pitchFamily="34" charset="0"/>
              <a:buChar char="•"/>
            </a:pPr>
            <a:r>
              <a:rPr lang="en-US" sz="2350" dirty="0">
                <a:latin typeface="+mj-lt"/>
              </a:rPr>
              <a:t>Adopt a Logistic Regression as the preferred predictive model for early screening and risk stratification in clinical and public health settings.</a:t>
            </a:r>
            <a:endParaRPr lang="en-US" sz="2350" dirty="0">
              <a:latin typeface="+mj-lt"/>
              <a:ea typeface="Calibri"/>
              <a:cs typeface="Calibri"/>
            </a:endParaRPr>
          </a:p>
          <a:p>
            <a:pPr algn="just">
              <a:lnSpc>
                <a:spcPct val="90000"/>
              </a:lnSpc>
              <a:buFont typeface="Arial" panose="020B0604020202020204" pitchFamily="34" charset="0"/>
              <a:buChar char="•"/>
            </a:pPr>
            <a:r>
              <a:rPr lang="en-US" sz="2350" dirty="0">
                <a:latin typeface="+mj-lt"/>
              </a:rPr>
              <a:t>Prioritize high-risk groups (older adults, hypertensive individuals, patients with CKD, AF, or diabetes) for targeted prevention programs.</a:t>
            </a:r>
            <a:endParaRPr lang="en-US" sz="2350" dirty="0">
              <a:latin typeface="+mj-lt"/>
              <a:ea typeface="Calibri"/>
              <a:cs typeface="Calibri"/>
            </a:endParaRPr>
          </a:p>
          <a:p>
            <a:pPr algn="just">
              <a:lnSpc>
                <a:spcPct val="90000"/>
              </a:lnSpc>
              <a:buFont typeface="Arial" panose="020B0604020202020204" pitchFamily="34" charset="0"/>
              <a:buChar char="•"/>
            </a:pPr>
            <a:r>
              <a:rPr lang="en-US" sz="2350" dirty="0">
                <a:latin typeface="+mj-lt"/>
              </a:rPr>
              <a:t>Implement community-based blood pressure and BMI monitoring, given their strong predictive value.</a:t>
            </a:r>
            <a:br>
              <a:rPr lang="en-US" sz="2350" dirty="0">
                <a:latin typeface="+mj-lt"/>
              </a:rPr>
            </a:br>
            <a:r>
              <a:rPr lang="en-US" sz="2350" dirty="0">
                <a:latin typeface="+mj-lt"/>
              </a:rPr>
              <a:t>Develop sex-specific prevention strategies to address the disproportionately higher risk among men.</a:t>
            </a:r>
            <a:endParaRPr lang="en-US" sz="2350" dirty="0">
              <a:latin typeface="+mj-lt"/>
              <a:ea typeface="Calibri"/>
              <a:cs typeface="Calibri"/>
            </a:endParaRPr>
          </a:p>
          <a:p>
            <a:pPr algn="just">
              <a:lnSpc>
                <a:spcPct val="90000"/>
              </a:lnSpc>
              <a:buFont typeface="Arial" panose="020B0604020202020204" pitchFamily="34" charset="0"/>
              <a:buChar char="•"/>
            </a:pPr>
            <a:r>
              <a:rPr lang="en-US" sz="2350" dirty="0">
                <a:latin typeface="+mj-lt"/>
              </a:rPr>
              <a:t>Integrate ML screening tools into routine clinical care, especially in resource-limited settings, to support early detection and reduce long-term CVD burden.</a:t>
            </a:r>
            <a:endParaRPr lang="en-US" sz="2350" dirty="0">
              <a:latin typeface="+mj-lt"/>
              <a:ea typeface="Calibri"/>
              <a:cs typeface="Calibri"/>
            </a:endParaRPr>
          </a:p>
        </p:txBody>
      </p:sp>
    </p:spTree>
    <p:extLst>
      <p:ext uri="{BB962C8B-B14F-4D97-AF65-F5344CB8AC3E}">
        <p14:creationId xmlns:p14="http://schemas.microsoft.com/office/powerpoint/2010/main" val="322106834"/>
      </p:ext>
    </p:extLst>
  </p:cSld>
  <p:clrMapOvr>
    <a:masterClrMapping/>
  </p:clrMapOvr>
  <p:transition spd="slow">
    <p:comb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3"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4" dur="1000"/>
                                        <p:tgtEl>
                                          <p:spTgt spid="3">
                                            <p:txEl>
                                              <p:pRg st="1" end="1"/>
                                            </p:txEl>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p:cTn id="17" dur="1000" fill="hold"/>
                                        <p:tgtEl>
                                          <p:spTgt spid="3">
                                            <p:txEl>
                                              <p:pRg st="2" end="2"/>
                                            </p:txEl>
                                          </p:spTgt>
                                        </p:tgtEl>
                                        <p:attrNameLst>
                                          <p:attrName>ppt_w</p:attrName>
                                        </p:attrNameLst>
                                      </p:cBhvr>
                                      <p:tavLst>
                                        <p:tav tm="0">
                                          <p:val>
                                            <p:strVal val="#ppt_w*0.70"/>
                                          </p:val>
                                        </p:tav>
                                        <p:tav tm="100000">
                                          <p:val>
                                            <p:strVal val="#ppt_w"/>
                                          </p:val>
                                        </p:tav>
                                      </p:tavLst>
                                    </p:anim>
                                    <p:anim calcmode="lin" valueType="num">
                                      <p:cBhvr>
                                        <p:cTn id="18"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19" dur="1000"/>
                                        <p:tgtEl>
                                          <p:spTgt spid="3">
                                            <p:txEl>
                                              <p:pRg st="2" end="2"/>
                                            </p:txEl>
                                          </p:spTgt>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p:cTn id="22" dur="1000" fill="hold"/>
                                        <p:tgtEl>
                                          <p:spTgt spid="3">
                                            <p:txEl>
                                              <p:pRg st="3" end="3"/>
                                            </p:txEl>
                                          </p:spTgt>
                                        </p:tgtEl>
                                        <p:attrNameLst>
                                          <p:attrName>ppt_w</p:attrName>
                                        </p:attrNameLst>
                                      </p:cBhvr>
                                      <p:tavLst>
                                        <p:tav tm="0">
                                          <p:val>
                                            <p:strVal val="#ppt_w*0.70"/>
                                          </p:val>
                                        </p:tav>
                                        <p:tav tm="100000">
                                          <p:val>
                                            <p:strVal val="#ppt_w"/>
                                          </p:val>
                                        </p:tav>
                                      </p:tavLst>
                                    </p:anim>
                                    <p:anim calcmode="lin" valueType="num">
                                      <p:cBhvr>
                                        <p:cTn id="23"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24" dur="1000"/>
                                        <p:tgtEl>
                                          <p:spTgt spid="3">
                                            <p:txEl>
                                              <p:pRg st="3" end="3"/>
                                            </p:txEl>
                                          </p:spTgt>
                                        </p:tgtEl>
                                      </p:cBhvr>
                                    </p:animEffect>
                                  </p:childTnLst>
                                </p:cTn>
                              </p:par>
                              <p:par>
                                <p:cTn id="25" presetID="55"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p:cTn id="27" dur="1000" fill="hold"/>
                                        <p:tgtEl>
                                          <p:spTgt spid="3">
                                            <p:txEl>
                                              <p:pRg st="4" end="4"/>
                                            </p:txEl>
                                          </p:spTgt>
                                        </p:tgtEl>
                                        <p:attrNameLst>
                                          <p:attrName>ppt_w</p:attrName>
                                        </p:attrNameLst>
                                      </p:cBhvr>
                                      <p:tavLst>
                                        <p:tav tm="0">
                                          <p:val>
                                            <p:strVal val="#ppt_w*0.70"/>
                                          </p:val>
                                        </p:tav>
                                        <p:tav tm="100000">
                                          <p:val>
                                            <p:strVal val="#ppt_w"/>
                                          </p:val>
                                        </p:tav>
                                      </p:tavLst>
                                    </p:anim>
                                    <p:anim calcmode="lin" valueType="num">
                                      <p:cBhvr>
                                        <p:cTn id="28" dur="1000" fill="hold"/>
                                        <p:tgtEl>
                                          <p:spTgt spid="3">
                                            <p:txEl>
                                              <p:pRg st="4" end="4"/>
                                            </p:txEl>
                                          </p:spTgt>
                                        </p:tgtEl>
                                        <p:attrNameLst>
                                          <p:attrName>ppt_h</p:attrName>
                                        </p:attrNameLst>
                                      </p:cBhvr>
                                      <p:tavLst>
                                        <p:tav tm="0">
                                          <p:val>
                                            <p:strVal val="#ppt_h"/>
                                          </p:val>
                                        </p:tav>
                                        <p:tav tm="100000">
                                          <p:val>
                                            <p:strVal val="#ppt_h"/>
                                          </p:val>
                                        </p:tav>
                                      </p:tavLst>
                                    </p:anim>
                                    <p:animEffect transition="in" filter="fade">
                                      <p:cBhvr>
                                        <p:cTn id="29"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CC7D015-0DD8-420F-A568-AC4FEDC412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1E40AE-16D4-B156-FBBC-4ECC3D7DFD09}"/>
              </a:ext>
            </a:extLst>
          </p:cNvPr>
          <p:cNvSpPr>
            <a:spLocks noGrp="1"/>
          </p:cNvSpPr>
          <p:nvPr>
            <p:ph type="title"/>
          </p:nvPr>
        </p:nvSpPr>
        <p:spPr>
          <a:xfrm>
            <a:off x="149907" y="640969"/>
            <a:ext cx="3116868" cy="5571898"/>
          </a:xfrm>
        </p:spPr>
        <p:txBody>
          <a:bodyPr>
            <a:normAutofit/>
          </a:bodyPr>
          <a:lstStyle/>
          <a:p>
            <a:r>
              <a:rPr lang="en-US" b="1" dirty="0"/>
              <a:t>Future Work</a:t>
            </a:r>
            <a:endParaRPr lang="en-UG" b="1" dirty="0"/>
          </a:p>
        </p:txBody>
      </p:sp>
      <p:sp>
        <p:nvSpPr>
          <p:cNvPr id="3" name="Content Placeholder 2">
            <a:extLst>
              <a:ext uri="{FF2B5EF4-FFF2-40B4-BE49-F238E27FC236}">
                <a16:creationId xmlns:a16="http://schemas.microsoft.com/office/drawing/2014/main" id="{0B798B1B-14F0-B1AD-A504-2126D95B7DEA}"/>
              </a:ext>
            </a:extLst>
          </p:cNvPr>
          <p:cNvSpPr>
            <a:spLocks noGrp="1"/>
          </p:cNvSpPr>
          <p:nvPr>
            <p:ph idx="1"/>
          </p:nvPr>
        </p:nvSpPr>
        <p:spPr>
          <a:xfrm>
            <a:off x="3052114" y="6635"/>
            <a:ext cx="6097568" cy="6864504"/>
          </a:xfrm>
        </p:spPr>
        <p:txBody>
          <a:bodyPr vert="horz" lIns="91440" tIns="45720" rIns="91440" bIns="45720" rtlCol="0" anchor="ctr">
            <a:noAutofit/>
          </a:bodyPr>
          <a:lstStyle/>
          <a:p>
            <a:pPr marL="0" indent="0" algn="just">
              <a:lnSpc>
                <a:spcPct val="90000"/>
              </a:lnSpc>
              <a:buNone/>
            </a:pPr>
            <a:r>
              <a:rPr lang="en-US" sz="2350" b="1" dirty="0">
                <a:latin typeface="+mj-lt"/>
              </a:rPr>
              <a:t>Future Work</a:t>
            </a:r>
            <a:endParaRPr lang="en-US" sz="2350" b="1" dirty="0">
              <a:latin typeface="+mj-lt"/>
              <a:ea typeface="Calibri"/>
              <a:cs typeface="Calibri"/>
            </a:endParaRPr>
          </a:p>
          <a:p>
            <a:pPr algn="just">
              <a:lnSpc>
                <a:spcPct val="90000"/>
              </a:lnSpc>
              <a:buFont typeface="Wingdings" panose="05000000000000000000" pitchFamily="2" charset="2"/>
              <a:buChar char="v"/>
            </a:pPr>
            <a:r>
              <a:rPr lang="en-US" sz="2350" dirty="0">
                <a:latin typeface="+mj-lt"/>
              </a:rPr>
              <a:t>Deep Learning Expansion: Build and evaluate neural network architectures (MLP, CNN-1D, attention-based models) for improved predictive performance.</a:t>
            </a:r>
            <a:endParaRPr lang="en-US" sz="2350" dirty="0">
              <a:latin typeface="+mj-lt"/>
              <a:ea typeface="Calibri"/>
              <a:cs typeface="Calibri"/>
            </a:endParaRPr>
          </a:p>
          <a:p>
            <a:pPr algn="just">
              <a:lnSpc>
                <a:spcPct val="90000"/>
              </a:lnSpc>
              <a:buFont typeface="Wingdings" panose="05000000000000000000" pitchFamily="2" charset="2"/>
              <a:buChar char="v"/>
            </a:pPr>
            <a:r>
              <a:rPr lang="en-US" sz="2350" dirty="0">
                <a:latin typeface="+mj-lt"/>
              </a:rPr>
              <a:t>Model Deployment: Develop a robust, user-friendly web or mobile application for real-time CVD risk prediction and triage.</a:t>
            </a:r>
            <a:endParaRPr lang="en-US" sz="2350" dirty="0">
              <a:latin typeface="+mj-lt"/>
              <a:ea typeface="Calibri"/>
              <a:cs typeface="Calibri"/>
            </a:endParaRPr>
          </a:p>
          <a:p>
            <a:pPr algn="just">
              <a:lnSpc>
                <a:spcPct val="90000"/>
              </a:lnSpc>
              <a:buFont typeface="Wingdings" panose="05000000000000000000" pitchFamily="2" charset="2"/>
              <a:buChar char="v"/>
            </a:pPr>
            <a:r>
              <a:rPr lang="en-US" sz="2350" dirty="0">
                <a:latin typeface="+mj-lt"/>
              </a:rPr>
              <a:t>Feature Engineering: Explore additional clinical variables (lipid profiles, ECG features, lifestyle metrics) to improve model sensitivity.</a:t>
            </a:r>
            <a:endParaRPr lang="en-US" sz="2350" dirty="0">
              <a:latin typeface="+mj-lt"/>
              <a:ea typeface="Calibri"/>
              <a:cs typeface="Calibri"/>
            </a:endParaRPr>
          </a:p>
          <a:p>
            <a:pPr algn="just">
              <a:lnSpc>
                <a:spcPct val="90000"/>
              </a:lnSpc>
              <a:buFont typeface="Wingdings" panose="05000000000000000000" pitchFamily="2" charset="2"/>
              <a:buChar char="v"/>
            </a:pPr>
            <a:r>
              <a:rPr lang="en-US" sz="2350" dirty="0">
                <a:latin typeface="+mj-lt"/>
              </a:rPr>
              <a:t>Longitudinal Validation: Apply the model to future datasets or real-world cohorts to validate its stability, fairness, and clinical applicability.</a:t>
            </a:r>
            <a:endParaRPr lang="en-US" sz="2350" dirty="0">
              <a:latin typeface="+mj-lt"/>
              <a:ea typeface="Calibri"/>
              <a:cs typeface="Calibri"/>
            </a:endParaRPr>
          </a:p>
          <a:p>
            <a:pPr algn="just">
              <a:lnSpc>
                <a:spcPct val="90000"/>
              </a:lnSpc>
              <a:buFont typeface="Wingdings" panose="05000000000000000000" pitchFamily="2" charset="2"/>
              <a:buChar char="v"/>
            </a:pPr>
            <a:r>
              <a:rPr lang="en-US" sz="2350" dirty="0">
                <a:latin typeface="+mj-lt"/>
              </a:rPr>
              <a:t>Explainability: Integrate SHAP or LIME to enhance model transparency and support clinician trust and decision-making.</a:t>
            </a:r>
            <a:endParaRPr lang="en-UG" sz="2350" dirty="0">
              <a:latin typeface="+mj-lt"/>
              <a:ea typeface="Calibri"/>
              <a:cs typeface="Calibri"/>
            </a:endParaRPr>
          </a:p>
        </p:txBody>
      </p:sp>
    </p:spTree>
    <p:extLst>
      <p:ext uri="{BB962C8B-B14F-4D97-AF65-F5344CB8AC3E}">
        <p14:creationId xmlns:p14="http://schemas.microsoft.com/office/powerpoint/2010/main" val="3703688177"/>
      </p:ext>
    </p:extLst>
  </p:cSld>
  <p:clrMapOvr>
    <a:masterClrMapping/>
  </p:clrMapOvr>
  <mc:AlternateContent xmlns:mc="http://schemas.openxmlformats.org/markup-compatibility/2006">
    <mc:Choice xmlns:p14="http://schemas.microsoft.com/office/powerpoint/2010/main" Requires="p14">
      <p:transition spd="slow" p14:dur="2000">
        <p14:prism dir="u"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3"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4" dur="1000"/>
                                        <p:tgtEl>
                                          <p:spTgt spid="3">
                                            <p:txEl>
                                              <p:pRg st="1" end="1"/>
                                            </p:txEl>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p:cTn id="17" dur="1000" fill="hold"/>
                                        <p:tgtEl>
                                          <p:spTgt spid="3">
                                            <p:txEl>
                                              <p:pRg st="2" end="2"/>
                                            </p:txEl>
                                          </p:spTgt>
                                        </p:tgtEl>
                                        <p:attrNameLst>
                                          <p:attrName>ppt_w</p:attrName>
                                        </p:attrNameLst>
                                      </p:cBhvr>
                                      <p:tavLst>
                                        <p:tav tm="0">
                                          <p:val>
                                            <p:strVal val="#ppt_w*0.70"/>
                                          </p:val>
                                        </p:tav>
                                        <p:tav tm="100000">
                                          <p:val>
                                            <p:strVal val="#ppt_w"/>
                                          </p:val>
                                        </p:tav>
                                      </p:tavLst>
                                    </p:anim>
                                    <p:anim calcmode="lin" valueType="num">
                                      <p:cBhvr>
                                        <p:cTn id="18"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19" dur="1000"/>
                                        <p:tgtEl>
                                          <p:spTgt spid="3">
                                            <p:txEl>
                                              <p:pRg st="2" end="2"/>
                                            </p:txEl>
                                          </p:spTgt>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p:cTn id="22" dur="1000" fill="hold"/>
                                        <p:tgtEl>
                                          <p:spTgt spid="3">
                                            <p:txEl>
                                              <p:pRg st="3" end="3"/>
                                            </p:txEl>
                                          </p:spTgt>
                                        </p:tgtEl>
                                        <p:attrNameLst>
                                          <p:attrName>ppt_w</p:attrName>
                                        </p:attrNameLst>
                                      </p:cBhvr>
                                      <p:tavLst>
                                        <p:tav tm="0">
                                          <p:val>
                                            <p:strVal val="#ppt_w*0.70"/>
                                          </p:val>
                                        </p:tav>
                                        <p:tav tm="100000">
                                          <p:val>
                                            <p:strVal val="#ppt_w"/>
                                          </p:val>
                                        </p:tav>
                                      </p:tavLst>
                                    </p:anim>
                                    <p:anim calcmode="lin" valueType="num">
                                      <p:cBhvr>
                                        <p:cTn id="23"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24" dur="1000"/>
                                        <p:tgtEl>
                                          <p:spTgt spid="3">
                                            <p:txEl>
                                              <p:pRg st="3" end="3"/>
                                            </p:txEl>
                                          </p:spTgt>
                                        </p:tgtEl>
                                      </p:cBhvr>
                                    </p:animEffect>
                                  </p:childTnLst>
                                </p:cTn>
                              </p:par>
                              <p:par>
                                <p:cTn id="25" presetID="55"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p:cTn id="27" dur="1000" fill="hold"/>
                                        <p:tgtEl>
                                          <p:spTgt spid="3">
                                            <p:txEl>
                                              <p:pRg st="4" end="4"/>
                                            </p:txEl>
                                          </p:spTgt>
                                        </p:tgtEl>
                                        <p:attrNameLst>
                                          <p:attrName>ppt_w</p:attrName>
                                        </p:attrNameLst>
                                      </p:cBhvr>
                                      <p:tavLst>
                                        <p:tav tm="0">
                                          <p:val>
                                            <p:strVal val="#ppt_w*0.70"/>
                                          </p:val>
                                        </p:tav>
                                        <p:tav tm="100000">
                                          <p:val>
                                            <p:strVal val="#ppt_w"/>
                                          </p:val>
                                        </p:tav>
                                      </p:tavLst>
                                    </p:anim>
                                    <p:anim calcmode="lin" valueType="num">
                                      <p:cBhvr>
                                        <p:cTn id="28" dur="1000" fill="hold"/>
                                        <p:tgtEl>
                                          <p:spTgt spid="3">
                                            <p:txEl>
                                              <p:pRg st="4" end="4"/>
                                            </p:txEl>
                                          </p:spTgt>
                                        </p:tgtEl>
                                        <p:attrNameLst>
                                          <p:attrName>ppt_h</p:attrName>
                                        </p:attrNameLst>
                                      </p:cBhvr>
                                      <p:tavLst>
                                        <p:tav tm="0">
                                          <p:val>
                                            <p:strVal val="#ppt_h"/>
                                          </p:val>
                                        </p:tav>
                                        <p:tav tm="100000">
                                          <p:val>
                                            <p:strVal val="#ppt_h"/>
                                          </p:val>
                                        </p:tav>
                                      </p:tavLst>
                                    </p:anim>
                                    <p:animEffect transition="in" filter="fade">
                                      <p:cBhvr>
                                        <p:cTn id="29" dur="1000"/>
                                        <p:tgtEl>
                                          <p:spTgt spid="3">
                                            <p:txEl>
                                              <p:pRg st="4" end="4"/>
                                            </p:txEl>
                                          </p:spTgt>
                                        </p:tgtEl>
                                      </p:cBhvr>
                                    </p:animEffect>
                                  </p:childTnLst>
                                </p:cTn>
                              </p:par>
                              <p:par>
                                <p:cTn id="30" presetID="55" presetClass="entr" presetSubtype="0" fill="hold" grpId="0"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p:cTn id="32" dur="1000" fill="hold"/>
                                        <p:tgtEl>
                                          <p:spTgt spid="3">
                                            <p:txEl>
                                              <p:pRg st="5" end="5"/>
                                            </p:txEl>
                                          </p:spTgt>
                                        </p:tgtEl>
                                        <p:attrNameLst>
                                          <p:attrName>ppt_w</p:attrName>
                                        </p:attrNameLst>
                                      </p:cBhvr>
                                      <p:tavLst>
                                        <p:tav tm="0">
                                          <p:val>
                                            <p:strVal val="#ppt_w*0.70"/>
                                          </p:val>
                                        </p:tav>
                                        <p:tav tm="100000">
                                          <p:val>
                                            <p:strVal val="#ppt_w"/>
                                          </p:val>
                                        </p:tav>
                                      </p:tavLst>
                                    </p:anim>
                                    <p:anim calcmode="lin" valueType="num">
                                      <p:cBhvr>
                                        <p:cTn id="33" dur="1000" fill="hold"/>
                                        <p:tgtEl>
                                          <p:spTgt spid="3">
                                            <p:txEl>
                                              <p:pRg st="5" end="5"/>
                                            </p:txEl>
                                          </p:spTgt>
                                        </p:tgtEl>
                                        <p:attrNameLst>
                                          <p:attrName>ppt_h</p:attrName>
                                        </p:attrNameLst>
                                      </p:cBhvr>
                                      <p:tavLst>
                                        <p:tav tm="0">
                                          <p:val>
                                            <p:strVal val="#ppt_h"/>
                                          </p:val>
                                        </p:tav>
                                        <p:tav tm="100000">
                                          <p:val>
                                            <p:strVal val="#ppt_h"/>
                                          </p:val>
                                        </p:tav>
                                      </p:tavLst>
                                    </p:anim>
                                    <p:animEffect transition="in" filter="fade">
                                      <p:cBhvr>
                                        <p:cTn id="34"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5302" y="48496"/>
            <a:ext cx="8639999" cy="443116"/>
          </a:xfrm>
        </p:spPr>
        <p:txBody>
          <a:bodyPr>
            <a:noAutofit/>
          </a:bodyPr>
          <a:lstStyle/>
          <a:p>
            <a:r>
              <a:rPr lang="en-US" sz="2400" dirty="0"/>
              <a:t>Dataset Overview-Data Dictionary Extract</a:t>
            </a:r>
            <a:endParaRPr sz="2400" dirty="0"/>
          </a:p>
        </p:txBody>
      </p:sp>
      <p:graphicFrame>
        <p:nvGraphicFramePr>
          <p:cNvPr id="5" name="Content Placeholder 4">
            <a:extLst>
              <a:ext uri="{FF2B5EF4-FFF2-40B4-BE49-F238E27FC236}">
                <a16:creationId xmlns:a16="http://schemas.microsoft.com/office/drawing/2014/main" id="{6BD098A9-6537-E754-A6B9-BE2E5519E64E}"/>
              </a:ext>
            </a:extLst>
          </p:cNvPr>
          <p:cNvGraphicFramePr>
            <a:graphicFrameLocks noGrp="1"/>
          </p:cNvGraphicFramePr>
          <p:nvPr>
            <p:ph idx="1"/>
            <p:extLst>
              <p:ext uri="{D42A27DB-BD31-4B8C-83A1-F6EECF244321}">
                <p14:modId xmlns:p14="http://schemas.microsoft.com/office/powerpoint/2010/main" val="1663278884"/>
              </p:ext>
            </p:extLst>
          </p:nvPr>
        </p:nvGraphicFramePr>
        <p:xfrm>
          <a:off x="275303" y="501929"/>
          <a:ext cx="8640000" cy="6299916"/>
        </p:xfrm>
        <a:graphic>
          <a:graphicData uri="http://schemas.openxmlformats.org/drawingml/2006/table">
            <a:tbl>
              <a:tblPr>
                <a:tableStyleId>{10A1B5D5-9B99-4C35-A422-299274C87663}</a:tableStyleId>
              </a:tblPr>
              <a:tblGrid>
                <a:gridCol w="1728000">
                  <a:extLst>
                    <a:ext uri="{9D8B030D-6E8A-4147-A177-3AD203B41FA5}">
                      <a16:colId xmlns:a16="http://schemas.microsoft.com/office/drawing/2014/main" val="1014684564"/>
                    </a:ext>
                  </a:extLst>
                </a:gridCol>
                <a:gridCol w="1728000">
                  <a:extLst>
                    <a:ext uri="{9D8B030D-6E8A-4147-A177-3AD203B41FA5}">
                      <a16:colId xmlns:a16="http://schemas.microsoft.com/office/drawing/2014/main" val="3688968756"/>
                    </a:ext>
                  </a:extLst>
                </a:gridCol>
                <a:gridCol w="1728000">
                  <a:extLst>
                    <a:ext uri="{9D8B030D-6E8A-4147-A177-3AD203B41FA5}">
                      <a16:colId xmlns:a16="http://schemas.microsoft.com/office/drawing/2014/main" val="3475948970"/>
                    </a:ext>
                  </a:extLst>
                </a:gridCol>
                <a:gridCol w="1728000">
                  <a:extLst>
                    <a:ext uri="{9D8B030D-6E8A-4147-A177-3AD203B41FA5}">
                      <a16:colId xmlns:a16="http://schemas.microsoft.com/office/drawing/2014/main" val="3921888062"/>
                    </a:ext>
                  </a:extLst>
                </a:gridCol>
                <a:gridCol w="1728000">
                  <a:extLst>
                    <a:ext uri="{9D8B030D-6E8A-4147-A177-3AD203B41FA5}">
                      <a16:colId xmlns:a16="http://schemas.microsoft.com/office/drawing/2014/main" val="2042313941"/>
                    </a:ext>
                  </a:extLst>
                </a:gridCol>
              </a:tblGrid>
              <a:tr h="243456">
                <a:tc>
                  <a:txBody>
                    <a:bodyPr/>
                    <a:lstStyle/>
                    <a:p>
                      <a:pPr algn="just">
                        <a:buNone/>
                      </a:pPr>
                      <a:r>
                        <a:rPr lang="en-US" sz="1000" b="1" dirty="0"/>
                        <a:t>Category</a:t>
                      </a:r>
                    </a:p>
                  </a:txBody>
                  <a:tcPr anchor="ctr"/>
                </a:tc>
                <a:tc>
                  <a:txBody>
                    <a:bodyPr/>
                    <a:lstStyle/>
                    <a:p>
                      <a:pPr algn="just">
                        <a:buNone/>
                      </a:pPr>
                      <a:r>
                        <a:rPr lang="en-US" sz="1000" b="1" dirty="0"/>
                        <a:t>Variable</a:t>
                      </a:r>
                    </a:p>
                  </a:txBody>
                  <a:tcPr anchor="ctr"/>
                </a:tc>
                <a:tc>
                  <a:txBody>
                    <a:bodyPr/>
                    <a:lstStyle/>
                    <a:p>
                      <a:pPr algn="just">
                        <a:buNone/>
                      </a:pPr>
                      <a:r>
                        <a:rPr lang="en-US" sz="1000" b="1" dirty="0"/>
                        <a:t>Description</a:t>
                      </a:r>
                    </a:p>
                  </a:txBody>
                  <a:tcPr anchor="ctr"/>
                </a:tc>
                <a:tc>
                  <a:txBody>
                    <a:bodyPr/>
                    <a:lstStyle/>
                    <a:p>
                      <a:pPr algn="just">
                        <a:buNone/>
                      </a:pPr>
                      <a:r>
                        <a:rPr lang="en-US" sz="1000" b="1" dirty="0"/>
                        <a:t>Data Type</a:t>
                      </a:r>
                    </a:p>
                  </a:txBody>
                  <a:tcPr anchor="ctr"/>
                </a:tc>
                <a:tc>
                  <a:txBody>
                    <a:bodyPr/>
                    <a:lstStyle/>
                    <a:p>
                      <a:pPr algn="just">
                        <a:buNone/>
                      </a:pPr>
                      <a:r>
                        <a:rPr lang="en-US" sz="1000" b="1" dirty="0"/>
                        <a:t>Range / Values</a:t>
                      </a:r>
                    </a:p>
                  </a:txBody>
                  <a:tcPr anchor="ctr"/>
                </a:tc>
                <a:extLst>
                  <a:ext uri="{0D108BD9-81ED-4DB2-BD59-A6C34878D82A}">
                    <a16:rowId xmlns:a16="http://schemas.microsoft.com/office/drawing/2014/main" val="3902482557"/>
                  </a:ext>
                </a:extLst>
              </a:tr>
              <a:tr h="243456">
                <a:tc gridSpan="5">
                  <a:txBody>
                    <a:bodyPr/>
                    <a:lstStyle/>
                    <a:p>
                      <a:pPr algn="just">
                        <a:buNone/>
                      </a:pPr>
                      <a:r>
                        <a:rPr lang="en-US" sz="1000" b="1" dirty="0"/>
                        <a:t>Features (X)/predictors/ independent </a:t>
                      </a:r>
                      <a:r>
                        <a:rPr lang="en-US" sz="1000" b="1" dirty="0" err="1"/>
                        <a:t>varibales</a:t>
                      </a:r>
                      <a:endParaRPr lang="en-US" sz="1000" b="1" dirty="0"/>
                    </a:p>
                  </a:txBody>
                  <a:tcPr anchor="ctr"/>
                </a:tc>
                <a:tc hMerge="1">
                  <a:txBody>
                    <a:bodyPr/>
                    <a:lstStyle/>
                    <a:p>
                      <a:pPr algn="just">
                        <a:buNone/>
                      </a:pPr>
                      <a:endParaRPr lang="en-US" sz="1000" b="1" dirty="0"/>
                    </a:p>
                  </a:txBody>
                  <a:tcPr anchor="ctr"/>
                </a:tc>
                <a:tc hMerge="1">
                  <a:txBody>
                    <a:bodyPr/>
                    <a:lstStyle/>
                    <a:p>
                      <a:pPr algn="just">
                        <a:buNone/>
                      </a:pPr>
                      <a:endParaRPr lang="en-US" sz="1000" b="1" dirty="0"/>
                    </a:p>
                  </a:txBody>
                  <a:tcPr anchor="ctr"/>
                </a:tc>
                <a:tc hMerge="1">
                  <a:txBody>
                    <a:bodyPr/>
                    <a:lstStyle/>
                    <a:p>
                      <a:pPr algn="just">
                        <a:buNone/>
                      </a:pPr>
                      <a:endParaRPr lang="en-US" sz="1000" b="1" dirty="0"/>
                    </a:p>
                  </a:txBody>
                  <a:tcPr anchor="ctr"/>
                </a:tc>
                <a:tc hMerge="1">
                  <a:txBody>
                    <a:bodyPr/>
                    <a:lstStyle/>
                    <a:p>
                      <a:pPr algn="just">
                        <a:buNone/>
                      </a:pPr>
                      <a:endParaRPr lang="en-US" sz="1000" b="1" dirty="0"/>
                    </a:p>
                  </a:txBody>
                  <a:tcPr anchor="ctr"/>
                </a:tc>
                <a:extLst>
                  <a:ext uri="{0D108BD9-81ED-4DB2-BD59-A6C34878D82A}">
                    <a16:rowId xmlns:a16="http://schemas.microsoft.com/office/drawing/2014/main" val="3035260158"/>
                  </a:ext>
                </a:extLst>
              </a:tr>
              <a:tr h="504274">
                <a:tc>
                  <a:txBody>
                    <a:bodyPr/>
                    <a:lstStyle/>
                    <a:p>
                      <a:pPr algn="just">
                        <a:buNone/>
                      </a:pPr>
                      <a:r>
                        <a:rPr lang="en-US" sz="1000" b="0" dirty="0"/>
                        <a:t>Identifier</a:t>
                      </a:r>
                    </a:p>
                  </a:txBody>
                  <a:tcPr anchor="ctr"/>
                </a:tc>
                <a:tc>
                  <a:txBody>
                    <a:bodyPr/>
                    <a:lstStyle/>
                    <a:p>
                      <a:pPr algn="just">
                        <a:buNone/>
                      </a:pPr>
                      <a:r>
                        <a:rPr lang="en-US" sz="1000" dirty="0" err="1"/>
                        <a:t>patient_id</a:t>
                      </a:r>
                      <a:endParaRPr lang="en-US" sz="1000" dirty="0"/>
                    </a:p>
                  </a:txBody>
                  <a:tcPr anchor="ctr"/>
                </a:tc>
                <a:tc>
                  <a:txBody>
                    <a:bodyPr/>
                    <a:lstStyle/>
                    <a:p>
                      <a:pPr algn="just">
                        <a:buNone/>
                      </a:pPr>
                      <a:r>
                        <a:rPr lang="en-US" sz="1000" dirty="0"/>
                        <a:t>Unique identifier for each patient</a:t>
                      </a:r>
                    </a:p>
                  </a:txBody>
                  <a:tcPr anchor="ctr"/>
                </a:tc>
                <a:tc>
                  <a:txBody>
                    <a:bodyPr/>
                    <a:lstStyle/>
                    <a:p>
                      <a:pPr algn="just">
                        <a:buNone/>
                      </a:pPr>
                      <a:r>
                        <a:rPr lang="en-US" sz="1000" dirty="0"/>
                        <a:t>String</a:t>
                      </a:r>
                    </a:p>
                  </a:txBody>
                  <a:tcPr anchor="ctr"/>
                </a:tc>
                <a:tc>
                  <a:txBody>
                    <a:bodyPr/>
                    <a:lstStyle/>
                    <a:p>
                      <a:pPr algn="just">
                        <a:buNone/>
                      </a:pPr>
                      <a:r>
                        <a:rPr lang="en-US" sz="1000" dirty="0"/>
                        <a:t>e.g., PT00085957</a:t>
                      </a:r>
                    </a:p>
                  </a:txBody>
                  <a:tcPr anchor="ctr"/>
                </a:tc>
                <a:extLst>
                  <a:ext uri="{0D108BD9-81ED-4DB2-BD59-A6C34878D82A}">
                    <a16:rowId xmlns:a16="http://schemas.microsoft.com/office/drawing/2014/main" val="2934564284"/>
                  </a:ext>
                </a:extLst>
              </a:tr>
              <a:tr h="243456">
                <a:tc rowSpan="2">
                  <a:txBody>
                    <a:bodyPr/>
                    <a:lstStyle/>
                    <a:p>
                      <a:pPr algn="just">
                        <a:buNone/>
                      </a:pPr>
                      <a:r>
                        <a:rPr lang="en-US" sz="1000" b="0" dirty="0"/>
                        <a:t>Demographic</a:t>
                      </a:r>
                    </a:p>
                  </a:txBody>
                  <a:tcPr anchor="ctr"/>
                </a:tc>
                <a:tc>
                  <a:txBody>
                    <a:bodyPr/>
                    <a:lstStyle/>
                    <a:p>
                      <a:pPr algn="just">
                        <a:buNone/>
                      </a:pPr>
                      <a:r>
                        <a:rPr lang="en-US" sz="1000" dirty="0"/>
                        <a:t>gender</a:t>
                      </a:r>
                    </a:p>
                  </a:txBody>
                  <a:tcPr anchor="ctr"/>
                </a:tc>
                <a:tc>
                  <a:txBody>
                    <a:bodyPr/>
                    <a:lstStyle/>
                    <a:p>
                      <a:pPr algn="just">
                        <a:buNone/>
                      </a:pPr>
                      <a:r>
                        <a:rPr lang="en-US" sz="1000" dirty="0"/>
                        <a:t>Biological sex of the patient</a:t>
                      </a:r>
                    </a:p>
                  </a:txBody>
                  <a:tcPr anchor="ctr"/>
                </a:tc>
                <a:tc>
                  <a:txBody>
                    <a:bodyPr/>
                    <a:lstStyle/>
                    <a:p>
                      <a:pPr algn="just">
                        <a:buNone/>
                      </a:pPr>
                      <a:r>
                        <a:rPr lang="en-US" sz="1000"/>
                        <a:t>String</a:t>
                      </a:r>
                    </a:p>
                  </a:txBody>
                  <a:tcPr anchor="ctr"/>
                </a:tc>
                <a:tc>
                  <a:txBody>
                    <a:bodyPr/>
                    <a:lstStyle/>
                    <a:p>
                      <a:pPr algn="just">
                        <a:buNone/>
                      </a:pPr>
                      <a:r>
                        <a:rPr lang="en-US" sz="1000"/>
                        <a:t>F, M</a:t>
                      </a:r>
                    </a:p>
                  </a:txBody>
                  <a:tcPr anchor="ctr"/>
                </a:tc>
                <a:extLst>
                  <a:ext uri="{0D108BD9-81ED-4DB2-BD59-A6C34878D82A}">
                    <a16:rowId xmlns:a16="http://schemas.microsoft.com/office/drawing/2014/main" val="944507847"/>
                  </a:ext>
                </a:extLst>
              </a:tr>
              <a:tr h="243456">
                <a:tc vMerge="1">
                  <a:txBody>
                    <a:bodyPr/>
                    <a:lstStyle/>
                    <a:p>
                      <a:pPr algn="just">
                        <a:buNone/>
                      </a:pPr>
                      <a:endParaRPr lang="en-UG" sz="1000" dirty="0"/>
                    </a:p>
                  </a:txBody>
                  <a:tcPr anchor="ctr"/>
                </a:tc>
                <a:tc>
                  <a:txBody>
                    <a:bodyPr/>
                    <a:lstStyle/>
                    <a:p>
                      <a:pPr algn="just">
                        <a:buNone/>
                      </a:pPr>
                      <a:r>
                        <a:rPr lang="en-US" sz="1000" dirty="0"/>
                        <a:t>age</a:t>
                      </a:r>
                    </a:p>
                  </a:txBody>
                  <a:tcPr anchor="ctr"/>
                </a:tc>
                <a:tc>
                  <a:txBody>
                    <a:bodyPr/>
                    <a:lstStyle/>
                    <a:p>
                      <a:pPr algn="just">
                        <a:buNone/>
                      </a:pPr>
                      <a:r>
                        <a:rPr lang="en-US" sz="1000"/>
                        <a:t>Age in years</a:t>
                      </a:r>
                    </a:p>
                  </a:txBody>
                  <a:tcPr anchor="ctr"/>
                </a:tc>
                <a:tc>
                  <a:txBody>
                    <a:bodyPr/>
                    <a:lstStyle/>
                    <a:p>
                      <a:pPr algn="just">
                        <a:buNone/>
                      </a:pPr>
                      <a:r>
                        <a:rPr lang="en-US" sz="1000"/>
                        <a:t>Integer</a:t>
                      </a:r>
                    </a:p>
                  </a:txBody>
                  <a:tcPr anchor="ctr"/>
                </a:tc>
                <a:tc>
                  <a:txBody>
                    <a:bodyPr/>
                    <a:lstStyle/>
                    <a:p>
                      <a:pPr algn="just">
                        <a:buNone/>
                      </a:pPr>
                      <a:r>
                        <a:rPr lang="en-UG" sz="1000"/>
                        <a:t>18–90</a:t>
                      </a:r>
                    </a:p>
                  </a:txBody>
                  <a:tcPr anchor="ctr"/>
                </a:tc>
                <a:extLst>
                  <a:ext uri="{0D108BD9-81ED-4DB2-BD59-A6C34878D82A}">
                    <a16:rowId xmlns:a16="http://schemas.microsoft.com/office/drawing/2014/main" val="86781777"/>
                  </a:ext>
                </a:extLst>
              </a:tr>
              <a:tr h="243456">
                <a:tc>
                  <a:txBody>
                    <a:bodyPr/>
                    <a:lstStyle/>
                    <a:p>
                      <a:pPr algn="just">
                        <a:buNone/>
                      </a:pPr>
                      <a:r>
                        <a:rPr lang="en-US" sz="1000" b="0" dirty="0"/>
                        <a:t>Anthropometric</a:t>
                      </a:r>
                    </a:p>
                  </a:txBody>
                  <a:tcPr anchor="ctr"/>
                </a:tc>
                <a:tc>
                  <a:txBody>
                    <a:bodyPr/>
                    <a:lstStyle/>
                    <a:p>
                      <a:pPr algn="just">
                        <a:buNone/>
                      </a:pPr>
                      <a:r>
                        <a:rPr lang="en-US" sz="1000" dirty="0" err="1"/>
                        <a:t>body_mass_index</a:t>
                      </a:r>
                      <a:endParaRPr lang="en-US" sz="1000" dirty="0"/>
                    </a:p>
                  </a:txBody>
                  <a:tcPr anchor="ctr"/>
                </a:tc>
                <a:tc>
                  <a:txBody>
                    <a:bodyPr/>
                    <a:lstStyle/>
                    <a:p>
                      <a:pPr algn="just">
                        <a:buNone/>
                      </a:pPr>
                      <a:r>
                        <a:rPr lang="en-US" sz="1000" dirty="0"/>
                        <a:t>BMI (weight/height²)</a:t>
                      </a:r>
                    </a:p>
                  </a:txBody>
                  <a:tcPr anchor="ctr"/>
                </a:tc>
                <a:tc>
                  <a:txBody>
                    <a:bodyPr/>
                    <a:lstStyle/>
                    <a:p>
                      <a:pPr algn="just">
                        <a:buNone/>
                      </a:pPr>
                      <a:r>
                        <a:rPr lang="en-US" sz="1000"/>
                        <a:t>Float</a:t>
                      </a:r>
                    </a:p>
                  </a:txBody>
                  <a:tcPr anchor="ctr"/>
                </a:tc>
                <a:tc>
                  <a:txBody>
                    <a:bodyPr/>
                    <a:lstStyle/>
                    <a:p>
                      <a:pPr algn="just">
                        <a:buNone/>
                      </a:pPr>
                      <a:r>
                        <a:rPr lang="en-UG" sz="1000" dirty="0"/>
                        <a:t>15.0–50.0</a:t>
                      </a:r>
                    </a:p>
                  </a:txBody>
                  <a:tcPr anchor="ctr"/>
                </a:tc>
                <a:extLst>
                  <a:ext uri="{0D108BD9-81ED-4DB2-BD59-A6C34878D82A}">
                    <a16:rowId xmlns:a16="http://schemas.microsoft.com/office/drawing/2014/main" val="3493576552"/>
                  </a:ext>
                </a:extLst>
              </a:tr>
              <a:tr h="395617">
                <a:tc>
                  <a:txBody>
                    <a:bodyPr/>
                    <a:lstStyle/>
                    <a:p>
                      <a:pPr algn="just">
                        <a:buNone/>
                      </a:pPr>
                      <a:r>
                        <a:rPr lang="en-US" sz="1000" b="0" dirty="0"/>
                        <a:t>Lifestyle Risk Factor</a:t>
                      </a:r>
                    </a:p>
                  </a:txBody>
                  <a:tcPr anchor="ctr"/>
                </a:tc>
                <a:tc>
                  <a:txBody>
                    <a:bodyPr/>
                    <a:lstStyle/>
                    <a:p>
                      <a:pPr algn="just">
                        <a:buNone/>
                      </a:pPr>
                      <a:r>
                        <a:rPr lang="en-US" sz="1000" dirty="0"/>
                        <a:t>smoker</a:t>
                      </a:r>
                    </a:p>
                  </a:txBody>
                  <a:tcPr anchor="ctr"/>
                </a:tc>
                <a:tc>
                  <a:txBody>
                    <a:bodyPr/>
                    <a:lstStyle/>
                    <a:p>
                      <a:pPr algn="just">
                        <a:buNone/>
                      </a:pPr>
                      <a:r>
                        <a:rPr lang="en-US" sz="1000" dirty="0"/>
                        <a:t>Whether the patient is a smoker</a:t>
                      </a:r>
                    </a:p>
                  </a:txBody>
                  <a:tcPr anchor="ctr"/>
                </a:tc>
                <a:tc>
                  <a:txBody>
                    <a:bodyPr/>
                    <a:lstStyle/>
                    <a:p>
                      <a:pPr algn="just">
                        <a:buNone/>
                      </a:pPr>
                      <a:r>
                        <a:rPr lang="en-US" sz="1000"/>
                        <a:t>Binary</a:t>
                      </a:r>
                    </a:p>
                  </a:txBody>
                  <a:tcPr anchor="ctr"/>
                </a:tc>
                <a:tc>
                  <a:txBody>
                    <a:bodyPr/>
                    <a:lstStyle/>
                    <a:p>
                      <a:pPr algn="just">
                        <a:buNone/>
                      </a:pPr>
                      <a:r>
                        <a:rPr lang="en-US" sz="1000"/>
                        <a:t>0 = No, 1 = Yes</a:t>
                      </a:r>
                    </a:p>
                  </a:txBody>
                  <a:tcPr anchor="ctr"/>
                </a:tc>
                <a:extLst>
                  <a:ext uri="{0D108BD9-81ED-4DB2-BD59-A6C34878D82A}">
                    <a16:rowId xmlns:a16="http://schemas.microsoft.com/office/drawing/2014/main" val="2373247524"/>
                  </a:ext>
                </a:extLst>
              </a:tr>
              <a:tr h="395617">
                <a:tc rowSpan="3">
                  <a:txBody>
                    <a:bodyPr/>
                    <a:lstStyle/>
                    <a:p>
                      <a:pPr algn="just">
                        <a:buNone/>
                      </a:pPr>
                      <a:r>
                        <a:rPr lang="en-US" sz="1000" b="0" dirty="0"/>
                        <a:t>Clinical Measurements</a:t>
                      </a:r>
                    </a:p>
                  </a:txBody>
                  <a:tcPr anchor="ctr"/>
                </a:tc>
                <a:tc>
                  <a:txBody>
                    <a:bodyPr/>
                    <a:lstStyle/>
                    <a:p>
                      <a:pPr algn="just">
                        <a:buNone/>
                      </a:pPr>
                      <a:r>
                        <a:rPr lang="en-US" sz="1000" dirty="0" err="1"/>
                        <a:t>systolic_blood_pressure</a:t>
                      </a:r>
                      <a:endParaRPr lang="en-US" sz="1000" dirty="0"/>
                    </a:p>
                  </a:txBody>
                  <a:tcPr anchor="ctr"/>
                </a:tc>
                <a:tc>
                  <a:txBody>
                    <a:bodyPr/>
                    <a:lstStyle/>
                    <a:p>
                      <a:pPr algn="just">
                        <a:buNone/>
                      </a:pPr>
                      <a:r>
                        <a:rPr lang="en-US" sz="1000" dirty="0"/>
                        <a:t>Systolic blood pressure (mmHg)</a:t>
                      </a:r>
                    </a:p>
                  </a:txBody>
                  <a:tcPr anchor="ctr"/>
                </a:tc>
                <a:tc>
                  <a:txBody>
                    <a:bodyPr/>
                    <a:lstStyle/>
                    <a:p>
                      <a:pPr algn="just">
                        <a:buNone/>
                      </a:pPr>
                      <a:r>
                        <a:rPr lang="en-US" sz="1000"/>
                        <a:t>Float</a:t>
                      </a:r>
                    </a:p>
                  </a:txBody>
                  <a:tcPr anchor="ctr"/>
                </a:tc>
                <a:tc>
                  <a:txBody>
                    <a:bodyPr/>
                    <a:lstStyle/>
                    <a:p>
                      <a:pPr algn="just">
                        <a:buNone/>
                      </a:pPr>
                      <a:r>
                        <a:rPr lang="en-UG" sz="1000"/>
                        <a:t>90–200</a:t>
                      </a:r>
                    </a:p>
                  </a:txBody>
                  <a:tcPr anchor="ctr"/>
                </a:tc>
                <a:extLst>
                  <a:ext uri="{0D108BD9-81ED-4DB2-BD59-A6C34878D82A}">
                    <a16:rowId xmlns:a16="http://schemas.microsoft.com/office/drawing/2014/main" val="1184280108"/>
                  </a:ext>
                </a:extLst>
              </a:tr>
              <a:tr h="395617">
                <a:tc vMerge="1">
                  <a:txBody>
                    <a:bodyPr/>
                    <a:lstStyle/>
                    <a:p>
                      <a:pPr algn="just">
                        <a:buNone/>
                      </a:pPr>
                      <a:endParaRPr lang="en-UG" sz="1000" dirty="0"/>
                    </a:p>
                  </a:txBody>
                  <a:tcPr anchor="ctr"/>
                </a:tc>
                <a:tc>
                  <a:txBody>
                    <a:bodyPr/>
                    <a:lstStyle/>
                    <a:p>
                      <a:pPr algn="just">
                        <a:buNone/>
                      </a:pPr>
                      <a:r>
                        <a:rPr lang="en-US" sz="1000" dirty="0" err="1"/>
                        <a:t>hypertension_treated</a:t>
                      </a:r>
                      <a:endParaRPr lang="en-US" sz="1000" dirty="0"/>
                    </a:p>
                  </a:txBody>
                  <a:tcPr anchor="ctr"/>
                </a:tc>
                <a:tc>
                  <a:txBody>
                    <a:bodyPr/>
                    <a:lstStyle/>
                    <a:p>
                      <a:pPr algn="just">
                        <a:buNone/>
                      </a:pPr>
                      <a:r>
                        <a:rPr lang="en-US" sz="1000" dirty="0"/>
                        <a:t>Receives treatment for hypertension</a:t>
                      </a:r>
                    </a:p>
                  </a:txBody>
                  <a:tcPr anchor="ctr"/>
                </a:tc>
                <a:tc>
                  <a:txBody>
                    <a:bodyPr/>
                    <a:lstStyle/>
                    <a:p>
                      <a:pPr algn="just">
                        <a:buNone/>
                      </a:pPr>
                      <a:r>
                        <a:rPr lang="en-US" sz="1000"/>
                        <a:t>Binary</a:t>
                      </a:r>
                    </a:p>
                  </a:txBody>
                  <a:tcPr anchor="ctr"/>
                </a:tc>
                <a:tc>
                  <a:txBody>
                    <a:bodyPr/>
                    <a:lstStyle/>
                    <a:p>
                      <a:pPr algn="just">
                        <a:buNone/>
                      </a:pPr>
                      <a:r>
                        <a:rPr lang="en-US" sz="1000"/>
                        <a:t>0 = No, 1 = Yes</a:t>
                      </a:r>
                    </a:p>
                  </a:txBody>
                  <a:tcPr anchor="ctr"/>
                </a:tc>
                <a:extLst>
                  <a:ext uri="{0D108BD9-81ED-4DB2-BD59-A6C34878D82A}">
                    <a16:rowId xmlns:a16="http://schemas.microsoft.com/office/drawing/2014/main" val="2450819184"/>
                  </a:ext>
                </a:extLst>
              </a:tr>
              <a:tr h="395617">
                <a:tc vMerge="1">
                  <a:txBody>
                    <a:bodyPr/>
                    <a:lstStyle/>
                    <a:p>
                      <a:pPr algn="just">
                        <a:buNone/>
                      </a:pPr>
                      <a:endParaRPr lang="en-UG" sz="1000" dirty="0"/>
                    </a:p>
                  </a:txBody>
                  <a:tcPr anchor="ctr"/>
                </a:tc>
                <a:tc>
                  <a:txBody>
                    <a:bodyPr/>
                    <a:lstStyle/>
                    <a:p>
                      <a:pPr algn="just">
                        <a:buNone/>
                      </a:pPr>
                      <a:r>
                        <a:rPr lang="en-US" sz="1000" dirty="0"/>
                        <a:t>forced_expiratory_volume_1</a:t>
                      </a:r>
                    </a:p>
                  </a:txBody>
                  <a:tcPr anchor="ctr"/>
                </a:tc>
                <a:tc>
                  <a:txBody>
                    <a:bodyPr/>
                    <a:lstStyle/>
                    <a:p>
                      <a:pPr algn="just">
                        <a:buNone/>
                      </a:pPr>
                      <a:r>
                        <a:rPr lang="en-US" sz="1000" dirty="0"/>
                        <a:t>Lung function (FEV1 % predicted)</a:t>
                      </a:r>
                    </a:p>
                  </a:txBody>
                  <a:tcPr anchor="ctr"/>
                </a:tc>
                <a:tc>
                  <a:txBody>
                    <a:bodyPr/>
                    <a:lstStyle/>
                    <a:p>
                      <a:pPr algn="just">
                        <a:buNone/>
                      </a:pPr>
                      <a:r>
                        <a:rPr lang="en-US" sz="1000" dirty="0"/>
                        <a:t>Float</a:t>
                      </a:r>
                    </a:p>
                  </a:txBody>
                  <a:tcPr anchor="ctr"/>
                </a:tc>
                <a:tc>
                  <a:txBody>
                    <a:bodyPr/>
                    <a:lstStyle/>
                    <a:p>
                      <a:pPr algn="just">
                        <a:buNone/>
                      </a:pPr>
                      <a:r>
                        <a:rPr lang="en-US" sz="1000" dirty="0"/>
                        <a:t>20.0–110.0 </a:t>
                      </a:r>
                    </a:p>
                  </a:txBody>
                  <a:tcPr anchor="ctr"/>
                </a:tc>
                <a:extLst>
                  <a:ext uri="{0D108BD9-81ED-4DB2-BD59-A6C34878D82A}">
                    <a16:rowId xmlns:a16="http://schemas.microsoft.com/office/drawing/2014/main" val="1338405913"/>
                  </a:ext>
                </a:extLst>
              </a:tr>
              <a:tr h="395617">
                <a:tc>
                  <a:txBody>
                    <a:bodyPr/>
                    <a:lstStyle/>
                    <a:p>
                      <a:pPr algn="just">
                        <a:buNone/>
                      </a:pPr>
                      <a:r>
                        <a:rPr lang="en-US" sz="1000" b="0" dirty="0"/>
                        <a:t>Family History</a:t>
                      </a:r>
                    </a:p>
                  </a:txBody>
                  <a:tcPr anchor="ctr"/>
                </a:tc>
                <a:tc>
                  <a:txBody>
                    <a:bodyPr/>
                    <a:lstStyle/>
                    <a:p>
                      <a:pPr algn="just">
                        <a:buNone/>
                      </a:pPr>
                      <a:r>
                        <a:rPr lang="en-US" sz="1000" dirty="0" err="1"/>
                        <a:t>family_history_of_cardiovascular_disease</a:t>
                      </a:r>
                      <a:endParaRPr lang="en-US" sz="1000" dirty="0"/>
                    </a:p>
                  </a:txBody>
                  <a:tcPr anchor="ctr"/>
                </a:tc>
                <a:tc>
                  <a:txBody>
                    <a:bodyPr/>
                    <a:lstStyle/>
                    <a:p>
                      <a:pPr algn="just">
                        <a:buNone/>
                      </a:pPr>
                      <a:r>
                        <a:rPr lang="en-US" sz="1000" dirty="0"/>
                        <a:t>Family history of CVD</a:t>
                      </a:r>
                    </a:p>
                  </a:txBody>
                  <a:tcPr anchor="ctr"/>
                </a:tc>
                <a:tc>
                  <a:txBody>
                    <a:bodyPr/>
                    <a:lstStyle/>
                    <a:p>
                      <a:pPr algn="just">
                        <a:buNone/>
                      </a:pPr>
                      <a:r>
                        <a:rPr lang="en-US" sz="1000"/>
                        <a:t>Binary</a:t>
                      </a:r>
                    </a:p>
                  </a:txBody>
                  <a:tcPr anchor="ctr"/>
                </a:tc>
                <a:tc>
                  <a:txBody>
                    <a:bodyPr/>
                    <a:lstStyle/>
                    <a:p>
                      <a:pPr algn="just">
                        <a:buNone/>
                      </a:pPr>
                      <a:r>
                        <a:rPr lang="en-US" sz="1000"/>
                        <a:t>0 = No, 1 = Yes</a:t>
                      </a:r>
                    </a:p>
                  </a:txBody>
                  <a:tcPr anchor="ctr"/>
                </a:tc>
                <a:extLst>
                  <a:ext uri="{0D108BD9-81ED-4DB2-BD59-A6C34878D82A}">
                    <a16:rowId xmlns:a16="http://schemas.microsoft.com/office/drawing/2014/main" val="3013863036"/>
                  </a:ext>
                </a:extLst>
              </a:tr>
              <a:tr h="270420">
                <a:tc rowSpan="5">
                  <a:txBody>
                    <a:bodyPr/>
                    <a:lstStyle/>
                    <a:p>
                      <a:pPr algn="just">
                        <a:buNone/>
                      </a:pPr>
                      <a:r>
                        <a:rPr lang="en-US" sz="1000" b="0" dirty="0"/>
                        <a:t>Comorbidities</a:t>
                      </a:r>
                    </a:p>
                  </a:txBody>
                  <a:tcPr anchor="ctr"/>
                </a:tc>
                <a:tc>
                  <a:txBody>
                    <a:bodyPr/>
                    <a:lstStyle/>
                    <a:p>
                      <a:pPr algn="just">
                        <a:buNone/>
                      </a:pPr>
                      <a:r>
                        <a:rPr lang="en-US" sz="1000" dirty="0" err="1"/>
                        <a:t>atrial_fibrillation</a:t>
                      </a:r>
                      <a:endParaRPr lang="en-US" sz="1000" dirty="0"/>
                    </a:p>
                  </a:txBody>
                  <a:tcPr anchor="ctr"/>
                </a:tc>
                <a:tc>
                  <a:txBody>
                    <a:bodyPr/>
                    <a:lstStyle/>
                    <a:p>
                      <a:pPr algn="just">
                        <a:buNone/>
                      </a:pPr>
                      <a:r>
                        <a:rPr lang="en-US" sz="1000"/>
                        <a:t>Presence of atrial fibrillation</a:t>
                      </a:r>
                    </a:p>
                  </a:txBody>
                  <a:tcPr anchor="ctr"/>
                </a:tc>
                <a:tc>
                  <a:txBody>
                    <a:bodyPr/>
                    <a:lstStyle/>
                    <a:p>
                      <a:pPr algn="just">
                        <a:buNone/>
                      </a:pPr>
                      <a:r>
                        <a:rPr lang="en-US" sz="1000"/>
                        <a:t>Binary</a:t>
                      </a:r>
                    </a:p>
                  </a:txBody>
                  <a:tcPr anchor="ctr"/>
                </a:tc>
                <a:tc>
                  <a:txBody>
                    <a:bodyPr/>
                    <a:lstStyle/>
                    <a:p>
                      <a:pPr algn="just">
                        <a:buNone/>
                      </a:pPr>
                      <a:r>
                        <a:rPr lang="en-US" sz="1000"/>
                        <a:t>0 = No, 1 = Yes</a:t>
                      </a:r>
                    </a:p>
                  </a:txBody>
                  <a:tcPr anchor="ctr"/>
                </a:tc>
                <a:extLst>
                  <a:ext uri="{0D108BD9-81ED-4DB2-BD59-A6C34878D82A}">
                    <a16:rowId xmlns:a16="http://schemas.microsoft.com/office/drawing/2014/main" val="1007859134"/>
                  </a:ext>
                </a:extLst>
              </a:tr>
              <a:tr h="243456">
                <a:tc vMerge="1">
                  <a:txBody>
                    <a:bodyPr/>
                    <a:lstStyle/>
                    <a:p>
                      <a:pPr algn="just">
                        <a:buNone/>
                      </a:pPr>
                      <a:endParaRPr lang="en-UG" sz="1000" dirty="0"/>
                    </a:p>
                  </a:txBody>
                  <a:tcPr anchor="ctr">
                    <a:lnL>
                      <a:noFill/>
                    </a:lnL>
                    <a:lnR>
                      <a:noFill/>
                    </a:lnR>
                    <a:lnT>
                      <a:noFill/>
                    </a:lnT>
                    <a:lnB>
                      <a:noFill/>
                    </a:lnB>
                    <a:noFill/>
                  </a:tcPr>
                </a:tc>
                <a:tc>
                  <a:txBody>
                    <a:bodyPr/>
                    <a:lstStyle/>
                    <a:p>
                      <a:pPr algn="just">
                        <a:buNone/>
                      </a:pPr>
                      <a:r>
                        <a:rPr lang="en-US" sz="1000"/>
                        <a:t>chronic_kidney_disease</a:t>
                      </a:r>
                    </a:p>
                  </a:txBody>
                  <a:tcPr anchor="ctr"/>
                </a:tc>
                <a:tc>
                  <a:txBody>
                    <a:bodyPr/>
                    <a:lstStyle/>
                    <a:p>
                      <a:pPr algn="just">
                        <a:buNone/>
                      </a:pPr>
                      <a:r>
                        <a:rPr lang="en-US" sz="1000" dirty="0"/>
                        <a:t>Diagnosis of CKD</a:t>
                      </a:r>
                    </a:p>
                  </a:txBody>
                  <a:tcPr anchor="ctr"/>
                </a:tc>
                <a:tc>
                  <a:txBody>
                    <a:bodyPr/>
                    <a:lstStyle/>
                    <a:p>
                      <a:pPr algn="just">
                        <a:buNone/>
                      </a:pPr>
                      <a:r>
                        <a:rPr lang="en-US" sz="1000"/>
                        <a:t>Binary</a:t>
                      </a:r>
                    </a:p>
                  </a:txBody>
                  <a:tcPr anchor="ctr"/>
                </a:tc>
                <a:tc>
                  <a:txBody>
                    <a:bodyPr/>
                    <a:lstStyle/>
                    <a:p>
                      <a:pPr algn="just">
                        <a:buNone/>
                      </a:pPr>
                      <a:r>
                        <a:rPr lang="en-US" sz="1000"/>
                        <a:t>0 = No, 1 = Yes</a:t>
                      </a:r>
                    </a:p>
                  </a:txBody>
                  <a:tcPr anchor="ctr"/>
                </a:tc>
                <a:extLst>
                  <a:ext uri="{0D108BD9-81ED-4DB2-BD59-A6C34878D82A}">
                    <a16:rowId xmlns:a16="http://schemas.microsoft.com/office/drawing/2014/main" val="2513917128"/>
                  </a:ext>
                </a:extLst>
              </a:tr>
              <a:tr h="395617">
                <a:tc vMerge="1">
                  <a:txBody>
                    <a:bodyPr/>
                    <a:lstStyle/>
                    <a:p>
                      <a:pPr algn="just">
                        <a:buNone/>
                      </a:pPr>
                      <a:endParaRPr lang="en-UG" sz="1000" dirty="0"/>
                    </a:p>
                  </a:txBody>
                  <a:tcPr anchor="ctr">
                    <a:lnL>
                      <a:noFill/>
                    </a:lnL>
                    <a:lnR>
                      <a:noFill/>
                    </a:lnR>
                    <a:lnT>
                      <a:noFill/>
                    </a:lnT>
                    <a:lnB>
                      <a:noFill/>
                    </a:lnB>
                    <a:noFill/>
                  </a:tcPr>
                </a:tc>
                <a:tc>
                  <a:txBody>
                    <a:bodyPr/>
                    <a:lstStyle/>
                    <a:p>
                      <a:pPr algn="just">
                        <a:buNone/>
                      </a:pPr>
                      <a:r>
                        <a:rPr lang="en-US" sz="1000"/>
                        <a:t>rheumatoid_arthritis</a:t>
                      </a:r>
                    </a:p>
                  </a:txBody>
                  <a:tcPr anchor="ctr"/>
                </a:tc>
                <a:tc>
                  <a:txBody>
                    <a:bodyPr/>
                    <a:lstStyle/>
                    <a:p>
                      <a:pPr algn="just">
                        <a:buNone/>
                      </a:pPr>
                      <a:r>
                        <a:rPr lang="en-US" sz="1000" dirty="0"/>
                        <a:t>Diagnosis of rheumatoid arthritis</a:t>
                      </a:r>
                    </a:p>
                  </a:txBody>
                  <a:tcPr anchor="ctr"/>
                </a:tc>
                <a:tc>
                  <a:txBody>
                    <a:bodyPr/>
                    <a:lstStyle/>
                    <a:p>
                      <a:pPr algn="just">
                        <a:buNone/>
                      </a:pPr>
                      <a:r>
                        <a:rPr lang="en-US" sz="1000"/>
                        <a:t>Binary</a:t>
                      </a:r>
                    </a:p>
                  </a:txBody>
                  <a:tcPr anchor="ctr"/>
                </a:tc>
                <a:tc>
                  <a:txBody>
                    <a:bodyPr/>
                    <a:lstStyle/>
                    <a:p>
                      <a:pPr algn="just">
                        <a:buNone/>
                      </a:pPr>
                      <a:r>
                        <a:rPr lang="en-US" sz="1000"/>
                        <a:t>0 = No, 1 = Yes</a:t>
                      </a:r>
                    </a:p>
                  </a:txBody>
                  <a:tcPr anchor="ctr"/>
                </a:tc>
                <a:extLst>
                  <a:ext uri="{0D108BD9-81ED-4DB2-BD59-A6C34878D82A}">
                    <a16:rowId xmlns:a16="http://schemas.microsoft.com/office/drawing/2014/main" val="2180618443"/>
                  </a:ext>
                </a:extLst>
              </a:tr>
              <a:tr h="243456">
                <a:tc vMerge="1">
                  <a:txBody>
                    <a:bodyPr/>
                    <a:lstStyle/>
                    <a:p>
                      <a:pPr algn="just">
                        <a:buNone/>
                      </a:pPr>
                      <a:endParaRPr lang="en-UG" sz="1000" dirty="0"/>
                    </a:p>
                  </a:txBody>
                  <a:tcPr anchor="ctr">
                    <a:lnL>
                      <a:noFill/>
                    </a:lnL>
                    <a:lnR>
                      <a:noFill/>
                    </a:lnR>
                    <a:lnT>
                      <a:noFill/>
                    </a:lnT>
                    <a:lnB>
                      <a:noFill/>
                    </a:lnB>
                    <a:noFill/>
                  </a:tcPr>
                </a:tc>
                <a:tc>
                  <a:txBody>
                    <a:bodyPr/>
                    <a:lstStyle/>
                    <a:p>
                      <a:pPr algn="just">
                        <a:buNone/>
                      </a:pPr>
                      <a:r>
                        <a:rPr lang="en-US" sz="1000" dirty="0"/>
                        <a:t>diabetes</a:t>
                      </a:r>
                    </a:p>
                  </a:txBody>
                  <a:tcPr anchor="ctr"/>
                </a:tc>
                <a:tc>
                  <a:txBody>
                    <a:bodyPr/>
                    <a:lstStyle/>
                    <a:p>
                      <a:pPr algn="just">
                        <a:buNone/>
                      </a:pPr>
                      <a:r>
                        <a:rPr lang="en-US" sz="1000"/>
                        <a:t>Presence of diabetes</a:t>
                      </a:r>
                    </a:p>
                  </a:txBody>
                  <a:tcPr anchor="ctr"/>
                </a:tc>
                <a:tc>
                  <a:txBody>
                    <a:bodyPr/>
                    <a:lstStyle/>
                    <a:p>
                      <a:pPr algn="just">
                        <a:buNone/>
                      </a:pPr>
                      <a:r>
                        <a:rPr lang="en-US" sz="1000"/>
                        <a:t>Binary</a:t>
                      </a:r>
                    </a:p>
                  </a:txBody>
                  <a:tcPr anchor="ctr"/>
                </a:tc>
                <a:tc>
                  <a:txBody>
                    <a:bodyPr/>
                    <a:lstStyle/>
                    <a:p>
                      <a:pPr algn="just">
                        <a:buNone/>
                      </a:pPr>
                      <a:r>
                        <a:rPr lang="en-US" sz="1000"/>
                        <a:t>0 = No, 1 = Yes</a:t>
                      </a:r>
                    </a:p>
                  </a:txBody>
                  <a:tcPr anchor="ctr"/>
                </a:tc>
                <a:extLst>
                  <a:ext uri="{0D108BD9-81ED-4DB2-BD59-A6C34878D82A}">
                    <a16:rowId xmlns:a16="http://schemas.microsoft.com/office/drawing/2014/main" val="2246723481"/>
                  </a:ext>
                </a:extLst>
              </a:tr>
              <a:tr h="395617">
                <a:tc vMerge="1">
                  <a:txBody>
                    <a:bodyPr/>
                    <a:lstStyle/>
                    <a:p>
                      <a:pPr algn="just">
                        <a:buNone/>
                      </a:pPr>
                      <a:endParaRPr lang="en-UG" sz="1000" dirty="0"/>
                    </a:p>
                  </a:txBody>
                  <a:tcPr anchor="ctr">
                    <a:lnL>
                      <a:noFill/>
                    </a:lnL>
                    <a:lnR>
                      <a:noFill/>
                    </a:lnR>
                    <a:lnT>
                      <a:noFill/>
                    </a:lnT>
                    <a:lnB>
                      <a:noFill/>
                    </a:lnB>
                    <a:noFill/>
                  </a:tcPr>
                </a:tc>
                <a:tc>
                  <a:txBody>
                    <a:bodyPr/>
                    <a:lstStyle/>
                    <a:p>
                      <a:pPr algn="just">
                        <a:buNone/>
                      </a:pPr>
                      <a:r>
                        <a:rPr lang="en-US" sz="1000" dirty="0" err="1"/>
                        <a:t>chronic_obstructive_pulmonary_disorder</a:t>
                      </a:r>
                      <a:endParaRPr lang="en-US" sz="1000" dirty="0"/>
                    </a:p>
                  </a:txBody>
                  <a:tcPr anchor="ctr"/>
                </a:tc>
                <a:tc>
                  <a:txBody>
                    <a:bodyPr/>
                    <a:lstStyle/>
                    <a:p>
                      <a:pPr algn="just">
                        <a:buNone/>
                      </a:pPr>
                      <a:r>
                        <a:rPr lang="en-US" sz="1000"/>
                        <a:t>COPD status</a:t>
                      </a:r>
                    </a:p>
                  </a:txBody>
                  <a:tcPr anchor="ctr"/>
                </a:tc>
                <a:tc>
                  <a:txBody>
                    <a:bodyPr/>
                    <a:lstStyle/>
                    <a:p>
                      <a:pPr algn="just">
                        <a:buNone/>
                      </a:pPr>
                      <a:r>
                        <a:rPr lang="en-US" sz="1000"/>
                        <a:t>Binary</a:t>
                      </a:r>
                    </a:p>
                  </a:txBody>
                  <a:tcPr anchor="ctr"/>
                </a:tc>
                <a:tc>
                  <a:txBody>
                    <a:bodyPr/>
                    <a:lstStyle/>
                    <a:p>
                      <a:pPr algn="just">
                        <a:buNone/>
                      </a:pPr>
                      <a:r>
                        <a:rPr lang="en-US" sz="1000"/>
                        <a:t>0 = No, 1 = Yes</a:t>
                      </a:r>
                    </a:p>
                  </a:txBody>
                  <a:tcPr anchor="ctr"/>
                </a:tc>
                <a:extLst>
                  <a:ext uri="{0D108BD9-81ED-4DB2-BD59-A6C34878D82A}">
                    <a16:rowId xmlns:a16="http://schemas.microsoft.com/office/drawing/2014/main" val="1382368009"/>
                  </a:ext>
                </a:extLst>
              </a:tr>
              <a:tr h="395617">
                <a:tc>
                  <a:txBody>
                    <a:bodyPr/>
                    <a:lstStyle/>
                    <a:p>
                      <a:pPr algn="just">
                        <a:buNone/>
                      </a:pPr>
                      <a:r>
                        <a:rPr lang="en-US" sz="1000" b="0" dirty="0"/>
                        <a:t>Follow-up</a:t>
                      </a:r>
                    </a:p>
                  </a:txBody>
                  <a:tcPr anchor="ctr"/>
                </a:tc>
                <a:tc>
                  <a:txBody>
                    <a:bodyPr/>
                    <a:lstStyle/>
                    <a:p>
                      <a:pPr algn="just">
                        <a:buNone/>
                      </a:pPr>
                      <a:r>
                        <a:rPr lang="en-US" sz="1000"/>
                        <a:t>time_to_event_or_censoring</a:t>
                      </a:r>
                    </a:p>
                  </a:txBody>
                  <a:tcPr anchor="ctr"/>
                </a:tc>
                <a:tc>
                  <a:txBody>
                    <a:bodyPr/>
                    <a:lstStyle/>
                    <a:p>
                      <a:pPr algn="just">
                        <a:buNone/>
                      </a:pPr>
                      <a:r>
                        <a:rPr lang="en-US" sz="1000"/>
                        <a:t>Follow-up time in years until event or censoring</a:t>
                      </a:r>
                    </a:p>
                  </a:txBody>
                  <a:tcPr anchor="ctr"/>
                </a:tc>
                <a:tc>
                  <a:txBody>
                    <a:bodyPr/>
                    <a:lstStyle/>
                    <a:p>
                      <a:pPr algn="just">
                        <a:buNone/>
                      </a:pPr>
                      <a:r>
                        <a:rPr lang="en-US" sz="1000"/>
                        <a:t>Integer</a:t>
                      </a:r>
                    </a:p>
                  </a:txBody>
                  <a:tcPr anchor="ctr"/>
                </a:tc>
                <a:tc>
                  <a:txBody>
                    <a:bodyPr/>
                    <a:lstStyle/>
                    <a:p>
                      <a:pPr algn="just">
                        <a:buNone/>
                      </a:pPr>
                      <a:r>
                        <a:rPr lang="en-UG" sz="1000"/>
                        <a:t>1–10</a:t>
                      </a:r>
                    </a:p>
                  </a:txBody>
                  <a:tcPr anchor="ctr"/>
                </a:tc>
                <a:extLst>
                  <a:ext uri="{0D108BD9-81ED-4DB2-BD59-A6C34878D82A}">
                    <a16:rowId xmlns:a16="http://schemas.microsoft.com/office/drawing/2014/main" val="2375591576"/>
                  </a:ext>
                </a:extLst>
              </a:tr>
              <a:tr h="252182">
                <a:tc gridSpan="5">
                  <a:txBody>
                    <a:bodyPr/>
                    <a:lstStyle/>
                    <a:p>
                      <a:pPr algn="just">
                        <a:buNone/>
                      </a:pPr>
                      <a:r>
                        <a:rPr lang="en-US" sz="1000" b="1" dirty="0"/>
                        <a:t>Target(y)</a:t>
                      </a:r>
                      <a:endParaRPr lang="en-US" sz="1000" dirty="0"/>
                    </a:p>
                  </a:txBody>
                  <a:tcPr anchor="ctr"/>
                </a:tc>
                <a:tc hMerge="1">
                  <a:txBody>
                    <a:bodyPr/>
                    <a:lstStyle/>
                    <a:p>
                      <a:pPr algn="just">
                        <a:buNone/>
                      </a:pPr>
                      <a:endParaRPr lang="en-US" sz="1000" dirty="0"/>
                    </a:p>
                  </a:txBody>
                  <a:tcPr anchor="ctr"/>
                </a:tc>
                <a:tc hMerge="1">
                  <a:txBody>
                    <a:bodyPr/>
                    <a:lstStyle/>
                    <a:p>
                      <a:pPr algn="just">
                        <a:buNone/>
                      </a:pPr>
                      <a:endParaRPr lang="en-US" sz="1000" dirty="0"/>
                    </a:p>
                  </a:txBody>
                  <a:tcPr anchor="ctr"/>
                </a:tc>
                <a:tc hMerge="1">
                  <a:txBody>
                    <a:bodyPr/>
                    <a:lstStyle/>
                    <a:p>
                      <a:pPr algn="just">
                        <a:buNone/>
                      </a:pPr>
                      <a:endParaRPr lang="en-US" sz="1000" dirty="0"/>
                    </a:p>
                  </a:txBody>
                  <a:tcPr anchor="ctr"/>
                </a:tc>
                <a:tc hMerge="1">
                  <a:txBody>
                    <a:bodyPr/>
                    <a:lstStyle/>
                    <a:p>
                      <a:pPr algn="just">
                        <a:buNone/>
                      </a:pPr>
                      <a:endParaRPr lang="en-US" sz="1000" dirty="0"/>
                    </a:p>
                  </a:txBody>
                  <a:tcPr anchor="ctr"/>
                </a:tc>
                <a:extLst>
                  <a:ext uri="{0D108BD9-81ED-4DB2-BD59-A6C34878D82A}">
                    <a16:rowId xmlns:a16="http://schemas.microsoft.com/office/drawing/2014/main" val="2170072519"/>
                  </a:ext>
                </a:extLst>
              </a:tr>
              <a:tr h="395617">
                <a:tc>
                  <a:txBody>
                    <a:bodyPr/>
                    <a:lstStyle/>
                    <a:p>
                      <a:pPr algn="just">
                        <a:buNone/>
                      </a:pPr>
                      <a:r>
                        <a:rPr lang="en-US" sz="1000" b="1" dirty="0"/>
                        <a:t>Outcome Variable</a:t>
                      </a:r>
                      <a:endParaRPr lang="en-US" sz="1000" dirty="0"/>
                    </a:p>
                  </a:txBody>
                  <a:tcPr anchor="ctr"/>
                </a:tc>
                <a:tc>
                  <a:txBody>
                    <a:bodyPr/>
                    <a:lstStyle/>
                    <a:p>
                      <a:pPr algn="just">
                        <a:buNone/>
                      </a:pPr>
                      <a:r>
                        <a:rPr lang="en-US" sz="1000" b="1" dirty="0" err="1"/>
                        <a:t>heart_attack_or_stroke_occurred</a:t>
                      </a:r>
                      <a:endParaRPr lang="en-US" sz="1000" dirty="0"/>
                    </a:p>
                  </a:txBody>
                  <a:tcPr anchor="ctr"/>
                </a:tc>
                <a:tc>
                  <a:txBody>
                    <a:bodyPr/>
                    <a:lstStyle/>
                    <a:p>
                      <a:pPr algn="just">
                        <a:buNone/>
                      </a:pPr>
                      <a:r>
                        <a:rPr lang="en-US" sz="1000" b="1" dirty="0"/>
                        <a:t>Heart attack or stroke within follow-up window</a:t>
                      </a:r>
                      <a:endParaRPr lang="en-US" sz="1000" dirty="0"/>
                    </a:p>
                  </a:txBody>
                  <a:tcPr anchor="ctr"/>
                </a:tc>
                <a:tc>
                  <a:txBody>
                    <a:bodyPr/>
                    <a:lstStyle/>
                    <a:p>
                      <a:pPr algn="just">
                        <a:buNone/>
                      </a:pPr>
                      <a:r>
                        <a:rPr lang="en-US" sz="1000" b="1" dirty="0"/>
                        <a:t>Binary</a:t>
                      </a:r>
                      <a:endParaRPr lang="en-US" sz="1000" dirty="0"/>
                    </a:p>
                  </a:txBody>
                  <a:tcPr anchor="ctr"/>
                </a:tc>
                <a:tc>
                  <a:txBody>
                    <a:bodyPr/>
                    <a:lstStyle/>
                    <a:p>
                      <a:pPr algn="just">
                        <a:buNone/>
                      </a:pPr>
                      <a:r>
                        <a:rPr lang="en-US" sz="1000" b="1" dirty="0"/>
                        <a:t>0 = No, 1 = Yes</a:t>
                      </a:r>
                      <a:endParaRPr lang="en-US" sz="1000" dirty="0"/>
                    </a:p>
                  </a:txBody>
                  <a:tcPr anchor="ctr"/>
                </a:tc>
                <a:extLst>
                  <a:ext uri="{0D108BD9-81ED-4DB2-BD59-A6C34878D82A}">
                    <a16:rowId xmlns:a16="http://schemas.microsoft.com/office/drawing/2014/main" val="3421393591"/>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1817</TotalTime>
  <Words>2392</Words>
  <Application>Microsoft Office PowerPoint</Application>
  <PresentationFormat>On-screen Show (4:3)</PresentationFormat>
  <Paragraphs>317</Paragraphs>
  <Slides>17</Slides>
  <Notes>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17</vt:i4>
      </vt:variant>
    </vt:vector>
  </HeadingPairs>
  <TitlesOfParts>
    <vt:vector size="24" baseType="lpstr">
      <vt:lpstr>Aptos</vt:lpstr>
      <vt:lpstr>Arial</vt:lpstr>
      <vt:lpstr>Calibri</vt:lpstr>
      <vt:lpstr>Tw Cen MT</vt:lpstr>
      <vt:lpstr>Wingdings</vt:lpstr>
      <vt:lpstr>Office Theme</vt:lpstr>
      <vt:lpstr>Droplet</vt:lpstr>
      <vt:lpstr>PowerPoint Presentation</vt:lpstr>
      <vt:lpstr>Predicting 10-Year Cardiovascular Events using Machine Learning &amp; Deep Learning: Heart Attack or Stroke Model</vt:lpstr>
      <vt:lpstr>Our Respiratory Structure-Model</vt:lpstr>
      <vt:lpstr>Project Background</vt:lpstr>
      <vt:lpstr>Goal and Objectives</vt:lpstr>
      <vt:lpstr>Data Description</vt:lpstr>
      <vt:lpstr>A: Exploratory Data Analysis- EDA</vt:lpstr>
      <vt:lpstr>A: Exploratory Data Analysis- EDA</vt:lpstr>
      <vt:lpstr>B: Machine learning Modelling</vt:lpstr>
      <vt:lpstr>B: Machine learning Modelling</vt:lpstr>
      <vt:lpstr>C: Deep Learning Approach</vt:lpstr>
      <vt:lpstr>D: Model Deployment</vt:lpstr>
      <vt:lpstr>ANNEXES</vt:lpstr>
      <vt:lpstr>Conclusions:</vt:lpstr>
      <vt:lpstr>Recommendations</vt:lpstr>
      <vt:lpstr>Future Work</vt:lpstr>
      <vt:lpstr>Dataset Overview-Data Dictionary Extract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DELL</dc:creator>
  <cp:keywords/>
  <dc:description>generated using python-pptx</dc:description>
  <cp:lastModifiedBy>g star</cp:lastModifiedBy>
  <cp:revision>162</cp:revision>
  <dcterms:created xsi:type="dcterms:W3CDTF">2013-01-27T09:14:16Z</dcterms:created>
  <dcterms:modified xsi:type="dcterms:W3CDTF">2025-11-28T04:07:04Z</dcterms:modified>
  <cp:category/>
</cp:coreProperties>
</file>